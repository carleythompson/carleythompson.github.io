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2" r:id="rId4"/>
    <p:sldMasterId id="214748374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ed Hat Display SemiBold"/>
      <p:regular r:id="rId23"/>
      <p:bold r:id="rId24"/>
      <p:italic r:id="rId25"/>
      <p:boldItalic r:id="rId26"/>
    </p:embeddedFont>
    <p:embeddedFont>
      <p:font typeface="Red Hat Display Medium"/>
      <p:regular r:id="rId27"/>
      <p:bold r:id="rId28"/>
      <p:italic r:id="rId29"/>
      <p:boldItalic r:id="rId30"/>
    </p:embeddedFont>
    <p:embeddedFont>
      <p:font typeface="Red Hat Display"/>
      <p:regular r:id="rId31"/>
      <p:bold r:id="rId32"/>
      <p:italic r:id="rId33"/>
      <p:boldItalic r:id="rId34"/>
    </p:embeddedFont>
    <p:embeddedFont>
      <p:font typeface="Albert Sans"/>
      <p:regular r:id="rId35"/>
      <p:bold r:id="rId36"/>
      <p:italic r:id="rId37"/>
      <p:boldItalic r:id="rId38"/>
    </p:embeddedFont>
    <p:embeddedFont>
      <p:font typeface="Nanum Myeongjo"/>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anumMyeongj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edHatDisplay-regular.fntdata"/><Relationship Id="rId30" Type="http://schemas.openxmlformats.org/officeDocument/2006/relationships/font" Target="fonts/RedHatDisplayMedium-boldItalic.fntdata"/><Relationship Id="rId33" Type="http://schemas.openxmlformats.org/officeDocument/2006/relationships/font" Target="fonts/RedHatDisplay-italic.fntdata"/><Relationship Id="rId32" Type="http://schemas.openxmlformats.org/officeDocument/2006/relationships/font" Target="fonts/RedHatDisplay-bold.fntdata"/><Relationship Id="rId35" Type="http://schemas.openxmlformats.org/officeDocument/2006/relationships/font" Target="fonts/AlbertSans-regular.fntdata"/><Relationship Id="rId34" Type="http://schemas.openxmlformats.org/officeDocument/2006/relationships/font" Target="fonts/RedHatDisplay-boldItalic.fntdata"/><Relationship Id="rId37" Type="http://schemas.openxmlformats.org/officeDocument/2006/relationships/font" Target="fonts/AlbertSans-italic.fntdata"/><Relationship Id="rId36" Type="http://schemas.openxmlformats.org/officeDocument/2006/relationships/font" Target="fonts/AlbertSans-bold.fntdata"/><Relationship Id="rId39" Type="http://schemas.openxmlformats.org/officeDocument/2006/relationships/font" Target="fonts/NanumMyeongjo-regular.fntdata"/><Relationship Id="rId38" Type="http://schemas.openxmlformats.org/officeDocument/2006/relationships/font" Target="fonts/Albert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edHatDisplaySemiBold-bold.fntdata"/><Relationship Id="rId23" Type="http://schemas.openxmlformats.org/officeDocument/2006/relationships/font" Target="fonts/RedHatDisplaySemiBold-regular.fntdata"/><Relationship Id="rId26" Type="http://schemas.openxmlformats.org/officeDocument/2006/relationships/font" Target="fonts/RedHatDisplaySemiBold-boldItalic.fntdata"/><Relationship Id="rId25" Type="http://schemas.openxmlformats.org/officeDocument/2006/relationships/font" Target="fonts/RedHatDisplaySemiBold-italic.fntdata"/><Relationship Id="rId28" Type="http://schemas.openxmlformats.org/officeDocument/2006/relationships/font" Target="fonts/RedHatDisplayMedium-bold.fntdata"/><Relationship Id="rId27" Type="http://schemas.openxmlformats.org/officeDocument/2006/relationships/font" Target="fonts/RedHatDisplayMedium-regular.fntdata"/><Relationship Id="rId29" Type="http://schemas.openxmlformats.org/officeDocument/2006/relationships/font" Target="fonts/RedHatDisplayMedium-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d8f39fff63_0_1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d8f39fff63_0_1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d8f39fff63_0_1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d8f39fff63_0_1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d8f39fff63_0_1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d8f39fff63_0_1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Nanum Myeongjo"/>
              <a:buChar char="●"/>
            </a:pPr>
            <a:r>
              <a:rPr lang="en" sz="1600">
                <a:solidFill>
                  <a:schemeClr val="dk1"/>
                </a:solidFill>
                <a:latin typeface="Nanum Myeongjo"/>
                <a:ea typeface="Nanum Myeongjo"/>
                <a:cs typeface="Nanum Myeongjo"/>
                <a:sym typeface="Nanum Myeongjo"/>
              </a:rPr>
              <a:t>Burlington competes in the off-price retail market with TJ Maxx, Marshalls, HomeGoods, Ross, and JCPenney.</a:t>
            </a:r>
            <a:endParaRPr sz="1600">
              <a:solidFill>
                <a:schemeClr val="dk1"/>
              </a:solidFill>
              <a:latin typeface="Nanum Myeongjo"/>
              <a:ea typeface="Nanum Myeongjo"/>
              <a:cs typeface="Nanum Myeongjo"/>
              <a:sym typeface="Nanum Myeongjo"/>
            </a:endParaRPr>
          </a:p>
          <a:p>
            <a:pPr indent="-330200" lvl="0" marL="457200" rtl="0" algn="l">
              <a:lnSpc>
                <a:spcPct val="115000"/>
              </a:lnSpc>
              <a:spcBef>
                <a:spcPts val="0"/>
              </a:spcBef>
              <a:spcAft>
                <a:spcPts val="0"/>
              </a:spcAft>
              <a:buClr>
                <a:schemeClr val="dk1"/>
              </a:buClr>
              <a:buSzPts val="1600"/>
              <a:buFont typeface="Nanum Myeongjo"/>
              <a:buChar char="●"/>
            </a:pPr>
            <a:r>
              <a:rPr lang="en" sz="1600">
                <a:solidFill>
                  <a:schemeClr val="dk1"/>
                </a:solidFill>
                <a:latin typeface="Nanum Myeongjo"/>
                <a:ea typeface="Nanum Myeongjo"/>
                <a:cs typeface="Nanum Myeongjo"/>
                <a:sym typeface="Nanum Myeongjo"/>
              </a:rPr>
              <a:t>The Garfield location is near other discount retailers, including Walmart and Marshalls, making the area highly competitive.</a:t>
            </a:r>
            <a:endParaRPr sz="1600">
              <a:solidFill>
                <a:schemeClr val="dk1"/>
              </a:solidFill>
              <a:latin typeface="Nanum Myeongjo"/>
              <a:ea typeface="Nanum Myeongjo"/>
              <a:cs typeface="Nanum Myeongjo"/>
              <a:sym typeface="Nanum Myeongjo"/>
            </a:endParaRPr>
          </a:p>
          <a:p>
            <a:pPr indent="-330200" lvl="0" marL="457200" rtl="0" algn="l">
              <a:lnSpc>
                <a:spcPct val="115000"/>
              </a:lnSpc>
              <a:spcBef>
                <a:spcPts val="0"/>
              </a:spcBef>
              <a:spcAft>
                <a:spcPts val="0"/>
              </a:spcAft>
              <a:buClr>
                <a:schemeClr val="dk1"/>
              </a:buClr>
              <a:buSzPts val="1600"/>
              <a:buFont typeface="Nanum Myeongjo"/>
              <a:buChar char="●"/>
            </a:pPr>
            <a:r>
              <a:rPr lang="en" sz="1600">
                <a:solidFill>
                  <a:schemeClr val="dk1"/>
                </a:solidFill>
                <a:latin typeface="Nanum Myeongjo"/>
                <a:ea typeface="Nanum Myeongjo"/>
                <a:cs typeface="Nanum Myeongjo"/>
                <a:sym typeface="Nanum Myeongjo"/>
              </a:rPr>
              <a:t>Burlington has about 77,000 employees nationally, with an average of about 60 employees per store.</a:t>
            </a:r>
            <a:endParaRPr sz="1600">
              <a:solidFill>
                <a:schemeClr val="dk1"/>
              </a:solidFill>
              <a:latin typeface="Nanum Myeongjo"/>
              <a:ea typeface="Nanum Myeongjo"/>
              <a:cs typeface="Nanum Myeongjo"/>
              <a:sym typeface="Nanum Myeongjo"/>
            </a:endParaRPr>
          </a:p>
          <a:p>
            <a:pPr indent="-330200" lvl="0" marL="457200" rtl="0" algn="l">
              <a:lnSpc>
                <a:spcPct val="115000"/>
              </a:lnSpc>
              <a:spcBef>
                <a:spcPts val="0"/>
              </a:spcBef>
              <a:spcAft>
                <a:spcPts val="0"/>
              </a:spcAft>
              <a:buClr>
                <a:schemeClr val="dk1"/>
              </a:buClr>
              <a:buSzPts val="1600"/>
              <a:buFont typeface="Nanum Myeongjo"/>
              <a:buChar char="●"/>
            </a:pPr>
            <a:r>
              <a:rPr lang="en" sz="1600">
                <a:solidFill>
                  <a:schemeClr val="dk1"/>
                </a:solidFill>
                <a:latin typeface="Nanum Myeongjo"/>
                <a:ea typeface="Nanum Myeongjo"/>
                <a:cs typeface="Nanum Myeongjo"/>
                <a:sym typeface="Nanum Myeongjo"/>
              </a:rPr>
              <a:t>Common store roles include Store Manager, Assistant Store Manager, Supervisor, Customer Service Lead, Sales Associate, and Cashier.</a:t>
            </a:r>
            <a:endParaRPr sz="1600">
              <a:solidFill>
                <a:schemeClr val="dk1"/>
              </a:solidFill>
              <a:latin typeface="Nanum Myeongjo"/>
              <a:ea typeface="Nanum Myeongjo"/>
              <a:cs typeface="Nanum Myeongjo"/>
              <a:sym typeface="Nanum Myeongjo"/>
            </a:endParaRPr>
          </a:p>
          <a:p>
            <a:pPr indent="-330200" lvl="0" marL="457200" rtl="0" algn="l">
              <a:lnSpc>
                <a:spcPct val="115000"/>
              </a:lnSpc>
              <a:spcBef>
                <a:spcPts val="0"/>
              </a:spcBef>
              <a:spcAft>
                <a:spcPts val="0"/>
              </a:spcAft>
              <a:buClr>
                <a:schemeClr val="dk1"/>
              </a:buClr>
              <a:buSzPts val="1600"/>
              <a:buFont typeface="Nanum Myeongjo"/>
              <a:buChar char="●"/>
            </a:pPr>
            <a:r>
              <a:rPr lang="en" sz="1600">
                <a:solidFill>
                  <a:schemeClr val="dk1"/>
                </a:solidFill>
                <a:latin typeface="Nanum Myeongjo"/>
                <a:ea typeface="Nanum Myeongjo"/>
                <a:cs typeface="Nanum Myeongjo"/>
                <a:sym typeface="Nanum Myeongjo"/>
              </a:rPr>
              <a:t>Employee turnover is a major concern, with about 70% of employees staying less than 2 years.</a:t>
            </a:r>
            <a:endParaRPr sz="1600">
              <a:solidFill>
                <a:schemeClr val="dk1"/>
              </a:solidFill>
              <a:latin typeface="Nanum Myeongjo"/>
              <a:ea typeface="Nanum Myeongjo"/>
              <a:cs typeface="Nanum Myeongjo"/>
              <a:sym typeface="Nanum Myeongjo"/>
            </a:endParaRPr>
          </a:p>
          <a:p>
            <a:pPr indent="-330200" lvl="0" marL="457200" rtl="0" algn="l">
              <a:lnSpc>
                <a:spcPct val="115000"/>
              </a:lnSpc>
              <a:spcBef>
                <a:spcPts val="0"/>
              </a:spcBef>
              <a:spcAft>
                <a:spcPts val="0"/>
              </a:spcAft>
              <a:buClr>
                <a:schemeClr val="dk1"/>
              </a:buClr>
              <a:buSzPts val="1600"/>
              <a:buFont typeface="Nanum Myeongjo"/>
              <a:buChar char="●"/>
            </a:pPr>
            <a:r>
              <a:rPr lang="en" sz="1600">
                <a:solidFill>
                  <a:schemeClr val="dk1"/>
                </a:solidFill>
                <a:latin typeface="Nanum Myeongjo"/>
                <a:ea typeface="Nanum Myeongjo"/>
                <a:cs typeface="Nanum Myeongjo"/>
                <a:sym typeface="Nanum Myeongjo"/>
              </a:rPr>
              <a:t>Secondary research helped connect our project to larger issues in retail: staffing, motivation, compensation, and retention.</a:t>
            </a:r>
            <a:endParaRPr sz="1600">
              <a:solidFill>
                <a:schemeClr val="dk1"/>
              </a:solidFill>
              <a:latin typeface="Nanum Myeongjo"/>
              <a:ea typeface="Nanum Myeongjo"/>
              <a:cs typeface="Nanum Myeongjo"/>
              <a:sym typeface="Nanum Myeongjo"/>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Nanum Myeongjo"/>
                <a:ea typeface="Nanum Myeongjo"/>
                <a:cs typeface="Nanum Myeongjo"/>
                <a:sym typeface="Nanum Myeongjo"/>
              </a:rPr>
              <a:t>            </a:t>
            </a:r>
            <a:endParaRPr sz="1600">
              <a:solidFill>
                <a:schemeClr val="dk1"/>
              </a:solidFill>
              <a:latin typeface="Nanum Myeongjo"/>
              <a:ea typeface="Nanum Myeongjo"/>
              <a:cs typeface="Nanum Myeongjo"/>
              <a:sym typeface="Nanum Myeongjo"/>
            </a:endParaRPr>
          </a:p>
          <a:p>
            <a:pPr indent="0" lvl="0" marL="0" rtl="0" algn="l">
              <a:spcBef>
                <a:spcPts val="0"/>
              </a:spcBef>
              <a:spcAft>
                <a:spcPts val="0"/>
              </a:spcAft>
              <a:buClr>
                <a:schemeClr val="dk1"/>
              </a:buClr>
              <a:buSzPts val="1100"/>
              <a:buFont typeface="Arial"/>
              <a:buNone/>
            </a:pPr>
            <a:r>
              <a:t/>
            </a:r>
            <a:endParaRPr sz="1600">
              <a:solidFill>
                <a:schemeClr val="dk1"/>
              </a:solidFill>
              <a:latin typeface="Nanum Myeongjo"/>
              <a:ea typeface="Nanum Myeongjo"/>
              <a:cs typeface="Nanum Myeongjo"/>
              <a:sym typeface="Nanum Myeongjo"/>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d8f39fff63_0_1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d8f39fff63_0_1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d8f39fff63_0_1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d8f39fff63_0_1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d8f39fff63_0_1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d8f39fff63_0_1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d8f39fff63_0_1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d8f39fff63_0_1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3d8f39fff63_0_1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3d8f39fff63_0_1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d8f39fff63_0_1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3d8f39fff63_0_19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3d8f39fff63_0_1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3d8f39fff63_0_1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d8f39fff63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d8f39fff63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d8f39fff63_0_1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3d8f39fff63_0_1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d8f39fff63_0_1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3d8f39fff63_0_1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3d8f39fff63_0_1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3d8f39fff63_0_1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d8f39fff63_0_1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3d8f39fff63_0_1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d8f39fff63_0_20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3d8f39fff63_0_20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9" name="Shape 9"/>
        <p:cNvGrpSpPr/>
        <p:nvPr/>
      </p:nvGrpSpPr>
      <p:grpSpPr>
        <a:xfrm>
          <a:off x="0" y="0"/>
          <a:ext cx="0" cy="0"/>
          <a:chOff x="0" y="0"/>
          <a:chExt cx="0" cy="0"/>
        </a:xfrm>
      </p:grpSpPr>
      <p:sp>
        <p:nvSpPr>
          <p:cNvPr id="10" name="Google Shape;10;p2"/>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 name="Google Shape;11;p2"/>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 name="Google Shape;12;p2"/>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 name="Google Shape;13;p2"/>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 name="Google Shape;14;p2"/>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 name="Google Shape;15;p2"/>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 name="Google Shape;16;p2"/>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 name="Google Shape;17;p2"/>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 name="Google Shape;18;p2"/>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 name="Google Shape;19;p2"/>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 name="Google Shape;20;p2"/>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 name="Google Shape;21;p2"/>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 name="Google Shape;22;p2"/>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 name="Google Shape;23;p2"/>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 name="Google Shape;24;p2"/>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5" name="Google Shape;25;p2"/>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6" name="Google Shape;26;p2"/>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27" name="Shape 27"/>
        <p:cNvGrpSpPr/>
        <p:nvPr/>
      </p:nvGrpSpPr>
      <p:grpSpPr>
        <a:xfrm>
          <a:off x="0" y="0"/>
          <a:ext cx="0" cy="0"/>
          <a:chOff x="0" y="0"/>
          <a:chExt cx="0" cy="0"/>
        </a:xfrm>
      </p:grpSpPr>
      <p:sp>
        <p:nvSpPr>
          <p:cNvPr id="28" name="Google Shape;28;p3"/>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9" name="Google Shape;29;p3"/>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0" name="Google Shape;30;p3"/>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1" name="Google Shape;31;p3"/>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2" name="Google Shape;32;p3"/>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3" name="Google Shape;33;p3"/>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4" name="Google Shape;34;p3"/>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5" name="Google Shape;35;p3"/>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6" name="Google Shape;36;p3"/>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7" name="Google Shape;37;p3"/>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8" name="Google Shape;38;p3"/>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9" name="Google Shape;39;p3"/>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 name="Google Shape;40;p3"/>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 name="Google Shape;41;p3"/>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 name="Google Shape;42;p3"/>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 name="Google Shape;43;p3"/>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4" name="Google Shape;44;p3"/>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
          <p:cNvSpPr/>
          <p:nvPr>
            <p:ph idx="2" type="pic"/>
          </p:nvPr>
        </p:nvSpPr>
        <p:spPr>
          <a:xfrm>
            <a:off x="3154650" y="3875225"/>
            <a:ext cx="618600" cy="808500"/>
          </a:xfrm>
          <a:prstGeom prst="snip2DiagRect">
            <a:avLst>
              <a:gd fmla="val 0" name="adj1"/>
              <a:gd fmla="val 34473" name="adj2"/>
            </a:avLst>
          </a:prstGeom>
          <a:noFill/>
          <a:ln>
            <a:noFill/>
          </a:ln>
        </p:spPr>
      </p:sp>
      <p:sp>
        <p:nvSpPr>
          <p:cNvPr id="46" name="Google Shape;46;p3"/>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47" name="Google Shape;47;p3"/>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48" name="Google Shape;48;p3"/>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49" name="Google Shape;49;p3"/>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50" name="Shape 50"/>
        <p:cNvGrpSpPr/>
        <p:nvPr/>
      </p:nvGrpSpPr>
      <p:grpSpPr>
        <a:xfrm>
          <a:off x="0" y="0"/>
          <a:ext cx="0" cy="0"/>
          <a:chOff x="0" y="0"/>
          <a:chExt cx="0" cy="0"/>
        </a:xfrm>
      </p:grpSpPr>
      <p:sp>
        <p:nvSpPr>
          <p:cNvPr id="51" name="Google Shape;51;p4"/>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2" name="Google Shape;52;p4"/>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3" name="Google Shape;53;p4"/>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4" name="Google Shape;54;p4"/>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5" name="Google Shape;55;p4"/>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4"/>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4"/>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4"/>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4"/>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4"/>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4"/>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4"/>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4"/>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4"/>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4"/>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4"/>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4"/>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4"/>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4"/>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4"/>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1" name="Google Shape;71;p4"/>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2" name="Google Shape;72;p4"/>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3" name="Google Shape;73;p4"/>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4"/>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4"/>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76" name="Shape 76"/>
        <p:cNvGrpSpPr/>
        <p:nvPr/>
      </p:nvGrpSpPr>
      <p:grpSpPr>
        <a:xfrm>
          <a:off x="0" y="0"/>
          <a:ext cx="0" cy="0"/>
          <a:chOff x="0" y="0"/>
          <a:chExt cx="0" cy="0"/>
        </a:xfrm>
      </p:grpSpPr>
      <p:grpSp>
        <p:nvGrpSpPr>
          <p:cNvPr id="77" name="Google Shape;77;p5"/>
          <p:cNvGrpSpPr/>
          <p:nvPr/>
        </p:nvGrpSpPr>
        <p:grpSpPr>
          <a:xfrm>
            <a:off x="4895291" y="1377627"/>
            <a:ext cx="4091726" cy="3670806"/>
            <a:chOff x="5223565" y="1672200"/>
            <a:chExt cx="3763198" cy="3376074"/>
          </a:xfrm>
        </p:grpSpPr>
        <p:sp>
          <p:nvSpPr>
            <p:cNvPr id="78" name="Google Shape;78;p5"/>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9" name="Google Shape;79;p5"/>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0" name="Google Shape;80;p5"/>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1" name="Google Shape;81;p5"/>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2" name="Google Shape;82;p5"/>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5"/>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5"/>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5"/>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5"/>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5"/>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5"/>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9" name="Google Shape;89;p5"/>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0" name="Google Shape;90;p5"/>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1" name="Google Shape;91;p5"/>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2" name="Google Shape;92;p5"/>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3" name="Google Shape;93;p5"/>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4" name="Google Shape;94;p5"/>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5" name="Google Shape;95;p5"/>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6" name="Google Shape;96;p5"/>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5"/>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5"/>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5"/>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5"/>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5"/>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5"/>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5"/>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5"/>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5"/>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5"/>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5"/>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5"/>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5"/>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5"/>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5"/>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5"/>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5"/>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5"/>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5"/>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5"/>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5"/>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5"/>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5"/>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5"/>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1" name="Google Shape;121;p5"/>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2" name="Google Shape;122;p5"/>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3" name="Google Shape;123;p5"/>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5"/>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5"/>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5"/>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5"/>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5"/>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5"/>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5"/>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5"/>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5"/>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5"/>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5"/>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5"/>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5"/>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5"/>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5"/>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5"/>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5"/>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5"/>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5"/>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5"/>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5"/>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5"/>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5"/>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5"/>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5"/>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5"/>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50" name="Google Shape;150;p5"/>
          <p:cNvGrpSpPr/>
          <p:nvPr/>
        </p:nvGrpSpPr>
        <p:grpSpPr>
          <a:xfrm>
            <a:off x="142078" y="79823"/>
            <a:ext cx="2140834" cy="1767927"/>
            <a:chOff x="142083" y="79814"/>
            <a:chExt cx="1831025" cy="1512212"/>
          </a:xfrm>
        </p:grpSpPr>
        <p:sp>
          <p:nvSpPr>
            <p:cNvPr id="151" name="Google Shape;151;p5"/>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5"/>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5"/>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4" name="Google Shape;154;p5"/>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5" name="Google Shape;155;p5"/>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5"/>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5"/>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5"/>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5"/>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5"/>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5"/>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5"/>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5"/>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5"/>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5"/>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5"/>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5"/>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5"/>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5"/>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5"/>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5"/>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5"/>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5"/>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5"/>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175" name="Google Shape;175;p5"/>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76" name="Google Shape;176;p5"/>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177" name="Shape 177"/>
        <p:cNvGrpSpPr/>
        <p:nvPr/>
      </p:nvGrpSpPr>
      <p:grpSpPr>
        <a:xfrm>
          <a:off x="0" y="0"/>
          <a:ext cx="0" cy="0"/>
          <a:chOff x="0" y="0"/>
          <a:chExt cx="0" cy="0"/>
        </a:xfrm>
      </p:grpSpPr>
      <p:sp>
        <p:nvSpPr>
          <p:cNvPr id="178" name="Google Shape;178;p6"/>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79" name="Google Shape;179;p6"/>
          <p:cNvSpPr/>
          <p:nvPr>
            <p:ph idx="2" type="pic"/>
          </p:nvPr>
        </p:nvSpPr>
        <p:spPr>
          <a:xfrm>
            <a:off x="228425" y="1804150"/>
            <a:ext cx="1444500" cy="1451400"/>
          </a:xfrm>
          <a:prstGeom prst="rect">
            <a:avLst/>
          </a:prstGeom>
          <a:noFill/>
          <a:ln>
            <a:noFill/>
          </a:ln>
        </p:spPr>
      </p:sp>
      <p:sp>
        <p:nvSpPr>
          <p:cNvPr id="180" name="Google Shape;180;p6"/>
          <p:cNvSpPr/>
          <p:nvPr>
            <p:ph idx="3" type="pic"/>
          </p:nvPr>
        </p:nvSpPr>
        <p:spPr>
          <a:xfrm>
            <a:off x="2036775" y="1804150"/>
            <a:ext cx="1444500" cy="1451400"/>
          </a:xfrm>
          <a:prstGeom prst="rect">
            <a:avLst/>
          </a:prstGeom>
          <a:noFill/>
          <a:ln>
            <a:noFill/>
          </a:ln>
        </p:spPr>
      </p:sp>
      <p:sp>
        <p:nvSpPr>
          <p:cNvPr id="181" name="Google Shape;181;p6"/>
          <p:cNvSpPr/>
          <p:nvPr>
            <p:ph idx="4" type="pic"/>
          </p:nvPr>
        </p:nvSpPr>
        <p:spPr>
          <a:xfrm>
            <a:off x="3844088" y="1804150"/>
            <a:ext cx="1444500" cy="1451400"/>
          </a:xfrm>
          <a:prstGeom prst="rect">
            <a:avLst/>
          </a:prstGeom>
          <a:noFill/>
          <a:ln>
            <a:noFill/>
          </a:ln>
        </p:spPr>
      </p:sp>
      <p:sp>
        <p:nvSpPr>
          <p:cNvPr id="182" name="Google Shape;182;p6"/>
          <p:cNvSpPr/>
          <p:nvPr>
            <p:ph idx="5" type="pic"/>
          </p:nvPr>
        </p:nvSpPr>
        <p:spPr>
          <a:xfrm>
            <a:off x="5655513" y="1804150"/>
            <a:ext cx="1444500" cy="1451400"/>
          </a:xfrm>
          <a:prstGeom prst="rect">
            <a:avLst/>
          </a:prstGeom>
          <a:noFill/>
          <a:ln>
            <a:noFill/>
          </a:ln>
        </p:spPr>
      </p:sp>
      <p:sp>
        <p:nvSpPr>
          <p:cNvPr id="183" name="Google Shape;183;p6"/>
          <p:cNvSpPr/>
          <p:nvPr>
            <p:ph idx="6" type="pic"/>
          </p:nvPr>
        </p:nvSpPr>
        <p:spPr>
          <a:xfrm>
            <a:off x="7470863" y="1804150"/>
            <a:ext cx="1444500" cy="1451400"/>
          </a:xfrm>
          <a:prstGeom prst="rect">
            <a:avLst/>
          </a:prstGeom>
          <a:noFill/>
          <a:ln>
            <a:noFill/>
          </a:ln>
        </p:spPr>
      </p:sp>
      <p:sp>
        <p:nvSpPr>
          <p:cNvPr id="184" name="Google Shape;184;p6"/>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85" name="Google Shape;185;p6"/>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86" name="Google Shape;186;p6"/>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7" name="Google Shape;187;p6"/>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88" name="Google Shape;188;p6"/>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89" name="Google Shape;189;p6"/>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0" name="Google Shape;190;p6"/>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1" name="Google Shape;191;p6"/>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2" name="Google Shape;192;p6"/>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3" name="Google Shape;193;p6"/>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194" name="Shape 194"/>
        <p:cNvGrpSpPr/>
        <p:nvPr/>
      </p:nvGrpSpPr>
      <p:grpSpPr>
        <a:xfrm>
          <a:off x="0" y="0"/>
          <a:ext cx="0" cy="0"/>
          <a:chOff x="0" y="0"/>
          <a:chExt cx="0" cy="0"/>
        </a:xfrm>
      </p:grpSpPr>
      <p:sp>
        <p:nvSpPr>
          <p:cNvPr id="195" name="Google Shape;195;p7"/>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96" name="Google Shape;196;p7"/>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7"/>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7"/>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7"/>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7"/>
          <p:cNvSpPr/>
          <p:nvPr>
            <p:ph idx="2" type="pic"/>
          </p:nvPr>
        </p:nvSpPr>
        <p:spPr>
          <a:xfrm>
            <a:off x="228425" y="1992125"/>
            <a:ext cx="1444500" cy="1451400"/>
          </a:xfrm>
          <a:prstGeom prst="rect">
            <a:avLst/>
          </a:prstGeom>
          <a:noFill/>
          <a:ln>
            <a:noFill/>
          </a:ln>
        </p:spPr>
      </p:sp>
      <p:sp>
        <p:nvSpPr>
          <p:cNvPr id="201" name="Google Shape;201;p7"/>
          <p:cNvSpPr/>
          <p:nvPr>
            <p:ph idx="3" type="pic"/>
          </p:nvPr>
        </p:nvSpPr>
        <p:spPr>
          <a:xfrm>
            <a:off x="2039088" y="1992125"/>
            <a:ext cx="1444500" cy="1451400"/>
          </a:xfrm>
          <a:prstGeom prst="rect">
            <a:avLst/>
          </a:prstGeom>
          <a:noFill/>
          <a:ln>
            <a:noFill/>
          </a:ln>
        </p:spPr>
      </p:sp>
      <p:sp>
        <p:nvSpPr>
          <p:cNvPr id="202" name="Google Shape;202;p7"/>
          <p:cNvSpPr/>
          <p:nvPr>
            <p:ph idx="4" type="pic"/>
          </p:nvPr>
        </p:nvSpPr>
        <p:spPr>
          <a:xfrm>
            <a:off x="3849663" y="1992125"/>
            <a:ext cx="1444500" cy="1451400"/>
          </a:xfrm>
          <a:prstGeom prst="rect">
            <a:avLst/>
          </a:prstGeom>
          <a:noFill/>
          <a:ln>
            <a:noFill/>
          </a:ln>
        </p:spPr>
      </p:sp>
      <p:sp>
        <p:nvSpPr>
          <p:cNvPr id="203" name="Google Shape;203;p7"/>
          <p:cNvSpPr/>
          <p:nvPr>
            <p:ph idx="5" type="pic"/>
          </p:nvPr>
        </p:nvSpPr>
        <p:spPr>
          <a:xfrm>
            <a:off x="5660238" y="1992125"/>
            <a:ext cx="1444500" cy="1451400"/>
          </a:xfrm>
          <a:prstGeom prst="rect">
            <a:avLst/>
          </a:prstGeom>
          <a:noFill/>
          <a:ln>
            <a:noFill/>
          </a:ln>
        </p:spPr>
      </p:sp>
      <p:sp>
        <p:nvSpPr>
          <p:cNvPr id="204" name="Google Shape;204;p7"/>
          <p:cNvSpPr/>
          <p:nvPr>
            <p:ph idx="6" type="pic"/>
          </p:nvPr>
        </p:nvSpPr>
        <p:spPr>
          <a:xfrm>
            <a:off x="7470738" y="1992125"/>
            <a:ext cx="1444500" cy="1451400"/>
          </a:xfrm>
          <a:prstGeom prst="rect">
            <a:avLst/>
          </a:prstGeom>
          <a:noFill/>
          <a:ln>
            <a:noFill/>
          </a:ln>
        </p:spPr>
      </p:sp>
      <p:sp>
        <p:nvSpPr>
          <p:cNvPr id="205" name="Google Shape;205;p7"/>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06" name="Google Shape;206;p7"/>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07" name="Google Shape;207;p7"/>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08" name="Google Shape;208;p7"/>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09" name="Google Shape;209;p7"/>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0" name="Google Shape;210;p7"/>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1" name="Google Shape;211;p7"/>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2" name="Google Shape;212;p7"/>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3" name="Google Shape;213;p7"/>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4" name="Google Shape;214;p7"/>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5" name="Google Shape;215;p7"/>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6" name="Google Shape;216;p7"/>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7" name="Google Shape;217;p7"/>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18" name="Google Shape;218;p7"/>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9" name="Google Shape;219;p7"/>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20" name="Shape 220"/>
        <p:cNvGrpSpPr/>
        <p:nvPr/>
      </p:nvGrpSpPr>
      <p:grpSpPr>
        <a:xfrm>
          <a:off x="0" y="0"/>
          <a:ext cx="0" cy="0"/>
          <a:chOff x="0" y="0"/>
          <a:chExt cx="0" cy="0"/>
        </a:xfrm>
      </p:grpSpPr>
      <p:sp>
        <p:nvSpPr>
          <p:cNvPr id="221" name="Google Shape;221;p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22" name="Shape 222"/>
        <p:cNvGrpSpPr/>
        <p:nvPr/>
      </p:nvGrpSpPr>
      <p:grpSpPr>
        <a:xfrm>
          <a:off x="0" y="0"/>
          <a:ext cx="0" cy="0"/>
          <a:chOff x="0" y="0"/>
          <a:chExt cx="0" cy="0"/>
        </a:xfrm>
      </p:grpSpPr>
      <p:sp>
        <p:nvSpPr>
          <p:cNvPr id="223" name="Google Shape;223;p9"/>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4" name="Google Shape;224;p9"/>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5" name="Google Shape;225;p9"/>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6" name="Google Shape;226;p9"/>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7" name="Google Shape;227;p9"/>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8" name="Google Shape;228;p9"/>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9" name="Google Shape;229;p9"/>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0" name="Google Shape;230;p9"/>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1" name="Google Shape;231;p9"/>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32" name="Google Shape;232;p9"/>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3" name="Google Shape;233;p9"/>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34" name="Shape 234"/>
        <p:cNvGrpSpPr/>
        <p:nvPr/>
      </p:nvGrpSpPr>
      <p:grpSpPr>
        <a:xfrm>
          <a:off x="0" y="0"/>
          <a:ext cx="0" cy="0"/>
          <a:chOff x="0" y="0"/>
          <a:chExt cx="0" cy="0"/>
        </a:xfrm>
      </p:grpSpPr>
      <p:sp>
        <p:nvSpPr>
          <p:cNvPr id="235" name="Google Shape;235;p1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6" name="Google Shape;236;p10"/>
          <p:cNvSpPr/>
          <p:nvPr>
            <p:ph idx="2" type="pic"/>
          </p:nvPr>
        </p:nvSpPr>
        <p:spPr>
          <a:xfrm>
            <a:off x="1446025" y="1291825"/>
            <a:ext cx="1232400" cy="1283100"/>
          </a:xfrm>
          <a:prstGeom prst="snip1Rect">
            <a:avLst>
              <a:gd fmla="val 44296" name="adj"/>
            </a:avLst>
          </a:prstGeom>
          <a:noFill/>
          <a:ln>
            <a:noFill/>
          </a:ln>
        </p:spPr>
      </p:sp>
      <p:sp>
        <p:nvSpPr>
          <p:cNvPr id="237" name="Google Shape;237;p10"/>
          <p:cNvSpPr/>
          <p:nvPr>
            <p:ph idx="3" type="pic"/>
          </p:nvPr>
        </p:nvSpPr>
        <p:spPr>
          <a:xfrm>
            <a:off x="6526650" y="1291825"/>
            <a:ext cx="1232400" cy="1283100"/>
          </a:xfrm>
          <a:prstGeom prst="snip1Rect">
            <a:avLst>
              <a:gd fmla="val 44296" name="adj"/>
            </a:avLst>
          </a:prstGeom>
          <a:noFill/>
          <a:ln>
            <a:noFill/>
          </a:ln>
        </p:spPr>
      </p:sp>
      <p:sp>
        <p:nvSpPr>
          <p:cNvPr id="238" name="Google Shape;238;p10"/>
          <p:cNvSpPr/>
          <p:nvPr>
            <p:ph idx="4" type="pic"/>
          </p:nvPr>
        </p:nvSpPr>
        <p:spPr>
          <a:xfrm>
            <a:off x="3982125" y="2570200"/>
            <a:ext cx="1232400" cy="1292100"/>
          </a:xfrm>
          <a:prstGeom prst="snip1Rect">
            <a:avLst>
              <a:gd fmla="val 44296" name="adj"/>
            </a:avLst>
          </a:prstGeom>
          <a:noFill/>
          <a:ln>
            <a:noFill/>
          </a:ln>
        </p:spPr>
      </p:sp>
      <p:sp>
        <p:nvSpPr>
          <p:cNvPr id="239" name="Google Shape;239;p10"/>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0" name="Google Shape;240;p10"/>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1" name="Google Shape;241;p10"/>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10"/>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3" name="Google Shape;243;p10"/>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4" name="Google Shape;244;p10"/>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5" name="Google Shape;245;p10"/>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46" name="Google Shape;246;p10"/>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47" name="Google Shape;247;p10"/>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48" name="Shape 248"/>
        <p:cNvGrpSpPr/>
        <p:nvPr/>
      </p:nvGrpSpPr>
      <p:grpSpPr>
        <a:xfrm>
          <a:off x="0" y="0"/>
          <a:ext cx="0" cy="0"/>
          <a:chOff x="0" y="0"/>
          <a:chExt cx="0" cy="0"/>
        </a:xfrm>
      </p:grpSpPr>
      <p:pic>
        <p:nvPicPr>
          <p:cNvPr id="249" name="Google Shape;249;p11"/>
          <p:cNvPicPr preferRelativeResize="0"/>
          <p:nvPr/>
        </p:nvPicPr>
        <p:blipFill rotWithShape="1">
          <a:blip r:embed="rId2">
            <a:alphaModFix/>
          </a:blip>
          <a:srcRect b="7467" l="0" r="17932" t="6703"/>
          <a:stretch/>
        </p:blipFill>
        <p:spPr>
          <a:xfrm>
            <a:off x="5425450" y="0"/>
            <a:ext cx="3718549" cy="4097924"/>
          </a:xfrm>
          <a:prstGeom prst="rect">
            <a:avLst/>
          </a:prstGeom>
          <a:noFill/>
          <a:ln>
            <a:noFill/>
          </a:ln>
        </p:spPr>
      </p:pic>
      <p:sp>
        <p:nvSpPr>
          <p:cNvPr id="250" name="Google Shape;250;p11"/>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51" name="Google Shape;251;p11"/>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52" name="Google Shape;252;p11"/>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3" name="Google Shape;253;p11"/>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54" name="Google Shape;254;p11"/>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5" name="Google Shape;255;p11"/>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56" name="Google Shape;256;p11"/>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257" name="Shape 257"/>
        <p:cNvGrpSpPr/>
        <p:nvPr/>
      </p:nvGrpSpPr>
      <p:grpSpPr>
        <a:xfrm>
          <a:off x="0" y="0"/>
          <a:ext cx="0" cy="0"/>
          <a:chOff x="0" y="0"/>
          <a:chExt cx="0" cy="0"/>
        </a:xfrm>
      </p:grpSpPr>
      <p:pic>
        <p:nvPicPr>
          <p:cNvPr id="258" name="Google Shape;258;p12"/>
          <p:cNvPicPr preferRelativeResize="0"/>
          <p:nvPr/>
        </p:nvPicPr>
        <p:blipFill rotWithShape="1">
          <a:blip r:embed="rId2">
            <a:alphaModFix/>
          </a:blip>
          <a:srcRect b="15068" l="14900" r="18071" t="15236"/>
          <a:stretch/>
        </p:blipFill>
        <p:spPr>
          <a:xfrm>
            <a:off x="2750850" y="1538351"/>
            <a:ext cx="1791900" cy="2175997"/>
          </a:xfrm>
          <a:prstGeom prst="rect">
            <a:avLst/>
          </a:prstGeom>
          <a:noFill/>
          <a:ln>
            <a:noFill/>
          </a:ln>
        </p:spPr>
      </p:pic>
      <p:sp>
        <p:nvSpPr>
          <p:cNvPr id="259" name="Google Shape;259;p12"/>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260" name="Google Shape;260;p12"/>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61" name="Google Shape;261;p12"/>
          <p:cNvSpPr/>
          <p:nvPr>
            <p:ph idx="2" type="pic"/>
          </p:nvPr>
        </p:nvSpPr>
        <p:spPr>
          <a:xfrm>
            <a:off x="228425" y="2450950"/>
            <a:ext cx="1791900" cy="1917600"/>
          </a:xfrm>
          <a:prstGeom prst="rect">
            <a:avLst/>
          </a:prstGeom>
          <a:noFill/>
          <a:ln>
            <a:noFill/>
          </a:ln>
        </p:spPr>
      </p:sp>
      <p:sp>
        <p:nvSpPr>
          <p:cNvPr id="262" name="Google Shape;262;p12"/>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63" name="Google Shape;263;p12"/>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4" name="Google Shape;264;p12"/>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5" name="Google Shape;265;p12"/>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6" name="Google Shape;266;p12"/>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7" name="Google Shape;267;p12"/>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8" name="Google Shape;268;p12"/>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9" name="Google Shape;269;p12"/>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270" name="Shape 270"/>
        <p:cNvGrpSpPr/>
        <p:nvPr/>
      </p:nvGrpSpPr>
      <p:grpSpPr>
        <a:xfrm>
          <a:off x="0" y="0"/>
          <a:ext cx="0" cy="0"/>
          <a:chOff x="0" y="0"/>
          <a:chExt cx="0" cy="0"/>
        </a:xfrm>
      </p:grpSpPr>
      <p:sp>
        <p:nvSpPr>
          <p:cNvPr id="271" name="Google Shape;271;p13"/>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13"/>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3" name="Google Shape;273;p13"/>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4" name="Google Shape;274;p13"/>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5" name="Google Shape;275;p13"/>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6" name="Google Shape;276;p13"/>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7" name="Google Shape;277;p13"/>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8" name="Google Shape;278;p13"/>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9" name="Google Shape;279;p13"/>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0" name="Google Shape;280;p13"/>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1" name="Google Shape;281;p13"/>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282" name="Shape 282"/>
        <p:cNvGrpSpPr/>
        <p:nvPr/>
      </p:nvGrpSpPr>
      <p:grpSpPr>
        <a:xfrm>
          <a:off x="0" y="0"/>
          <a:ext cx="0" cy="0"/>
          <a:chOff x="0" y="0"/>
          <a:chExt cx="0" cy="0"/>
        </a:xfrm>
      </p:grpSpPr>
      <p:sp>
        <p:nvSpPr>
          <p:cNvPr id="283" name="Google Shape;283;p14"/>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4" name="Google Shape;284;p14"/>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5" name="Google Shape;285;p14"/>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6" name="Google Shape;286;p14"/>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287" name="Google Shape;287;p14"/>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8" name="Google Shape;288;p14"/>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89" name="Google Shape;289;p14"/>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90" name="Google Shape;290;p14"/>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291" name="Google Shape;291;p14"/>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92" name="Google Shape;292;p14"/>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293" name="Google Shape;293;p14"/>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294" name="Shape 294"/>
        <p:cNvGrpSpPr/>
        <p:nvPr/>
      </p:nvGrpSpPr>
      <p:grpSpPr>
        <a:xfrm>
          <a:off x="0" y="0"/>
          <a:ext cx="0" cy="0"/>
          <a:chOff x="0" y="0"/>
          <a:chExt cx="0" cy="0"/>
        </a:xfrm>
      </p:grpSpPr>
      <p:sp>
        <p:nvSpPr>
          <p:cNvPr id="295" name="Google Shape;295;p15"/>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6" name="Google Shape;296;p15"/>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297" name="Google Shape;297;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298" name="Google Shape;298;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299" name="Google Shape;299;p15"/>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0" name="Google Shape;300;p15"/>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1" name="Google Shape;301;p15"/>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02" name="Google Shape;302;p15"/>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3" name="Google Shape;303;p15"/>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4" name="Google Shape;304;p15"/>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5" name="Google Shape;305;p15"/>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6" name="Google Shape;306;p15"/>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7" name="Google Shape;307;p15"/>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8" name="Google Shape;308;p15"/>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9" name="Google Shape;309;p15"/>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0" name="Google Shape;310;p15"/>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1" name="Google Shape;311;p15"/>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2" name="Google Shape;312;p15"/>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3" name="Google Shape;313;p15"/>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15"/>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5" name="Google Shape;315;p15"/>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6" name="Google Shape;316;p15"/>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7" name="Google Shape;317;p15"/>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8" name="Google Shape;318;p15"/>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9" name="Google Shape;319;p15"/>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0" name="Google Shape;320;p15"/>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1" name="Google Shape;321;p15"/>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22" name="Shape 322"/>
        <p:cNvGrpSpPr/>
        <p:nvPr/>
      </p:nvGrpSpPr>
      <p:grpSpPr>
        <a:xfrm>
          <a:off x="0" y="0"/>
          <a:ext cx="0" cy="0"/>
          <a:chOff x="0" y="0"/>
          <a:chExt cx="0" cy="0"/>
        </a:xfrm>
      </p:grpSpPr>
      <p:sp>
        <p:nvSpPr>
          <p:cNvPr id="323" name="Google Shape;323;p1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4" name="Google Shape;324;p16"/>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25" name="Google Shape;325;p1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26" name="Google Shape;326;p16"/>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7" name="Google Shape;327;p16"/>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8" name="Google Shape;328;p16"/>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9" name="Google Shape;329;p16"/>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30" name="Google Shape;330;p16"/>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31" name="Google Shape;331;p16"/>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2" name="Google Shape;332;p16"/>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33" name="Google Shape;333;p16"/>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4" name="Google Shape;334;p16"/>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5" name="Google Shape;335;p16"/>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36" name="Shape 336"/>
        <p:cNvGrpSpPr/>
        <p:nvPr/>
      </p:nvGrpSpPr>
      <p:grpSpPr>
        <a:xfrm>
          <a:off x="0" y="0"/>
          <a:ext cx="0" cy="0"/>
          <a:chOff x="0" y="0"/>
          <a:chExt cx="0" cy="0"/>
        </a:xfrm>
      </p:grpSpPr>
      <p:sp>
        <p:nvSpPr>
          <p:cNvPr id="337" name="Google Shape;337;p1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38" name="Google Shape;338;p1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39" name="Google Shape;339;p1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0" name="Google Shape;340;p17"/>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1" name="Google Shape;341;p17"/>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2" name="Google Shape;342;p17"/>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3" name="Google Shape;343;p17"/>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44" name="Google Shape;344;p17"/>
          <p:cNvGrpSpPr/>
          <p:nvPr/>
        </p:nvGrpSpPr>
        <p:grpSpPr>
          <a:xfrm flipH="1">
            <a:off x="6903656" y="79823"/>
            <a:ext cx="2140834" cy="1767927"/>
            <a:chOff x="142083" y="79814"/>
            <a:chExt cx="1831025" cy="1512212"/>
          </a:xfrm>
        </p:grpSpPr>
        <p:sp>
          <p:nvSpPr>
            <p:cNvPr id="345" name="Google Shape;345;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6" name="Google Shape;346;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7" name="Google Shape;347;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8" name="Google Shape;348;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9" name="Google Shape;349;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0" name="Google Shape;350;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1" name="Google Shape;351;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2" name="Google Shape;352;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3" name="Google Shape;353;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4" name="Google Shape;354;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5" name="Google Shape;355;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6" name="Google Shape;356;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7" name="Google Shape;357;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8" name="Google Shape;358;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9" name="Google Shape;359;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0" name="Google Shape;360;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1" name="Google Shape;361;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2" name="Google Shape;362;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3" name="Google Shape;363;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4" name="Google Shape;364;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5" name="Google Shape;365;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6" name="Google Shape;366;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7" name="Google Shape;367;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8" name="Google Shape;368;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369" name="Google Shape;369;p17"/>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70" name="Google Shape;370;p17"/>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371" name="Shape 371"/>
        <p:cNvGrpSpPr/>
        <p:nvPr/>
      </p:nvGrpSpPr>
      <p:grpSpPr>
        <a:xfrm>
          <a:off x="0" y="0"/>
          <a:ext cx="0" cy="0"/>
          <a:chOff x="0" y="0"/>
          <a:chExt cx="0" cy="0"/>
        </a:xfrm>
      </p:grpSpPr>
      <p:sp>
        <p:nvSpPr>
          <p:cNvPr id="372" name="Google Shape;372;p1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73" name="Google Shape;373;p1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4" name="Google Shape;374;p1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5" name="Google Shape;375;p18"/>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6" name="Google Shape;376;p18"/>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7" name="Google Shape;377;p18"/>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8" name="Google Shape;378;p18"/>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379" name="Google Shape;379;p18"/>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80" name="Google Shape;380;p18"/>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381" name="Shape 381"/>
        <p:cNvGrpSpPr/>
        <p:nvPr/>
      </p:nvGrpSpPr>
      <p:grpSpPr>
        <a:xfrm>
          <a:off x="0" y="0"/>
          <a:ext cx="0" cy="0"/>
          <a:chOff x="0" y="0"/>
          <a:chExt cx="0" cy="0"/>
        </a:xfrm>
      </p:grpSpPr>
      <p:sp>
        <p:nvSpPr>
          <p:cNvPr id="382" name="Google Shape;382;p1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3" name="Google Shape;383;p1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84" name="Google Shape;384;p1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85" name="Google Shape;385;p19"/>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6" name="Google Shape;386;p19"/>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7" name="Google Shape;387;p19"/>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8" name="Google Shape;388;p19"/>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9" name="Google Shape;389;p19"/>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0" name="Google Shape;390;p19"/>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1" name="Google Shape;391;p19"/>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2" name="Google Shape;392;p19"/>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393" name="Shape 393"/>
        <p:cNvGrpSpPr/>
        <p:nvPr/>
      </p:nvGrpSpPr>
      <p:grpSpPr>
        <a:xfrm>
          <a:off x="0" y="0"/>
          <a:ext cx="0" cy="0"/>
          <a:chOff x="0" y="0"/>
          <a:chExt cx="0" cy="0"/>
        </a:xfrm>
      </p:grpSpPr>
      <p:cxnSp>
        <p:nvCxnSpPr>
          <p:cNvPr id="394" name="Google Shape;394;p20"/>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395" name="Google Shape;395;p20"/>
          <p:cNvCxnSpPr>
            <a:stCxn id="396" idx="1"/>
            <a:endCxn id="397"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398" name="Google Shape;398;p20"/>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399" name="Google Shape;399;p20"/>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396" name="Google Shape;396;p20"/>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00" name="Google Shape;400;p20"/>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397" name="Google Shape;397;p20"/>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01" name="Google Shape;401;p20"/>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02" name="Google Shape;402;p20"/>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3" name="Google Shape;403;p20"/>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04" name="Google Shape;404;p20"/>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05" name="Shape 405"/>
        <p:cNvGrpSpPr/>
        <p:nvPr/>
      </p:nvGrpSpPr>
      <p:grpSpPr>
        <a:xfrm>
          <a:off x="0" y="0"/>
          <a:ext cx="0" cy="0"/>
          <a:chOff x="0" y="0"/>
          <a:chExt cx="0" cy="0"/>
        </a:xfrm>
      </p:grpSpPr>
      <p:cxnSp>
        <p:nvCxnSpPr>
          <p:cNvPr id="406" name="Google Shape;406;p21"/>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07" name="Google Shape;407;p21"/>
          <p:cNvCxnSpPr>
            <a:stCxn id="408" idx="1"/>
            <a:endCxn id="409"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10" name="Google Shape;410;p21"/>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11" name="Google Shape;411;p21"/>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08" name="Google Shape;408;p21"/>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2" name="Google Shape;412;p21"/>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09" name="Google Shape;409;p21"/>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3" name="Google Shape;413;p21"/>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14" name="Google Shape;414;p21"/>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5" name="Google Shape;415;p21"/>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16" name="Google Shape;416;p21"/>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17" name="Shape 417"/>
        <p:cNvGrpSpPr/>
        <p:nvPr/>
      </p:nvGrpSpPr>
      <p:grpSpPr>
        <a:xfrm>
          <a:off x="0" y="0"/>
          <a:ext cx="0" cy="0"/>
          <a:chOff x="0" y="0"/>
          <a:chExt cx="0" cy="0"/>
        </a:xfrm>
      </p:grpSpPr>
      <p:sp>
        <p:nvSpPr>
          <p:cNvPr id="418" name="Google Shape;418;p22"/>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19" name="Google Shape;419;p22"/>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20" name="Google Shape;420;p22"/>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1" name="Google Shape;421;p22"/>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2" name="Google Shape;422;p22"/>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3" name="Google Shape;423;p22"/>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4" name="Google Shape;424;p22"/>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5" name="Google Shape;425;p22"/>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6" name="Google Shape;426;p22"/>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7" name="Google Shape;427;p22"/>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8" name="Google Shape;428;p22"/>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9" name="Google Shape;429;p22"/>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0" name="Google Shape;430;p22"/>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31" name="Google Shape;431;p22"/>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2" name="Google Shape;432;p22"/>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33" name="Google Shape;433;p22"/>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4" name="Google Shape;434;p22"/>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35" name="Shape 435"/>
        <p:cNvGrpSpPr/>
        <p:nvPr/>
      </p:nvGrpSpPr>
      <p:grpSpPr>
        <a:xfrm>
          <a:off x="0" y="0"/>
          <a:ext cx="0" cy="0"/>
          <a:chOff x="0" y="0"/>
          <a:chExt cx="0" cy="0"/>
        </a:xfrm>
      </p:grpSpPr>
      <p:sp>
        <p:nvSpPr>
          <p:cNvPr id="436" name="Google Shape;436;p23"/>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7" name="Google Shape;437;p23"/>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38" name="Google Shape;438;p23"/>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9" name="Google Shape;439;p23"/>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0" name="Google Shape;440;p23"/>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1" name="Google Shape;441;p23"/>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2" name="Google Shape;442;p23"/>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3" name="Google Shape;443;p23"/>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44" name="Google Shape;444;p23"/>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5" name="Google Shape;445;p23"/>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6" name="Google Shape;446;p23"/>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47" name="Shape 447"/>
        <p:cNvGrpSpPr/>
        <p:nvPr/>
      </p:nvGrpSpPr>
      <p:grpSpPr>
        <a:xfrm>
          <a:off x="0" y="0"/>
          <a:ext cx="0" cy="0"/>
          <a:chOff x="0" y="0"/>
          <a:chExt cx="0" cy="0"/>
        </a:xfrm>
      </p:grpSpPr>
      <p:sp>
        <p:nvSpPr>
          <p:cNvPr id="448" name="Google Shape;448;p24"/>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9" name="Google Shape;449;p24"/>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50" name="Google Shape;450;p24"/>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51" name="Google Shape;451;p24"/>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2" name="Google Shape;452;p24"/>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3" name="Google Shape;453;p24"/>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4" name="Google Shape;454;p24"/>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5" name="Google Shape;455;p24"/>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6" name="Google Shape;456;p24"/>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57" name="Shape 457"/>
        <p:cNvGrpSpPr/>
        <p:nvPr/>
      </p:nvGrpSpPr>
      <p:grpSpPr>
        <a:xfrm>
          <a:off x="0" y="0"/>
          <a:ext cx="0" cy="0"/>
          <a:chOff x="0" y="0"/>
          <a:chExt cx="0" cy="0"/>
        </a:xfrm>
      </p:grpSpPr>
      <p:sp>
        <p:nvSpPr>
          <p:cNvPr id="458" name="Google Shape;45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59" name="Shape 459"/>
        <p:cNvGrpSpPr/>
        <p:nvPr/>
      </p:nvGrpSpPr>
      <p:grpSpPr>
        <a:xfrm>
          <a:off x="0" y="0"/>
          <a:ext cx="0" cy="0"/>
          <a:chOff x="0" y="0"/>
          <a:chExt cx="0" cy="0"/>
        </a:xfrm>
      </p:grpSpPr>
      <p:sp>
        <p:nvSpPr>
          <p:cNvPr id="460" name="Google Shape;460;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1" name="Google Shape;461;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62" name="Shape 462"/>
        <p:cNvGrpSpPr/>
        <p:nvPr/>
      </p:nvGrpSpPr>
      <p:grpSpPr>
        <a:xfrm>
          <a:off x="0" y="0"/>
          <a:ext cx="0" cy="0"/>
          <a:chOff x="0" y="0"/>
          <a:chExt cx="0" cy="0"/>
        </a:xfrm>
      </p:grpSpPr>
      <p:sp>
        <p:nvSpPr>
          <p:cNvPr id="463" name="Google Shape;46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4" name="Google Shape;464;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5" name="Google Shape;465;p27"/>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66" name="Shape 466"/>
        <p:cNvGrpSpPr/>
        <p:nvPr/>
      </p:nvGrpSpPr>
      <p:grpSpPr>
        <a:xfrm>
          <a:off x="0" y="0"/>
          <a:ext cx="0" cy="0"/>
          <a:chOff x="0" y="0"/>
          <a:chExt cx="0" cy="0"/>
        </a:xfrm>
      </p:grpSpPr>
      <p:sp>
        <p:nvSpPr>
          <p:cNvPr id="467" name="Google Shape;467;p2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8" name="Google Shape;468;p2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69" name="Shape 469"/>
        <p:cNvGrpSpPr/>
        <p:nvPr/>
      </p:nvGrpSpPr>
      <p:grpSpPr>
        <a:xfrm>
          <a:off x="0" y="0"/>
          <a:ext cx="0" cy="0"/>
          <a:chOff x="0" y="0"/>
          <a:chExt cx="0" cy="0"/>
        </a:xfrm>
      </p:grpSpPr>
      <p:sp>
        <p:nvSpPr>
          <p:cNvPr id="470" name="Google Shape;470;p2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71" name="Shape 471"/>
        <p:cNvGrpSpPr/>
        <p:nvPr/>
      </p:nvGrpSpPr>
      <p:grpSpPr>
        <a:xfrm>
          <a:off x="0" y="0"/>
          <a:ext cx="0" cy="0"/>
          <a:chOff x="0" y="0"/>
          <a:chExt cx="0" cy="0"/>
        </a:xfrm>
      </p:grpSpPr>
      <p:sp>
        <p:nvSpPr>
          <p:cNvPr id="472" name="Google Shape;472;p3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3" name="Google Shape;473;p3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74" name="Google Shape;474;p3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75" name="Shape 475"/>
        <p:cNvGrpSpPr/>
        <p:nvPr/>
      </p:nvGrpSpPr>
      <p:grpSpPr>
        <a:xfrm>
          <a:off x="0" y="0"/>
          <a:ext cx="0" cy="0"/>
          <a:chOff x="0" y="0"/>
          <a:chExt cx="0" cy="0"/>
        </a:xfrm>
      </p:grpSpPr>
      <p:sp>
        <p:nvSpPr>
          <p:cNvPr id="476" name="Google Shape;476;p3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77" name="Shape 477"/>
        <p:cNvGrpSpPr/>
        <p:nvPr/>
      </p:nvGrpSpPr>
      <p:grpSpPr>
        <a:xfrm>
          <a:off x="0" y="0"/>
          <a:ext cx="0" cy="0"/>
          <a:chOff x="0" y="0"/>
          <a:chExt cx="0" cy="0"/>
        </a:xfrm>
      </p:grpSpPr>
      <p:sp>
        <p:nvSpPr>
          <p:cNvPr id="478" name="Google Shape;478;p3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9" name="Google Shape;479;p3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80" name="Shape 480"/>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81" name="Shape 481"/>
        <p:cNvGrpSpPr/>
        <p:nvPr/>
      </p:nvGrpSpPr>
      <p:grpSpPr>
        <a:xfrm>
          <a:off x="0" y="0"/>
          <a:ext cx="0" cy="0"/>
          <a:chOff x="0" y="0"/>
          <a:chExt cx="0" cy="0"/>
        </a:xfrm>
      </p:grpSpPr>
      <p:sp>
        <p:nvSpPr>
          <p:cNvPr id="482" name="Google Shape;48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83" name="Google Shape;483;p34"/>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84" name="Google Shape;484;p3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85" name="Shape 485"/>
        <p:cNvGrpSpPr/>
        <p:nvPr/>
      </p:nvGrpSpPr>
      <p:grpSpPr>
        <a:xfrm>
          <a:off x="0" y="0"/>
          <a:ext cx="0" cy="0"/>
          <a:chOff x="0" y="0"/>
          <a:chExt cx="0" cy="0"/>
        </a:xfrm>
      </p:grpSpPr>
      <p:sp>
        <p:nvSpPr>
          <p:cNvPr id="486" name="Google Shape;486;p3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87" name="Google Shape;487;p35"/>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88" name="Google Shape;488;p3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89" name="Google Shape;489;p3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0" name="Google Shape;490;p3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91" name="Shape 491"/>
        <p:cNvGrpSpPr/>
        <p:nvPr/>
      </p:nvGrpSpPr>
      <p:grpSpPr>
        <a:xfrm>
          <a:off x="0" y="0"/>
          <a:ext cx="0" cy="0"/>
          <a:chOff x="0" y="0"/>
          <a:chExt cx="0" cy="0"/>
        </a:xfrm>
      </p:grpSpPr>
      <p:sp>
        <p:nvSpPr>
          <p:cNvPr id="492" name="Google Shape;492;p36"/>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93" name="Google Shape;493;p3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94" name="Google Shape;494;p3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95" name="Google Shape;495;p3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6" name="Google Shape;496;p3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7" name="Google Shape;497;p3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8" name="Google Shape;498;p3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99" name="Shape 499"/>
        <p:cNvGrpSpPr/>
        <p:nvPr/>
      </p:nvGrpSpPr>
      <p:grpSpPr>
        <a:xfrm>
          <a:off x="0" y="0"/>
          <a:ext cx="0" cy="0"/>
          <a:chOff x="0" y="0"/>
          <a:chExt cx="0" cy="0"/>
        </a:xfrm>
      </p:grpSpPr>
      <p:sp>
        <p:nvSpPr>
          <p:cNvPr id="500" name="Google Shape;500;p37"/>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01" name="Google Shape;501;p3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2" name="Google Shape;502;p3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3" name="Google Shape;503;p3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4" name="Google Shape;504;p3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5" name="Google Shape;505;p3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6" name="Google Shape;506;p3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7" name="Google Shape;507;p3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8" name="Google Shape;508;p3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09" name="Shape 509"/>
        <p:cNvGrpSpPr/>
        <p:nvPr/>
      </p:nvGrpSpPr>
      <p:grpSpPr>
        <a:xfrm>
          <a:off x="0" y="0"/>
          <a:ext cx="0" cy="0"/>
          <a:chOff x="0" y="0"/>
          <a:chExt cx="0" cy="0"/>
        </a:xfrm>
      </p:grpSpPr>
      <p:sp>
        <p:nvSpPr>
          <p:cNvPr id="510" name="Google Shape;510;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1" name="Google Shape;511;p3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12" name="Shape 512"/>
        <p:cNvGrpSpPr/>
        <p:nvPr/>
      </p:nvGrpSpPr>
      <p:grpSpPr>
        <a:xfrm>
          <a:off x="0" y="0"/>
          <a:ext cx="0" cy="0"/>
          <a:chOff x="0" y="0"/>
          <a:chExt cx="0" cy="0"/>
        </a:xfrm>
      </p:grpSpPr>
      <p:sp>
        <p:nvSpPr>
          <p:cNvPr id="513" name="Google Shape;513;p39"/>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14" name="Google Shape;514;p39"/>
          <p:cNvSpPr/>
          <p:nvPr>
            <p:ph idx="2" type="pic"/>
          </p:nvPr>
        </p:nvSpPr>
        <p:spPr>
          <a:xfrm>
            <a:off x="4804825" y="1133300"/>
            <a:ext cx="4027500" cy="2392800"/>
          </a:xfrm>
          <a:prstGeom prst="rect">
            <a:avLst/>
          </a:prstGeom>
          <a:noFill/>
          <a:ln>
            <a:noFill/>
          </a:ln>
        </p:spPr>
      </p:sp>
      <p:sp>
        <p:nvSpPr>
          <p:cNvPr id="515" name="Google Shape;515;p39"/>
          <p:cNvSpPr/>
          <p:nvPr>
            <p:ph idx="3" type="pic"/>
          </p:nvPr>
        </p:nvSpPr>
        <p:spPr>
          <a:xfrm>
            <a:off x="311725" y="1133300"/>
            <a:ext cx="4027500" cy="2392800"/>
          </a:xfrm>
          <a:prstGeom prst="rect">
            <a:avLst/>
          </a:prstGeom>
          <a:noFill/>
          <a:ln>
            <a:noFill/>
          </a:ln>
        </p:spPr>
      </p:sp>
      <p:sp>
        <p:nvSpPr>
          <p:cNvPr id="516" name="Google Shape;516;p3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7" name="Google Shape;51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8" name="Google Shape;518;p3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19" name="Google Shape;519;p3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20" name="Shape 520"/>
        <p:cNvGrpSpPr/>
        <p:nvPr/>
      </p:nvGrpSpPr>
      <p:grpSpPr>
        <a:xfrm>
          <a:off x="0" y="0"/>
          <a:ext cx="0" cy="0"/>
          <a:chOff x="0" y="0"/>
          <a:chExt cx="0" cy="0"/>
        </a:xfrm>
      </p:grpSpPr>
      <p:sp>
        <p:nvSpPr>
          <p:cNvPr id="521" name="Google Shape;521;p40"/>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22" name="Google Shape;522;p40"/>
          <p:cNvSpPr/>
          <p:nvPr>
            <p:ph idx="2" type="pic"/>
          </p:nvPr>
        </p:nvSpPr>
        <p:spPr>
          <a:xfrm>
            <a:off x="6205225" y="1128325"/>
            <a:ext cx="2627100" cy="2273100"/>
          </a:xfrm>
          <a:prstGeom prst="rect">
            <a:avLst/>
          </a:prstGeom>
          <a:noFill/>
          <a:ln>
            <a:noFill/>
          </a:ln>
        </p:spPr>
      </p:sp>
      <p:sp>
        <p:nvSpPr>
          <p:cNvPr id="523" name="Google Shape;523;p40"/>
          <p:cNvSpPr/>
          <p:nvPr>
            <p:ph idx="3" type="pic"/>
          </p:nvPr>
        </p:nvSpPr>
        <p:spPr>
          <a:xfrm>
            <a:off x="311725" y="1128325"/>
            <a:ext cx="2627100" cy="2273100"/>
          </a:xfrm>
          <a:prstGeom prst="rect">
            <a:avLst/>
          </a:prstGeom>
          <a:noFill/>
          <a:ln>
            <a:noFill/>
          </a:ln>
        </p:spPr>
      </p:sp>
      <p:sp>
        <p:nvSpPr>
          <p:cNvPr id="524" name="Google Shape;524;p4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5" name="Google Shape;525;p40"/>
          <p:cNvSpPr/>
          <p:nvPr>
            <p:ph idx="5" type="pic"/>
          </p:nvPr>
        </p:nvSpPr>
        <p:spPr>
          <a:xfrm>
            <a:off x="3255250" y="1128325"/>
            <a:ext cx="2627100" cy="2273100"/>
          </a:xfrm>
          <a:prstGeom prst="rect">
            <a:avLst/>
          </a:prstGeom>
          <a:noFill/>
          <a:ln>
            <a:noFill/>
          </a:ln>
        </p:spPr>
      </p:sp>
      <p:sp>
        <p:nvSpPr>
          <p:cNvPr id="526" name="Google Shape;526;p4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7" name="Google Shape;52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28" name="Google Shape;528;p4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29" name="Google Shape;529;p4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30" name="Google Shape;530;p4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31" name="Shape 531"/>
        <p:cNvGrpSpPr/>
        <p:nvPr/>
      </p:nvGrpSpPr>
      <p:grpSpPr>
        <a:xfrm>
          <a:off x="0" y="0"/>
          <a:ext cx="0" cy="0"/>
          <a:chOff x="0" y="0"/>
          <a:chExt cx="0" cy="0"/>
        </a:xfrm>
      </p:grpSpPr>
      <p:sp>
        <p:nvSpPr>
          <p:cNvPr id="532" name="Google Shape;532;p4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33" name="Shape 533"/>
        <p:cNvGrpSpPr/>
        <p:nvPr/>
      </p:nvGrpSpPr>
      <p:grpSpPr>
        <a:xfrm>
          <a:off x="0" y="0"/>
          <a:ext cx="0" cy="0"/>
          <a:chOff x="0" y="0"/>
          <a:chExt cx="0" cy="0"/>
        </a:xfrm>
      </p:grpSpPr>
      <p:sp>
        <p:nvSpPr>
          <p:cNvPr id="534" name="Google Shape;534;p42"/>
          <p:cNvSpPr/>
          <p:nvPr>
            <p:ph idx="2" type="pic"/>
          </p:nvPr>
        </p:nvSpPr>
        <p:spPr>
          <a:xfrm>
            <a:off x="3389600" y="118913"/>
            <a:ext cx="1643700" cy="1535100"/>
          </a:xfrm>
          <a:prstGeom prst="rect">
            <a:avLst/>
          </a:prstGeom>
          <a:noFill/>
          <a:ln>
            <a:noFill/>
          </a:ln>
        </p:spPr>
      </p:sp>
      <p:sp>
        <p:nvSpPr>
          <p:cNvPr id="535" name="Google Shape;535;p42"/>
          <p:cNvSpPr/>
          <p:nvPr>
            <p:ph idx="3" type="pic"/>
          </p:nvPr>
        </p:nvSpPr>
        <p:spPr>
          <a:xfrm>
            <a:off x="5195935" y="118913"/>
            <a:ext cx="1643700" cy="1535100"/>
          </a:xfrm>
          <a:prstGeom prst="rect">
            <a:avLst/>
          </a:prstGeom>
          <a:noFill/>
          <a:ln>
            <a:noFill/>
          </a:ln>
        </p:spPr>
      </p:sp>
      <p:sp>
        <p:nvSpPr>
          <p:cNvPr id="536" name="Google Shape;536;p42"/>
          <p:cNvSpPr/>
          <p:nvPr>
            <p:ph idx="4" type="pic"/>
          </p:nvPr>
        </p:nvSpPr>
        <p:spPr>
          <a:xfrm>
            <a:off x="7002270" y="118913"/>
            <a:ext cx="1643700" cy="1535100"/>
          </a:xfrm>
          <a:prstGeom prst="rect">
            <a:avLst/>
          </a:prstGeom>
          <a:noFill/>
          <a:ln>
            <a:noFill/>
          </a:ln>
        </p:spPr>
      </p:sp>
      <p:sp>
        <p:nvSpPr>
          <p:cNvPr id="537" name="Google Shape;537;p42"/>
          <p:cNvSpPr/>
          <p:nvPr>
            <p:ph idx="5" type="pic"/>
          </p:nvPr>
        </p:nvSpPr>
        <p:spPr>
          <a:xfrm>
            <a:off x="3389588" y="1804212"/>
            <a:ext cx="1643700" cy="1535100"/>
          </a:xfrm>
          <a:prstGeom prst="rect">
            <a:avLst/>
          </a:prstGeom>
          <a:noFill/>
          <a:ln>
            <a:noFill/>
          </a:ln>
        </p:spPr>
      </p:sp>
      <p:sp>
        <p:nvSpPr>
          <p:cNvPr id="538" name="Google Shape;538;p42"/>
          <p:cNvSpPr/>
          <p:nvPr>
            <p:ph idx="6" type="pic"/>
          </p:nvPr>
        </p:nvSpPr>
        <p:spPr>
          <a:xfrm>
            <a:off x="5195922" y="1804212"/>
            <a:ext cx="1643700" cy="1535100"/>
          </a:xfrm>
          <a:prstGeom prst="rect">
            <a:avLst/>
          </a:prstGeom>
          <a:noFill/>
          <a:ln>
            <a:noFill/>
          </a:ln>
        </p:spPr>
      </p:sp>
      <p:sp>
        <p:nvSpPr>
          <p:cNvPr id="539" name="Google Shape;539;p42"/>
          <p:cNvSpPr/>
          <p:nvPr>
            <p:ph idx="7" type="pic"/>
          </p:nvPr>
        </p:nvSpPr>
        <p:spPr>
          <a:xfrm>
            <a:off x="7002257" y="1804212"/>
            <a:ext cx="1643700" cy="1535100"/>
          </a:xfrm>
          <a:prstGeom prst="rect">
            <a:avLst/>
          </a:prstGeom>
          <a:noFill/>
          <a:ln>
            <a:noFill/>
          </a:ln>
        </p:spPr>
      </p:sp>
      <p:sp>
        <p:nvSpPr>
          <p:cNvPr id="540" name="Google Shape;540;p4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1" name="Google Shape;541;p42"/>
          <p:cNvSpPr/>
          <p:nvPr>
            <p:ph idx="8" type="pic"/>
          </p:nvPr>
        </p:nvSpPr>
        <p:spPr>
          <a:xfrm>
            <a:off x="3389588" y="3489487"/>
            <a:ext cx="1643700" cy="1535100"/>
          </a:xfrm>
          <a:prstGeom prst="rect">
            <a:avLst/>
          </a:prstGeom>
          <a:noFill/>
          <a:ln>
            <a:noFill/>
          </a:ln>
        </p:spPr>
      </p:sp>
      <p:sp>
        <p:nvSpPr>
          <p:cNvPr id="542" name="Google Shape;542;p42"/>
          <p:cNvSpPr/>
          <p:nvPr>
            <p:ph idx="9" type="pic"/>
          </p:nvPr>
        </p:nvSpPr>
        <p:spPr>
          <a:xfrm>
            <a:off x="5195922" y="3489487"/>
            <a:ext cx="1643700" cy="1535100"/>
          </a:xfrm>
          <a:prstGeom prst="rect">
            <a:avLst/>
          </a:prstGeom>
          <a:noFill/>
          <a:ln>
            <a:noFill/>
          </a:ln>
        </p:spPr>
      </p:sp>
      <p:sp>
        <p:nvSpPr>
          <p:cNvPr id="543" name="Google Shape;543;p4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547" name="Shape 547"/>
        <p:cNvGrpSpPr/>
        <p:nvPr/>
      </p:nvGrpSpPr>
      <p:grpSpPr>
        <a:xfrm>
          <a:off x="0" y="0"/>
          <a:ext cx="0" cy="0"/>
          <a:chOff x="0" y="0"/>
          <a:chExt cx="0" cy="0"/>
        </a:xfrm>
      </p:grpSpPr>
      <p:sp>
        <p:nvSpPr>
          <p:cNvPr id="548" name="Google Shape;548;p44"/>
          <p:cNvSpPr/>
          <p:nvPr>
            <p:ph idx="2" type="pic"/>
          </p:nvPr>
        </p:nvSpPr>
        <p:spPr>
          <a:xfrm>
            <a:off x="8596800" y="223475"/>
            <a:ext cx="318600" cy="318600"/>
          </a:xfrm>
          <a:prstGeom prst="ellipse">
            <a:avLst/>
          </a:prstGeom>
          <a:noFill/>
          <a:ln>
            <a:noFill/>
          </a:ln>
        </p:spPr>
      </p:sp>
      <p:sp>
        <p:nvSpPr>
          <p:cNvPr id="549" name="Google Shape;549;p44"/>
          <p:cNvSpPr txBox="1"/>
          <p:nvPr>
            <p:ph type="title"/>
          </p:nvPr>
        </p:nvSpPr>
        <p:spPr>
          <a:xfrm>
            <a:off x="3780304" y="889050"/>
            <a:ext cx="4446900" cy="1866000"/>
          </a:xfrm>
          <a:prstGeom prst="rect">
            <a:avLst/>
          </a:prstGeom>
        </p:spPr>
        <p:txBody>
          <a:bodyPr anchorCtr="0" anchor="t" bIns="91425" lIns="91425" spcFirstLastPara="1" rIns="91425" wrap="square" tIns="91425">
            <a:noAutofit/>
          </a:bodyPr>
          <a:lstStyle>
            <a:lvl1pPr lvl="0">
              <a:lnSpc>
                <a:spcPct val="86000"/>
              </a:lnSpc>
              <a:spcBef>
                <a:spcPts val="0"/>
              </a:spcBef>
              <a:spcAft>
                <a:spcPts val="0"/>
              </a:spcAft>
              <a:buSzPts val="7200"/>
              <a:buFont typeface="Nanum Myeongjo"/>
              <a:buNone/>
              <a:defRPr sz="7200"/>
            </a:lvl1pPr>
            <a:lvl2pPr lvl="1">
              <a:lnSpc>
                <a:spcPct val="86000"/>
              </a:lnSpc>
              <a:spcBef>
                <a:spcPts val="0"/>
              </a:spcBef>
              <a:spcAft>
                <a:spcPts val="0"/>
              </a:spcAft>
              <a:buSzPts val="1400"/>
              <a:buNone/>
              <a:defRPr/>
            </a:lvl2pPr>
            <a:lvl3pPr lvl="2">
              <a:lnSpc>
                <a:spcPct val="86000"/>
              </a:lnSpc>
              <a:spcBef>
                <a:spcPts val="0"/>
              </a:spcBef>
              <a:spcAft>
                <a:spcPts val="0"/>
              </a:spcAft>
              <a:buSzPts val="1400"/>
              <a:buNone/>
              <a:defRPr/>
            </a:lvl3pPr>
            <a:lvl4pPr lvl="3">
              <a:lnSpc>
                <a:spcPct val="86000"/>
              </a:lnSpc>
              <a:spcBef>
                <a:spcPts val="0"/>
              </a:spcBef>
              <a:spcAft>
                <a:spcPts val="0"/>
              </a:spcAft>
              <a:buSzPts val="1400"/>
              <a:buNone/>
              <a:defRPr/>
            </a:lvl4pPr>
            <a:lvl5pPr lvl="4">
              <a:lnSpc>
                <a:spcPct val="86000"/>
              </a:lnSpc>
              <a:spcBef>
                <a:spcPts val="0"/>
              </a:spcBef>
              <a:spcAft>
                <a:spcPts val="0"/>
              </a:spcAft>
              <a:buSzPts val="1400"/>
              <a:buNone/>
              <a:defRPr/>
            </a:lvl5pPr>
            <a:lvl6pPr lvl="5">
              <a:lnSpc>
                <a:spcPct val="86000"/>
              </a:lnSpc>
              <a:spcBef>
                <a:spcPts val="0"/>
              </a:spcBef>
              <a:spcAft>
                <a:spcPts val="0"/>
              </a:spcAft>
              <a:buSzPts val="1400"/>
              <a:buNone/>
              <a:defRPr/>
            </a:lvl6pPr>
            <a:lvl7pPr lvl="6">
              <a:lnSpc>
                <a:spcPct val="86000"/>
              </a:lnSpc>
              <a:spcBef>
                <a:spcPts val="0"/>
              </a:spcBef>
              <a:spcAft>
                <a:spcPts val="0"/>
              </a:spcAft>
              <a:buSzPts val="1400"/>
              <a:buNone/>
              <a:defRPr/>
            </a:lvl7pPr>
            <a:lvl8pPr lvl="7">
              <a:lnSpc>
                <a:spcPct val="86000"/>
              </a:lnSpc>
              <a:spcBef>
                <a:spcPts val="0"/>
              </a:spcBef>
              <a:spcAft>
                <a:spcPts val="0"/>
              </a:spcAft>
              <a:buSzPts val="1400"/>
              <a:buNone/>
              <a:defRPr/>
            </a:lvl8pPr>
            <a:lvl9pPr lvl="8">
              <a:lnSpc>
                <a:spcPct val="86000"/>
              </a:lnSpc>
              <a:spcBef>
                <a:spcPts val="0"/>
              </a:spcBef>
              <a:spcAft>
                <a:spcPts val="0"/>
              </a:spcAft>
              <a:buSzPts val="1400"/>
              <a:buNone/>
              <a:defRPr/>
            </a:lvl9pPr>
          </a:lstStyle>
          <a:p/>
        </p:txBody>
      </p:sp>
      <p:sp>
        <p:nvSpPr>
          <p:cNvPr id="550" name="Google Shape;550;p44"/>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1" name="Google Shape;551;p44"/>
          <p:cNvSpPr txBox="1"/>
          <p:nvPr>
            <p:ph idx="1" type="subTitle"/>
          </p:nvPr>
        </p:nvSpPr>
        <p:spPr>
          <a:xfrm>
            <a:off x="3829943" y="4016050"/>
            <a:ext cx="1309200" cy="903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b="0" sz="100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p:txBody>
      </p:sp>
      <p:sp>
        <p:nvSpPr>
          <p:cNvPr id="552" name="Google Shape;552;p44"/>
          <p:cNvSpPr txBox="1"/>
          <p:nvPr>
            <p:ph idx="4" type="subTitle"/>
          </p:nvPr>
        </p:nvSpPr>
        <p:spPr>
          <a:xfrm>
            <a:off x="5258968" y="4016050"/>
            <a:ext cx="1309200" cy="903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b="0" sz="100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p:txBody>
      </p:sp>
      <p:sp>
        <p:nvSpPr>
          <p:cNvPr id="553" name="Google Shape;553;p44"/>
          <p:cNvSpPr/>
          <p:nvPr>
            <p:ph idx="5" type="pic"/>
          </p:nvPr>
        </p:nvSpPr>
        <p:spPr>
          <a:xfrm>
            <a:off x="228600" y="223475"/>
            <a:ext cx="2857200" cy="2348100"/>
          </a:xfrm>
          <a:prstGeom prst="round2SameRect">
            <a:avLst>
              <a:gd fmla="val 4621" name="adj1"/>
              <a:gd fmla="val 0" name="adj2"/>
            </a:avLst>
          </a:prstGeom>
          <a:noFill/>
          <a:ln>
            <a:noFill/>
          </a:ln>
        </p:spPr>
      </p:sp>
      <p:sp>
        <p:nvSpPr>
          <p:cNvPr id="554" name="Google Shape;554;p44"/>
          <p:cNvSpPr/>
          <p:nvPr>
            <p:ph idx="6" type="pic"/>
          </p:nvPr>
        </p:nvSpPr>
        <p:spPr>
          <a:xfrm rot="10800000">
            <a:off x="228600" y="2564446"/>
            <a:ext cx="2857200" cy="2348100"/>
          </a:xfrm>
          <a:prstGeom prst="round2SameRect">
            <a:avLst>
              <a:gd fmla="val 5506" name="adj1"/>
              <a:gd fmla="val 0" name="adj2"/>
            </a:avLst>
          </a:prstGeom>
          <a:noFill/>
          <a:ln>
            <a:noFill/>
          </a:ln>
        </p:spPr>
      </p:sp>
    </p:spTree>
  </p:cSld>
  <p:clrMapOvr>
    <a:masterClrMapping/>
  </p:clrMapOvr>
  <p:extLst>
    <p:ext uri="{DCECCB84-F9BA-43D5-87BE-67443E8EF086}">
      <p15:sldGuideLst>
        <p15:guide id="1" orient="horz" pos="1620">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List of 4" type="secHead">
  <p:cSld name="SECTION_HEADER">
    <p:spTree>
      <p:nvGrpSpPr>
        <p:cNvPr id="555" name="Shape 555"/>
        <p:cNvGrpSpPr/>
        <p:nvPr/>
      </p:nvGrpSpPr>
      <p:grpSpPr>
        <a:xfrm>
          <a:off x="0" y="0"/>
          <a:ext cx="0" cy="0"/>
          <a:chOff x="0" y="0"/>
          <a:chExt cx="0" cy="0"/>
        </a:xfrm>
      </p:grpSpPr>
      <p:sp>
        <p:nvSpPr>
          <p:cNvPr id="556" name="Google Shape;556;p45"/>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800"/>
              <a:buFont typeface="Albert Sans"/>
              <a:buNone/>
              <a:defRPr sz="4800">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7" name="Google Shape;557;p45"/>
          <p:cNvSpPr txBox="1"/>
          <p:nvPr>
            <p:ph idx="2" type="title"/>
          </p:nvPr>
        </p:nvSpPr>
        <p:spPr>
          <a:xfrm>
            <a:off x="4469650" y="93645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58" name="Google Shape;558;p45"/>
          <p:cNvSpPr txBox="1"/>
          <p:nvPr>
            <p:ph idx="3" type="title"/>
          </p:nvPr>
        </p:nvSpPr>
        <p:spPr>
          <a:xfrm>
            <a:off x="4469650" y="175405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59" name="Google Shape;559;p45"/>
          <p:cNvSpPr txBox="1"/>
          <p:nvPr>
            <p:ph idx="4" type="title"/>
          </p:nvPr>
        </p:nvSpPr>
        <p:spPr>
          <a:xfrm>
            <a:off x="4469650" y="257470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60" name="Google Shape;560;p45"/>
          <p:cNvSpPr txBox="1"/>
          <p:nvPr>
            <p:ph idx="5" type="title"/>
          </p:nvPr>
        </p:nvSpPr>
        <p:spPr>
          <a:xfrm>
            <a:off x="4454025" y="3395350"/>
            <a:ext cx="44532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61" name="Google Shape;561;p45"/>
          <p:cNvSpPr/>
          <p:nvPr>
            <p:ph idx="6" type="pic"/>
          </p:nvPr>
        </p:nvSpPr>
        <p:spPr>
          <a:xfrm>
            <a:off x="8596800" y="223475"/>
            <a:ext cx="318600" cy="318600"/>
          </a:xfrm>
          <a:prstGeom prst="ellipse">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Purple">
  <p:cSld name="CUSTOM">
    <p:bg>
      <p:bgPr>
        <a:solidFill>
          <a:schemeClr val="lt2"/>
        </a:solidFill>
      </p:bgPr>
    </p:bg>
    <p:spTree>
      <p:nvGrpSpPr>
        <p:cNvPr id="562" name="Shape 562"/>
        <p:cNvGrpSpPr/>
        <p:nvPr/>
      </p:nvGrpSpPr>
      <p:grpSpPr>
        <a:xfrm>
          <a:off x="0" y="0"/>
          <a:ext cx="0" cy="0"/>
          <a:chOff x="0" y="0"/>
          <a:chExt cx="0" cy="0"/>
        </a:xfrm>
      </p:grpSpPr>
      <p:sp>
        <p:nvSpPr>
          <p:cNvPr id="563" name="Google Shape;563;p46"/>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564" name="Google Shape;564;p46"/>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5" name="Google Shape;565;p46"/>
          <p:cNvSpPr/>
          <p:nvPr>
            <p:ph idx="2" type="pic"/>
          </p:nvPr>
        </p:nvSpPr>
        <p:spPr>
          <a:xfrm>
            <a:off x="8596800" y="223475"/>
            <a:ext cx="318600" cy="318600"/>
          </a:xfrm>
          <a:prstGeom prst="ellipse">
            <a:avLst/>
          </a:prstGeom>
          <a:noFill/>
          <a:ln>
            <a:noFill/>
          </a:ln>
        </p:spPr>
      </p:sp>
      <p:sp>
        <p:nvSpPr>
          <p:cNvPr id="566" name="Google Shape;566;p46"/>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Green">
  <p:cSld name="CUSTOM_5">
    <p:bg>
      <p:bgPr>
        <a:solidFill>
          <a:schemeClr val="accent1"/>
        </a:solidFill>
      </p:bgPr>
    </p:bg>
    <p:spTree>
      <p:nvGrpSpPr>
        <p:cNvPr id="567" name="Shape 567"/>
        <p:cNvGrpSpPr/>
        <p:nvPr/>
      </p:nvGrpSpPr>
      <p:grpSpPr>
        <a:xfrm>
          <a:off x="0" y="0"/>
          <a:ext cx="0" cy="0"/>
          <a:chOff x="0" y="0"/>
          <a:chExt cx="0" cy="0"/>
        </a:xfrm>
      </p:grpSpPr>
      <p:sp>
        <p:nvSpPr>
          <p:cNvPr id="568" name="Google Shape;568;p47"/>
          <p:cNvSpPr/>
          <p:nvPr>
            <p:ph idx="2" type="pic"/>
          </p:nvPr>
        </p:nvSpPr>
        <p:spPr>
          <a:xfrm>
            <a:off x="8596800" y="223475"/>
            <a:ext cx="318600" cy="318600"/>
          </a:xfrm>
          <a:prstGeom prst="ellipse">
            <a:avLst/>
          </a:prstGeom>
          <a:noFill/>
          <a:ln>
            <a:noFill/>
          </a:ln>
        </p:spPr>
      </p:sp>
      <p:sp>
        <p:nvSpPr>
          <p:cNvPr id="569" name="Google Shape;569;p47"/>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570" name="Google Shape;570;p47"/>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1" name="Google Shape;571;p47"/>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Teal">
  <p:cSld name="CUSTOM_5_1">
    <p:bg>
      <p:bgPr>
        <a:solidFill>
          <a:schemeClr val="accent2"/>
        </a:solidFill>
      </p:bgPr>
    </p:bg>
    <p:spTree>
      <p:nvGrpSpPr>
        <p:cNvPr id="572" name="Shape 572"/>
        <p:cNvGrpSpPr/>
        <p:nvPr/>
      </p:nvGrpSpPr>
      <p:grpSpPr>
        <a:xfrm>
          <a:off x="0" y="0"/>
          <a:ext cx="0" cy="0"/>
          <a:chOff x="0" y="0"/>
          <a:chExt cx="0" cy="0"/>
        </a:xfrm>
      </p:grpSpPr>
      <p:sp>
        <p:nvSpPr>
          <p:cNvPr id="573" name="Google Shape;573;p48"/>
          <p:cNvSpPr/>
          <p:nvPr>
            <p:ph idx="2" type="pic"/>
          </p:nvPr>
        </p:nvSpPr>
        <p:spPr>
          <a:xfrm>
            <a:off x="8596800" y="223475"/>
            <a:ext cx="318600" cy="318600"/>
          </a:xfrm>
          <a:prstGeom prst="ellipse">
            <a:avLst/>
          </a:prstGeom>
          <a:noFill/>
          <a:ln>
            <a:noFill/>
          </a:ln>
        </p:spPr>
      </p:sp>
      <p:sp>
        <p:nvSpPr>
          <p:cNvPr id="574" name="Google Shape;574;p48"/>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575" name="Google Shape;575;p48"/>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6" name="Google Shape;576;p4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Blue">
  <p:cSld name="CUSTOM_5_1_1">
    <p:bg>
      <p:bgPr>
        <a:solidFill>
          <a:schemeClr val="accent4"/>
        </a:solidFill>
      </p:bgPr>
    </p:bg>
    <p:spTree>
      <p:nvGrpSpPr>
        <p:cNvPr id="577" name="Shape 577"/>
        <p:cNvGrpSpPr/>
        <p:nvPr/>
      </p:nvGrpSpPr>
      <p:grpSpPr>
        <a:xfrm>
          <a:off x="0" y="0"/>
          <a:ext cx="0" cy="0"/>
          <a:chOff x="0" y="0"/>
          <a:chExt cx="0" cy="0"/>
        </a:xfrm>
      </p:grpSpPr>
      <p:sp>
        <p:nvSpPr>
          <p:cNvPr id="578" name="Google Shape;578;p49"/>
          <p:cNvSpPr/>
          <p:nvPr>
            <p:ph idx="2" type="pic"/>
          </p:nvPr>
        </p:nvSpPr>
        <p:spPr>
          <a:xfrm>
            <a:off x="8596800" y="223475"/>
            <a:ext cx="318600" cy="318600"/>
          </a:xfrm>
          <a:prstGeom prst="ellipse">
            <a:avLst/>
          </a:prstGeom>
          <a:noFill/>
          <a:ln>
            <a:noFill/>
          </a:ln>
        </p:spPr>
      </p:sp>
      <p:sp>
        <p:nvSpPr>
          <p:cNvPr id="579" name="Google Shape;579;p49"/>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580" name="Google Shape;580;p49"/>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1" name="Google Shape;581;p49"/>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CUSTOM_1">
    <p:bg>
      <p:bgPr>
        <a:solidFill>
          <a:schemeClr val="lt1"/>
        </a:solidFill>
      </p:bgPr>
    </p:bg>
    <p:spTree>
      <p:nvGrpSpPr>
        <p:cNvPr id="582" name="Shape 582"/>
        <p:cNvGrpSpPr/>
        <p:nvPr/>
      </p:nvGrpSpPr>
      <p:grpSpPr>
        <a:xfrm>
          <a:off x="0" y="0"/>
          <a:ext cx="0" cy="0"/>
          <a:chOff x="0" y="0"/>
          <a:chExt cx="0" cy="0"/>
        </a:xfrm>
      </p:grpSpPr>
      <p:sp>
        <p:nvSpPr>
          <p:cNvPr id="583" name="Google Shape;583;p50"/>
          <p:cNvSpPr/>
          <p:nvPr>
            <p:ph idx="2" type="pic"/>
          </p:nvPr>
        </p:nvSpPr>
        <p:spPr>
          <a:xfrm>
            <a:off x="8596800" y="223475"/>
            <a:ext cx="318600" cy="318600"/>
          </a:xfrm>
          <a:prstGeom prst="ellipse">
            <a:avLst/>
          </a:prstGeom>
          <a:noFill/>
          <a:ln>
            <a:noFill/>
          </a:ln>
        </p:spPr>
      </p:sp>
      <p:sp>
        <p:nvSpPr>
          <p:cNvPr id="584" name="Google Shape;584;p50"/>
          <p:cNvSpPr txBox="1"/>
          <p:nvPr>
            <p:ph idx="1" type="subTitle"/>
          </p:nvPr>
        </p:nvSpPr>
        <p:spPr>
          <a:xfrm>
            <a:off x="4627750" y="1204950"/>
            <a:ext cx="2489700" cy="363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85" name="Google Shape;585;p50"/>
          <p:cNvSpPr txBox="1"/>
          <p:nvPr>
            <p:ph idx="3" type="body"/>
          </p:nvPr>
        </p:nvSpPr>
        <p:spPr>
          <a:xfrm>
            <a:off x="4627750" y="1592350"/>
            <a:ext cx="25392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586" name="Google Shape;586;p50"/>
          <p:cNvSpPr/>
          <p:nvPr>
            <p:ph idx="4" type="pic"/>
          </p:nvPr>
        </p:nvSpPr>
        <p:spPr>
          <a:xfrm rot="-5400000">
            <a:off x="1529325" y="1257825"/>
            <a:ext cx="3114600" cy="2619600"/>
          </a:xfrm>
          <a:prstGeom prst="round2SameRect">
            <a:avLst>
              <a:gd fmla="val 3848" name="adj1"/>
              <a:gd fmla="val 0" name="adj2"/>
            </a:avLst>
          </a:prstGeom>
          <a:noFill/>
          <a:ln>
            <a:noFill/>
          </a:ln>
        </p:spPr>
      </p:sp>
      <p:sp>
        <p:nvSpPr>
          <p:cNvPr id="587" name="Google Shape;587;p50"/>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extLst>
    <p:ext uri="{DCECCB84-F9BA-43D5-87BE-67443E8EF086}">
      <p15:sldGuideLst>
        <p15:guide id="1" orient="horz" pos="636">
          <p15:clr>
            <a:srgbClr val="E46962"/>
          </p15:clr>
        </p15:guide>
        <p15:guide id="2" orient="horz" pos="2604">
          <p15:clr>
            <a:srgbClr val="E46962"/>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Image">
  <p:cSld name="CUSTOM_2">
    <p:bg>
      <p:bgPr>
        <a:solidFill>
          <a:schemeClr val="lt2"/>
        </a:solidFill>
      </p:bgPr>
    </p:bg>
    <p:spTree>
      <p:nvGrpSpPr>
        <p:cNvPr id="588" name="Shape 588"/>
        <p:cNvGrpSpPr/>
        <p:nvPr/>
      </p:nvGrpSpPr>
      <p:grpSpPr>
        <a:xfrm>
          <a:off x="0" y="0"/>
          <a:ext cx="0" cy="0"/>
          <a:chOff x="0" y="0"/>
          <a:chExt cx="0" cy="0"/>
        </a:xfrm>
      </p:grpSpPr>
      <p:sp>
        <p:nvSpPr>
          <p:cNvPr id="589" name="Google Shape;589;p51"/>
          <p:cNvSpPr/>
          <p:nvPr>
            <p:ph idx="2" type="pic"/>
          </p:nvPr>
        </p:nvSpPr>
        <p:spPr>
          <a:xfrm>
            <a:off x="120000" y="114300"/>
            <a:ext cx="8904000" cy="4914900"/>
          </a:xfrm>
          <a:prstGeom prst="roundRect">
            <a:avLst>
              <a:gd fmla="val 2134" name="adj"/>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Content">
  <p:cSld name="CUSTOM_3">
    <p:bg>
      <p:bgPr>
        <a:solidFill>
          <a:schemeClr val="lt1"/>
        </a:solidFill>
      </p:bgPr>
    </p:bg>
    <p:spTree>
      <p:nvGrpSpPr>
        <p:cNvPr id="590" name="Shape 590"/>
        <p:cNvGrpSpPr/>
        <p:nvPr/>
      </p:nvGrpSpPr>
      <p:grpSpPr>
        <a:xfrm>
          <a:off x="0" y="0"/>
          <a:ext cx="0" cy="0"/>
          <a:chOff x="0" y="0"/>
          <a:chExt cx="0" cy="0"/>
        </a:xfrm>
      </p:grpSpPr>
      <p:sp>
        <p:nvSpPr>
          <p:cNvPr id="591" name="Google Shape;591;p52"/>
          <p:cNvSpPr txBox="1"/>
          <p:nvPr>
            <p:ph idx="1" type="body"/>
          </p:nvPr>
        </p:nvSpPr>
        <p:spPr>
          <a:xfrm>
            <a:off x="5235220" y="2573350"/>
            <a:ext cx="3798300" cy="1907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0"/>
              </a:spcBef>
              <a:spcAft>
                <a:spcPts val="0"/>
              </a:spcAft>
              <a:buClr>
                <a:schemeClr val="dk2"/>
              </a:buClr>
              <a:buSzPts val="1400"/>
              <a:buFont typeface="Albert Sans"/>
              <a:buChar char="○"/>
              <a:defRPr u="none">
                <a:solidFill>
                  <a:schemeClr val="dk2"/>
                </a:solidFill>
              </a:defRPr>
            </a:lvl2pPr>
            <a:lvl3pPr indent="-317500" lvl="2" marL="1371600">
              <a:lnSpc>
                <a:spcPct val="115000"/>
              </a:lnSpc>
              <a:spcBef>
                <a:spcPts val="0"/>
              </a:spcBef>
              <a:spcAft>
                <a:spcPts val="0"/>
              </a:spcAft>
              <a:buClr>
                <a:schemeClr val="dk2"/>
              </a:buClr>
              <a:buSzPts val="1400"/>
              <a:buFont typeface="Albert Sans"/>
              <a:buChar char="■"/>
              <a:defRPr u="none">
                <a:solidFill>
                  <a:schemeClr val="dk2"/>
                </a:solidFill>
              </a:defRPr>
            </a:lvl3pPr>
            <a:lvl4pPr indent="-317500" lvl="3" marL="1828800">
              <a:lnSpc>
                <a:spcPct val="115000"/>
              </a:lnSpc>
              <a:spcBef>
                <a:spcPts val="0"/>
              </a:spcBef>
              <a:spcAft>
                <a:spcPts val="0"/>
              </a:spcAft>
              <a:buClr>
                <a:schemeClr val="dk2"/>
              </a:buClr>
              <a:buSzPts val="1400"/>
              <a:buFont typeface="Albert Sans"/>
              <a:buChar char="●"/>
              <a:defRPr u="none">
                <a:solidFill>
                  <a:schemeClr val="dk2"/>
                </a:solidFill>
              </a:defRPr>
            </a:lvl4pPr>
            <a:lvl5pPr indent="-317500" lvl="4" marL="2286000">
              <a:lnSpc>
                <a:spcPct val="115000"/>
              </a:lnSpc>
              <a:spcBef>
                <a:spcPts val="0"/>
              </a:spcBef>
              <a:spcAft>
                <a:spcPts val="0"/>
              </a:spcAft>
              <a:buClr>
                <a:schemeClr val="dk2"/>
              </a:buClr>
              <a:buSzPts val="1400"/>
              <a:buFont typeface="Albert Sans"/>
              <a:buChar char="○"/>
              <a:defRPr u="none">
                <a:solidFill>
                  <a:schemeClr val="dk2"/>
                </a:solidFill>
              </a:defRPr>
            </a:lvl5pPr>
            <a:lvl6pPr indent="-317500" lvl="5" marL="2743200">
              <a:lnSpc>
                <a:spcPct val="115000"/>
              </a:lnSpc>
              <a:spcBef>
                <a:spcPts val="0"/>
              </a:spcBef>
              <a:spcAft>
                <a:spcPts val="0"/>
              </a:spcAft>
              <a:buClr>
                <a:schemeClr val="dk2"/>
              </a:buClr>
              <a:buSzPts val="1400"/>
              <a:buFont typeface="Albert Sans"/>
              <a:buChar char="■"/>
              <a:defRPr u="none">
                <a:solidFill>
                  <a:schemeClr val="dk2"/>
                </a:solidFill>
              </a:defRPr>
            </a:lvl6pPr>
            <a:lvl7pPr indent="-317500" lvl="6" marL="3200400">
              <a:lnSpc>
                <a:spcPct val="115000"/>
              </a:lnSpc>
              <a:spcBef>
                <a:spcPts val="0"/>
              </a:spcBef>
              <a:spcAft>
                <a:spcPts val="0"/>
              </a:spcAft>
              <a:buClr>
                <a:schemeClr val="dk2"/>
              </a:buClr>
              <a:buSzPts val="1400"/>
              <a:buFont typeface="Albert Sans"/>
              <a:buChar char="●"/>
              <a:defRPr u="none">
                <a:solidFill>
                  <a:schemeClr val="dk2"/>
                </a:solidFill>
              </a:defRPr>
            </a:lvl7pPr>
            <a:lvl8pPr indent="-317500" lvl="7" marL="3657600">
              <a:lnSpc>
                <a:spcPct val="115000"/>
              </a:lnSpc>
              <a:spcBef>
                <a:spcPts val="0"/>
              </a:spcBef>
              <a:spcAft>
                <a:spcPts val="0"/>
              </a:spcAft>
              <a:buClr>
                <a:schemeClr val="dk2"/>
              </a:buClr>
              <a:buSzPts val="1400"/>
              <a:buFont typeface="Albert Sans"/>
              <a:buChar char="○"/>
              <a:defRPr u="none">
                <a:solidFill>
                  <a:schemeClr val="dk2"/>
                </a:solidFill>
              </a:defRPr>
            </a:lvl8pPr>
            <a:lvl9pPr indent="-317500" lvl="8" marL="4114800">
              <a:lnSpc>
                <a:spcPct val="115000"/>
              </a:lnSpc>
              <a:spcBef>
                <a:spcPts val="0"/>
              </a:spcBef>
              <a:spcAft>
                <a:spcPts val="0"/>
              </a:spcAft>
              <a:buClr>
                <a:schemeClr val="dk2"/>
              </a:buClr>
              <a:buSzPts val="1400"/>
              <a:buFont typeface="Albert Sans"/>
              <a:buChar char="■"/>
              <a:defRPr u="none">
                <a:solidFill>
                  <a:schemeClr val="dk2"/>
                </a:solidFill>
              </a:defRPr>
            </a:lvl9pPr>
          </a:lstStyle>
          <a:p/>
        </p:txBody>
      </p:sp>
      <p:sp>
        <p:nvSpPr>
          <p:cNvPr id="592" name="Google Shape;592;p52"/>
          <p:cNvSpPr txBox="1"/>
          <p:nvPr>
            <p:ph idx="2" type="body"/>
          </p:nvPr>
        </p:nvSpPr>
        <p:spPr>
          <a:xfrm>
            <a:off x="5235220" y="750863"/>
            <a:ext cx="37299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593" name="Google Shape;593;p52"/>
          <p:cNvSpPr txBox="1"/>
          <p:nvPr>
            <p:ph type="title"/>
          </p:nvPr>
        </p:nvSpPr>
        <p:spPr>
          <a:xfrm>
            <a:off x="5257467"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4" name="Google Shape;594;p52"/>
          <p:cNvSpPr/>
          <p:nvPr>
            <p:ph idx="3" type="pic"/>
          </p:nvPr>
        </p:nvSpPr>
        <p:spPr>
          <a:xfrm>
            <a:off x="8596800" y="223475"/>
            <a:ext cx="318600" cy="318600"/>
          </a:xfrm>
          <a:prstGeom prst="ellipse">
            <a:avLst/>
          </a:prstGeom>
          <a:noFill/>
          <a:ln>
            <a:noFill/>
          </a:ln>
        </p:spPr>
      </p:sp>
      <p:sp>
        <p:nvSpPr>
          <p:cNvPr id="595" name="Google Shape;595;p52"/>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6" name="Google Shape;596;p52"/>
          <p:cNvSpPr/>
          <p:nvPr>
            <p:ph idx="5" type="pic"/>
          </p:nvPr>
        </p:nvSpPr>
        <p:spPr>
          <a:xfrm rot="10800000">
            <a:off x="228600" y="2561290"/>
            <a:ext cx="2262600" cy="2348400"/>
          </a:xfrm>
          <a:prstGeom prst="round1Rect">
            <a:avLst>
              <a:gd fmla="val 4873" name="adj"/>
            </a:avLst>
          </a:prstGeom>
          <a:noFill/>
          <a:ln>
            <a:noFill/>
          </a:ln>
        </p:spPr>
      </p:sp>
      <p:sp>
        <p:nvSpPr>
          <p:cNvPr id="597" name="Google Shape;597;p52"/>
          <p:cNvSpPr/>
          <p:nvPr>
            <p:ph idx="6" type="pic"/>
          </p:nvPr>
        </p:nvSpPr>
        <p:spPr>
          <a:xfrm>
            <a:off x="2486554" y="223525"/>
            <a:ext cx="2262600" cy="2348400"/>
          </a:xfrm>
          <a:prstGeom prst="round1Rect">
            <a:avLst>
              <a:gd fmla="val 4873" name="adj"/>
            </a:avLst>
          </a:prstGeom>
          <a:noFill/>
          <a:ln>
            <a:noFill/>
          </a:ln>
        </p:spPr>
      </p:sp>
      <p:sp>
        <p:nvSpPr>
          <p:cNvPr id="598" name="Google Shape;598;p52"/>
          <p:cNvSpPr/>
          <p:nvPr>
            <p:ph idx="7" type="pic"/>
          </p:nvPr>
        </p:nvSpPr>
        <p:spPr>
          <a:xfrm flipH="1" rot="10800000">
            <a:off x="2486554" y="2561290"/>
            <a:ext cx="2262600" cy="2348400"/>
          </a:xfrm>
          <a:prstGeom prst="round1Rect">
            <a:avLst>
              <a:gd fmla="val 4873" name="adj"/>
            </a:avLst>
          </a:prstGeom>
          <a:noFill/>
          <a:ln>
            <a:noFill/>
          </a:ln>
        </p:spPr>
      </p:sp>
      <p:sp>
        <p:nvSpPr>
          <p:cNvPr id="599" name="Google Shape;599;p52"/>
          <p:cNvSpPr/>
          <p:nvPr>
            <p:ph idx="8" type="pic"/>
          </p:nvPr>
        </p:nvSpPr>
        <p:spPr>
          <a:xfrm flipH="1">
            <a:off x="228600" y="224575"/>
            <a:ext cx="2262600" cy="2348400"/>
          </a:xfrm>
          <a:prstGeom prst="round1Rect">
            <a:avLst>
              <a:gd fmla="val 4873" name="adj"/>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p:cSld name="CUSTOM_3_1">
    <p:bg>
      <p:bgPr>
        <a:solidFill>
          <a:schemeClr val="lt2"/>
        </a:solidFill>
      </p:bgPr>
    </p:bg>
    <p:spTree>
      <p:nvGrpSpPr>
        <p:cNvPr id="600" name="Shape 600"/>
        <p:cNvGrpSpPr/>
        <p:nvPr/>
      </p:nvGrpSpPr>
      <p:grpSpPr>
        <a:xfrm>
          <a:off x="0" y="0"/>
          <a:ext cx="0" cy="0"/>
          <a:chOff x="0" y="0"/>
          <a:chExt cx="0" cy="0"/>
        </a:xfrm>
      </p:grpSpPr>
      <p:sp>
        <p:nvSpPr>
          <p:cNvPr id="601" name="Google Shape;601;p53"/>
          <p:cNvSpPr/>
          <p:nvPr>
            <p:ph idx="2" type="pic"/>
          </p:nvPr>
        </p:nvSpPr>
        <p:spPr>
          <a:xfrm>
            <a:off x="114275" y="114300"/>
            <a:ext cx="2919900" cy="2424300"/>
          </a:xfrm>
          <a:prstGeom prst="roundRect">
            <a:avLst>
              <a:gd fmla="val 2134" name="adj"/>
            </a:avLst>
          </a:prstGeom>
          <a:noFill/>
          <a:ln>
            <a:noFill/>
          </a:ln>
        </p:spPr>
      </p:sp>
      <p:sp>
        <p:nvSpPr>
          <p:cNvPr id="602" name="Google Shape;602;p53"/>
          <p:cNvSpPr/>
          <p:nvPr>
            <p:ph idx="3" type="pic"/>
          </p:nvPr>
        </p:nvSpPr>
        <p:spPr>
          <a:xfrm>
            <a:off x="3117080" y="114300"/>
            <a:ext cx="2919900" cy="2424300"/>
          </a:xfrm>
          <a:prstGeom prst="roundRect">
            <a:avLst>
              <a:gd fmla="val 2134" name="adj"/>
            </a:avLst>
          </a:prstGeom>
          <a:noFill/>
          <a:ln>
            <a:noFill/>
          </a:ln>
        </p:spPr>
      </p:sp>
      <p:sp>
        <p:nvSpPr>
          <p:cNvPr id="603" name="Google Shape;603;p53"/>
          <p:cNvSpPr/>
          <p:nvPr>
            <p:ph idx="4" type="pic"/>
          </p:nvPr>
        </p:nvSpPr>
        <p:spPr>
          <a:xfrm>
            <a:off x="114275" y="2604796"/>
            <a:ext cx="2919900" cy="2424300"/>
          </a:xfrm>
          <a:prstGeom prst="roundRect">
            <a:avLst>
              <a:gd fmla="val 2134" name="adj"/>
            </a:avLst>
          </a:prstGeom>
          <a:noFill/>
          <a:ln>
            <a:noFill/>
          </a:ln>
        </p:spPr>
      </p:sp>
      <p:sp>
        <p:nvSpPr>
          <p:cNvPr id="604" name="Google Shape;604;p53"/>
          <p:cNvSpPr/>
          <p:nvPr>
            <p:ph idx="5" type="pic"/>
          </p:nvPr>
        </p:nvSpPr>
        <p:spPr>
          <a:xfrm>
            <a:off x="3117080" y="2604796"/>
            <a:ext cx="2919900" cy="2424300"/>
          </a:xfrm>
          <a:prstGeom prst="roundRect">
            <a:avLst>
              <a:gd fmla="val 2134" name="adj"/>
            </a:avLst>
          </a:prstGeom>
          <a:noFill/>
          <a:ln>
            <a:noFill/>
          </a:ln>
        </p:spPr>
      </p:sp>
      <p:sp>
        <p:nvSpPr>
          <p:cNvPr id="605" name="Google Shape;605;p53"/>
          <p:cNvSpPr/>
          <p:nvPr>
            <p:ph idx="6" type="pic"/>
          </p:nvPr>
        </p:nvSpPr>
        <p:spPr>
          <a:xfrm>
            <a:off x="6109898" y="114300"/>
            <a:ext cx="2919900" cy="2424300"/>
          </a:xfrm>
          <a:prstGeom prst="roundRect">
            <a:avLst>
              <a:gd fmla="val 2134" name="adj"/>
            </a:avLst>
          </a:prstGeom>
          <a:noFill/>
          <a:ln>
            <a:noFill/>
          </a:ln>
        </p:spPr>
      </p:sp>
      <p:sp>
        <p:nvSpPr>
          <p:cNvPr id="606" name="Google Shape;606;p53"/>
          <p:cNvSpPr/>
          <p:nvPr>
            <p:ph idx="7" type="pic"/>
          </p:nvPr>
        </p:nvSpPr>
        <p:spPr>
          <a:xfrm>
            <a:off x="6109898" y="2604796"/>
            <a:ext cx="2919900" cy="2424300"/>
          </a:xfrm>
          <a:prstGeom prst="roundRect">
            <a:avLst>
              <a:gd fmla="val 2134" name="adj"/>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p:cSld name="CUSTOM_4">
    <p:bg>
      <p:bgPr>
        <a:solidFill>
          <a:schemeClr val="lt1"/>
        </a:solidFill>
      </p:bgPr>
    </p:bg>
    <p:spTree>
      <p:nvGrpSpPr>
        <p:cNvPr id="607" name="Shape 607"/>
        <p:cNvGrpSpPr/>
        <p:nvPr/>
      </p:nvGrpSpPr>
      <p:grpSpPr>
        <a:xfrm>
          <a:off x="0" y="0"/>
          <a:ext cx="0" cy="0"/>
          <a:chOff x="0" y="0"/>
          <a:chExt cx="0" cy="0"/>
        </a:xfrm>
      </p:grpSpPr>
      <p:sp>
        <p:nvSpPr>
          <p:cNvPr id="608" name="Google Shape;608;p54"/>
          <p:cNvSpPr txBox="1"/>
          <p:nvPr>
            <p:ph idx="1" type="body"/>
          </p:nvPr>
        </p:nvSpPr>
        <p:spPr>
          <a:xfrm>
            <a:off x="970234" y="770775"/>
            <a:ext cx="3729900" cy="1613700"/>
          </a:xfrm>
          <a:prstGeom prst="rect">
            <a:avLst/>
          </a:prstGeom>
          <a:noFill/>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609" name="Google Shape;609;p54"/>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0" name="Google Shape;610;p54"/>
          <p:cNvSpPr txBox="1"/>
          <p:nvPr>
            <p:ph idx="2" type="body"/>
          </p:nvPr>
        </p:nvSpPr>
        <p:spPr>
          <a:xfrm>
            <a:off x="5235225" y="824225"/>
            <a:ext cx="3321600" cy="3470400"/>
          </a:xfrm>
          <a:prstGeom prst="rect">
            <a:avLst/>
          </a:prstGeom>
          <a:noFill/>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1000"/>
              </a:spcBef>
              <a:spcAft>
                <a:spcPts val="0"/>
              </a:spcAft>
              <a:buClr>
                <a:schemeClr val="dk2"/>
              </a:buClr>
              <a:buSzPts val="1400"/>
              <a:buChar char="○"/>
              <a:defRPr u="none">
                <a:solidFill>
                  <a:schemeClr val="dk2"/>
                </a:solidFill>
              </a:defRPr>
            </a:lvl2pPr>
            <a:lvl3pPr indent="-317500" lvl="2" marL="1371600">
              <a:lnSpc>
                <a:spcPct val="115000"/>
              </a:lnSpc>
              <a:spcBef>
                <a:spcPts val="1000"/>
              </a:spcBef>
              <a:spcAft>
                <a:spcPts val="0"/>
              </a:spcAft>
              <a:buClr>
                <a:schemeClr val="dk2"/>
              </a:buClr>
              <a:buSzPts val="1400"/>
              <a:buChar char="■"/>
              <a:defRPr u="none">
                <a:solidFill>
                  <a:schemeClr val="dk2"/>
                </a:solidFill>
              </a:defRPr>
            </a:lvl3pPr>
            <a:lvl4pPr indent="-317500" lvl="3" marL="1828800">
              <a:lnSpc>
                <a:spcPct val="115000"/>
              </a:lnSpc>
              <a:spcBef>
                <a:spcPts val="1000"/>
              </a:spcBef>
              <a:spcAft>
                <a:spcPts val="0"/>
              </a:spcAft>
              <a:buClr>
                <a:schemeClr val="dk2"/>
              </a:buClr>
              <a:buSzPts val="1400"/>
              <a:buChar char="●"/>
              <a:defRPr u="none">
                <a:solidFill>
                  <a:schemeClr val="dk2"/>
                </a:solidFill>
              </a:defRPr>
            </a:lvl4pPr>
            <a:lvl5pPr indent="-317500" lvl="4" marL="2286000">
              <a:lnSpc>
                <a:spcPct val="115000"/>
              </a:lnSpc>
              <a:spcBef>
                <a:spcPts val="1000"/>
              </a:spcBef>
              <a:spcAft>
                <a:spcPts val="0"/>
              </a:spcAft>
              <a:buClr>
                <a:schemeClr val="dk2"/>
              </a:buClr>
              <a:buSzPts val="1400"/>
              <a:buChar char="○"/>
              <a:defRPr u="none">
                <a:solidFill>
                  <a:schemeClr val="dk2"/>
                </a:solidFill>
              </a:defRPr>
            </a:lvl5pPr>
            <a:lvl6pPr indent="-317500" lvl="5" marL="2743200">
              <a:lnSpc>
                <a:spcPct val="115000"/>
              </a:lnSpc>
              <a:spcBef>
                <a:spcPts val="1000"/>
              </a:spcBef>
              <a:spcAft>
                <a:spcPts val="0"/>
              </a:spcAft>
              <a:buClr>
                <a:schemeClr val="dk2"/>
              </a:buClr>
              <a:buSzPts val="1400"/>
              <a:buChar char="■"/>
              <a:defRPr u="none">
                <a:solidFill>
                  <a:schemeClr val="dk2"/>
                </a:solidFill>
              </a:defRPr>
            </a:lvl6pPr>
            <a:lvl7pPr indent="-317500" lvl="6" marL="3200400">
              <a:lnSpc>
                <a:spcPct val="115000"/>
              </a:lnSpc>
              <a:spcBef>
                <a:spcPts val="1000"/>
              </a:spcBef>
              <a:spcAft>
                <a:spcPts val="0"/>
              </a:spcAft>
              <a:buClr>
                <a:schemeClr val="dk2"/>
              </a:buClr>
              <a:buSzPts val="1400"/>
              <a:buChar char="●"/>
              <a:defRPr u="none">
                <a:solidFill>
                  <a:schemeClr val="dk2"/>
                </a:solidFill>
              </a:defRPr>
            </a:lvl7pPr>
            <a:lvl8pPr indent="-317500" lvl="7" marL="3657600">
              <a:lnSpc>
                <a:spcPct val="115000"/>
              </a:lnSpc>
              <a:spcBef>
                <a:spcPts val="1000"/>
              </a:spcBef>
              <a:spcAft>
                <a:spcPts val="0"/>
              </a:spcAft>
              <a:buClr>
                <a:schemeClr val="dk2"/>
              </a:buClr>
              <a:buSzPts val="1400"/>
              <a:buChar char="○"/>
              <a:defRPr u="none">
                <a:solidFill>
                  <a:schemeClr val="dk2"/>
                </a:solidFill>
              </a:defRPr>
            </a:lvl8pPr>
            <a:lvl9pPr indent="-317500" lvl="8" marL="4114800">
              <a:lnSpc>
                <a:spcPct val="115000"/>
              </a:lnSpc>
              <a:spcBef>
                <a:spcPts val="1000"/>
              </a:spcBef>
              <a:spcAft>
                <a:spcPts val="1000"/>
              </a:spcAft>
              <a:buClr>
                <a:schemeClr val="dk2"/>
              </a:buClr>
              <a:buSzPts val="1400"/>
              <a:buChar char="■"/>
              <a:defRPr u="none">
                <a:solidFill>
                  <a:schemeClr val="dk2"/>
                </a:solidFill>
              </a:defRPr>
            </a:lvl9pPr>
          </a:lstStyle>
          <a:p/>
        </p:txBody>
      </p:sp>
      <p:sp>
        <p:nvSpPr>
          <p:cNvPr id="611" name="Google Shape;611;p54"/>
          <p:cNvSpPr/>
          <p:nvPr>
            <p:ph idx="3" type="pic"/>
          </p:nvPr>
        </p:nvSpPr>
        <p:spPr>
          <a:xfrm>
            <a:off x="8596800" y="223475"/>
            <a:ext cx="318600" cy="318600"/>
          </a:xfrm>
          <a:prstGeom prst="ellipse">
            <a:avLst/>
          </a:prstGeom>
          <a:noFill/>
          <a:ln>
            <a:noFill/>
          </a:ln>
        </p:spPr>
      </p:sp>
      <p:sp>
        <p:nvSpPr>
          <p:cNvPr id="612" name="Google Shape;612;p54"/>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p:cSld name="CUSTOM_4_1">
    <p:bg>
      <p:bgPr>
        <a:solidFill>
          <a:schemeClr val="lt1"/>
        </a:solidFill>
      </p:bgPr>
    </p:bg>
    <p:spTree>
      <p:nvGrpSpPr>
        <p:cNvPr id="613" name="Shape 613"/>
        <p:cNvGrpSpPr/>
        <p:nvPr/>
      </p:nvGrpSpPr>
      <p:grpSpPr>
        <a:xfrm>
          <a:off x="0" y="0"/>
          <a:ext cx="0" cy="0"/>
          <a:chOff x="0" y="0"/>
          <a:chExt cx="0" cy="0"/>
        </a:xfrm>
      </p:grpSpPr>
      <p:sp>
        <p:nvSpPr>
          <p:cNvPr id="614" name="Google Shape;614;p55"/>
          <p:cNvSpPr txBox="1"/>
          <p:nvPr>
            <p:ph idx="1" type="body"/>
          </p:nvPr>
        </p:nvSpPr>
        <p:spPr>
          <a:xfrm>
            <a:off x="949503" y="770775"/>
            <a:ext cx="71715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615" name="Google Shape;615;p55"/>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6" name="Google Shape;616;p55"/>
          <p:cNvSpPr txBox="1"/>
          <p:nvPr>
            <p:ph idx="2" type="body"/>
          </p:nvPr>
        </p:nvSpPr>
        <p:spPr>
          <a:xfrm>
            <a:off x="961716" y="2599900"/>
            <a:ext cx="7145100" cy="18021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1000"/>
              </a:spcBef>
              <a:spcAft>
                <a:spcPts val="0"/>
              </a:spcAft>
              <a:buClr>
                <a:schemeClr val="dk2"/>
              </a:buClr>
              <a:buSzPts val="1400"/>
              <a:buChar char="○"/>
              <a:defRPr u="none">
                <a:solidFill>
                  <a:schemeClr val="dk2"/>
                </a:solidFill>
              </a:defRPr>
            </a:lvl2pPr>
            <a:lvl3pPr indent="-317500" lvl="2" marL="1371600">
              <a:lnSpc>
                <a:spcPct val="115000"/>
              </a:lnSpc>
              <a:spcBef>
                <a:spcPts val="1000"/>
              </a:spcBef>
              <a:spcAft>
                <a:spcPts val="0"/>
              </a:spcAft>
              <a:buClr>
                <a:schemeClr val="dk2"/>
              </a:buClr>
              <a:buSzPts val="1400"/>
              <a:buChar char="■"/>
              <a:defRPr u="none">
                <a:solidFill>
                  <a:schemeClr val="dk2"/>
                </a:solidFill>
              </a:defRPr>
            </a:lvl3pPr>
            <a:lvl4pPr indent="-317500" lvl="3" marL="1828800">
              <a:lnSpc>
                <a:spcPct val="115000"/>
              </a:lnSpc>
              <a:spcBef>
                <a:spcPts val="1000"/>
              </a:spcBef>
              <a:spcAft>
                <a:spcPts val="0"/>
              </a:spcAft>
              <a:buClr>
                <a:schemeClr val="dk2"/>
              </a:buClr>
              <a:buSzPts val="1400"/>
              <a:buChar char="●"/>
              <a:defRPr u="none">
                <a:solidFill>
                  <a:schemeClr val="dk2"/>
                </a:solidFill>
              </a:defRPr>
            </a:lvl4pPr>
            <a:lvl5pPr indent="-317500" lvl="4" marL="2286000">
              <a:lnSpc>
                <a:spcPct val="115000"/>
              </a:lnSpc>
              <a:spcBef>
                <a:spcPts val="1000"/>
              </a:spcBef>
              <a:spcAft>
                <a:spcPts val="0"/>
              </a:spcAft>
              <a:buClr>
                <a:schemeClr val="dk2"/>
              </a:buClr>
              <a:buSzPts val="1400"/>
              <a:buChar char="○"/>
              <a:defRPr u="none">
                <a:solidFill>
                  <a:schemeClr val="dk2"/>
                </a:solidFill>
              </a:defRPr>
            </a:lvl5pPr>
            <a:lvl6pPr indent="-317500" lvl="5" marL="2743200">
              <a:lnSpc>
                <a:spcPct val="115000"/>
              </a:lnSpc>
              <a:spcBef>
                <a:spcPts val="1000"/>
              </a:spcBef>
              <a:spcAft>
                <a:spcPts val="0"/>
              </a:spcAft>
              <a:buClr>
                <a:schemeClr val="dk2"/>
              </a:buClr>
              <a:buSzPts val="1400"/>
              <a:buChar char="■"/>
              <a:defRPr u="none">
                <a:solidFill>
                  <a:schemeClr val="dk2"/>
                </a:solidFill>
              </a:defRPr>
            </a:lvl6pPr>
            <a:lvl7pPr indent="-317500" lvl="6" marL="3200400">
              <a:lnSpc>
                <a:spcPct val="115000"/>
              </a:lnSpc>
              <a:spcBef>
                <a:spcPts val="1000"/>
              </a:spcBef>
              <a:spcAft>
                <a:spcPts val="0"/>
              </a:spcAft>
              <a:buClr>
                <a:schemeClr val="dk2"/>
              </a:buClr>
              <a:buSzPts val="1400"/>
              <a:buChar char="●"/>
              <a:defRPr u="none">
                <a:solidFill>
                  <a:schemeClr val="dk2"/>
                </a:solidFill>
              </a:defRPr>
            </a:lvl7pPr>
            <a:lvl8pPr indent="-317500" lvl="7" marL="3657600">
              <a:lnSpc>
                <a:spcPct val="115000"/>
              </a:lnSpc>
              <a:spcBef>
                <a:spcPts val="1000"/>
              </a:spcBef>
              <a:spcAft>
                <a:spcPts val="0"/>
              </a:spcAft>
              <a:buClr>
                <a:schemeClr val="dk2"/>
              </a:buClr>
              <a:buSzPts val="1400"/>
              <a:buChar char="○"/>
              <a:defRPr u="none">
                <a:solidFill>
                  <a:schemeClr val="dk2"/>
                </a:solidFill>
              </a:defRPr>
            </a:lvl8pPr>
            <a:lvl9pPr indent="-317500" lvl="8" marL="4114800">
              <a:lnSpc>
                <a:spcPct val="115000"/>
              </a:lnSpc>
              <a:spcBef>
                <a:spcPts val="1000"/>
              </a:spcBef>
              <a:spcAft>
                <a:spcPts val="1000"/>
              </a:spcAft>
              <a:buClr>
                <a:schemeClr val="dk2"/>
              </a:buClr>
              <a:buSzPts val="1400"/>
              <a:buChar char="■"/>
              <a:defRPr u="none">
                <a:solidFill>
                  <a:schemeClr val="dk2"/>
                </a:solidFill>
              </a:defRPr>
            </a:lvl9pPr>
          </a:lstStyle>
          <a:p/>
        </p:txBody>
      </p:sp>
      <p:sp>
        <p:nvSpPr>
          <p:cNvPr id="617" name="Google Shape;617;p55"/>
          <p:cNvSpPr/>
          <p:nvPr>
            <p:ph idx="3" type="pic"/>
          </p:nvPr>
        </p:nvSpPr>
        <p:spPr>
          <a:xfrm>
            <a:off x="8596800" y="223475"/>
            <a:ext cx="318600" cy="318600"/>
          </a:xfrm>
          <a:prstGeom prst="ellipse">
            <a:avLst/>
          </a:prstGeom>
          <a:noFill/>
          <a:ln>
            <a:noFill/>
          </a:ln>
        </p:spPr>
      </p:sp>
      <p:sp>
        <p:nvSpPr>
          <p:cNvPr id="618" name="Google Shape;618;p55"/>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Problem">
  <p:cSld name="CUSTOM_6">
    <p:spTree>
      <p:nvGrpSpPr>
        <p:cNvPr id="619" name="Shape 619"/>
        <p:cNvGrpSpPr/>
        <p:nvPr/>
      </p:nvGrpSpPr>
      <p:grpSpPr>
        <a:xfrm>
          <a:off x="0" y="0"/>
          <a:ext cx="0" cy="0"/>
          <a:chOff x="0" y="0"/>
          <a:chExt cx="0" cy="0"/>
        </a:xfrm>
      </p:grpSpPr>
      <p:sp>
        <p:nvSpPr>
          <p:cNvPr id="620" name="Google Shape;620;p56"/>
          <p:cNvSpPr/>
          <p:nvPr>
            <p:ph idx="2" type="pic"/>
          </p:nvPr>
        </p:nvSpPr>
        <p:spPr>
          <a:xfrm>
            <a:off x="8596800" y="223475"/>
            <a:ext cx="318600" cy="318600"/>
          </a:xfrm>
          <a:prstGeom prst="ellipse">
            <a:avLst/>
          </a:prstGeom>
          <a:noFill/>
          <a:ln>
            <a:noFill/>
          </a:ln>
        </p:spPr>
      </p:sp>
      <p:sp>
        <p:nvSpPr>
          <p:cNvPr id="621" name="Google Shape;621;p56"/>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22" name="Google Shape;622;p56"/>
          <p:cNvSpPr txBox="1"/>
          <p:nvPr>
            <p:ph idx="1" type="subTitle"/>
          </p:nvPr>
        </p:nvSpPr>
        <p:spPr>
          <a:xfrm>
            <a:off x="958450" y="2692875"/>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Nanum Myeongjo"/>
              <a:buNone/>
              <a:defRPr b="0"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623" name="Google Shape;623;p56"/>
          <p:cNvSpPr txBox="1"/>
          <p:nvPr>
            <p:ph idx="3" type="title"/>
          </p:nvPr>
        </p:nvSpPr>
        <p:spPr>
          <a:xfrm>
            <a:off x="956150" y="5557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624" name="Google Shape;624;p56"/>
          <p:cNvSpPr txBox="1"/>
          <p:nvPr>
            <p:ph idx="4" type="title"/>
          </p:nvPr>
        </p:nvSpPr>
        <p:spPr>
          <a:xfrm>
            <a:off x="941263" y="866159"/>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amp; Benefits">
  <p:cSld name="CUSTOM_7">
    <p:spTree>
      <p:nvGrpSpPr>
        <p:cNvPr id="625" name="Shape 625"/>
        <p:cNvGrpSpPr/>
        <p:nvPr/>
      </p:nvGrpSpPr>
      <p:grpSpPr>
        <a:xfrm>
          <a:off x="0" y="0"/>
          <a:ext cx="0" cy="0"/>
          <a:chOff x="0" y="0"/>
          <a:chExt cx="0" cy="0"/>
        </a:xfrm>
      </p:grpSpPr>
      <p:sp>
        <p:nvSpPr>
          <p:cNvPr id="626" name="Google Shape;626;p57"/>
          <p:cNvSpPr txBox="1"/>
          <p:nvPr>
            <p:ph idx="1" type="subTitle"/>
          </p:nvPr>
        </p:nvSpPr>
        <p:spPr>
          <a:xfrm>
            <a:off x="-394525" y="762900"/>
            <a:ext cx="29583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627" name="Google Shape;627;p57"/>
          <p:cNvSpPr txBox="1"/>
          <p:nvPr>
            <p:ph idx="2" type="subTitle"/>
          </p:nvPr>
        </p:nvSpPr>
        <p:spPr>
          <a:xfrm>
            <a:off x="7780000" y="762900"/>
            <a:ext cx="19617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628" name="Google Shape;628;p57"/>
          <p:cNvSpPr txBox="1"/>
          <p:nvPr>
            <p:ph idx="3" type="subTitle"/>
          </p:nvPr>
        </p:nvSpPr>
        <p:spPr>
          <a:xfrm>
            <a:off x="-867225" y="1991550"/>
            <a:ext cx="20115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629" name="Google Shape;629;p57"/>
          <p:cNvSpPr txBox="1"/>
          <p:nvPr>
            <p:ph idx="4" type="subTitle"/>
          </p:nvPr>
        </p:nvSpPr>
        <p:spPr>
          <a:xfrm>
            <a:off x="1384800" y="1991550"/>
            <a:ext cx="19617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630" name="Google Shape;630;p57"/>
          <p:cNvSpPr txBox="1"/>
          <p:nvPr>
            <p:ph idx="5" type="subTitle"/>
          </p:nvPr>
        </p:nvSpPr>
        <p:spPr>
          <a:xfrm>
            <a:off x="3556975" y="1991550"/>
            <a:ext cx="44034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b="0" sz="6000"/>
            </a:lvl1pPr>
            <a:lvl2pPr lvl="1">
              <a:spcBef>
                <a:spcPts val="0"/>
              </a:spcBef>
              <a:spcAft>
                <a:spcPts val="0"/>
              </a:spcAft>
              <a:buClr>
                <a:schemeClr val="lt1"/>
              </a:buClr>
              <a:buSzPts val="6000"/>
              <a:buFont typeface="Albert Sans"/>
              <a:buNone/>
              <a:defRPr sz="6000"/>
            </a:lvl2pPr>
            <a:lvl3pPr lvl="2">
              <a:spcBef>
                <a:spcPts val="0"/>
              </a:spcBef>
              <a:spcAft>
                <a:spcPts val="0"/>
              </a:spcAft>
              <a:buClr>
                <a:schemeClr val="lt1"/>
              </a:buClr>
              <a:buSzPts val="6000"/>
              <a:buFont typeface="Albert Sans"/>
              <a:buNone/>
              <a:defRPr sz="6000"/>
            </a:lvl3pPr>
            <a:lvl4pPr lvl="3">
              <a:spcBef>
                <a:spcPts val="0"/>
              </a:spcBef>
              <a:spcAft>
                <a:spcPts val="0"/>
              </a:spcAft>
              <a:buClr>
                <a:schemeClr val="lt1"/>
              </a:buClr>
              <a:buSzPts val="6000"/>
              <a:buFont typeface="Albert Sans"/>
              <a:buNone/>
              <a:defRPr sz="6000"/>
            </a:lvl4pPr>
            <a:lvl5pPr lvl="4">
              <a:spcBef>
                <a:spcPts val="0"/>
              </a:spcBef>
              <a:spcAft>
                <a:spcPts val="0"/>
              </a:spcAft>
              <a:buClr>
                <a:schemeClr val="lt1"/>
              </a:buClr>
              <a:buSzPts val="6000"/>
              <a:buFont typeface="Albert Sans"/>
              <a:buNone/>
              <a:defRPr sz="6000"/>
            </a:lvl5pPr>
            <a:lvl6pPr lvl="5">
              <a:spcBef>
                <a:spcPts val="0"/>
              </a:spcBef>
              <a:spcAft>
                <a:spcPts val="0"/>
              </a:spcAft>
              <a:buClr>
                <a:schemeClr val="lt1"/>
              </a:buClr>
              <a:buSzPts val="6000"/>
              <a:buFont typeface="Albert Sans"/>
              <a:buNone/>
              <a:defRPr sz="6000"/>
            </a:lvl6pPr>
            <a:lvl7pPr lvl="6">
              <a:spcBef>
                <a:spcPts val="0"/>
              </a:spcBef>
              <a:spcAft>
                <a:spcPts val="0"/>
              </a:spcAft>
              <a:buClr>
                <a:schemeClr val="lt1"/>
              </a:buClr>
              <a:buSzPts val="6000"/>
              <a:buFont typeface="Albert Sans"/>
              <a:buNone/>
              <a:defRPr sz="6000"/>
            </a:lvl7pPr>
            <a:lvl8pPr lvl="7">
              <a:spcBef>
                <a:spcPts val="0"/>
              </a:spcBef>
              <a:spcAft>
                <a:spcPts val="0"/>
              </a:spcAft>
              <a:buClr>
                <a:schemeClr val="lt1"/>
              </a:buClr>
              <a:buSzPts val="6000"/>
              <a:buFont typeface="Albert Sans"/>
              <a:buNone/>
              <a:defRPr sz="6000"/>
            </a:lvl8pPr>
            <a:lvl9pPr lvl="8">
              <a:spcBef>
                <a:spcPts val="0"/>
              </a:spcBef>
              <a:spcAft>
                <a:spcPts val="0"/>
              </a:spcAft>
              <a:buClr>
                <a:schemeClr val="lt1"/>
              </a:buClr>
              <a:buSzPts val="6000"/>
              <a:buFont typeface="Albert Sans"/>
              <a:buNone/>
              <a:defRPr sz="6000"/>
            </a:lvl9pPr>
          </a:lstStyle>
          <a:p/>
        </p:txBody>
      </p:sp>
      <p:sp>
        <p:nvSpPr>
          <p:cNvPr id="631" name="Google Shape;631;p57"/>
          <p:cNvSpPr txBox="1"/>
          <p:nvPr>
            <p:ph idx="6" type="subTitle"/>
          </p:nvPr>
        </p:nvSpPr>
        <p:spPr>
          <a:xfrm>
            <a:off x="8207225" y="1991550"/>
            <a:ext cx="22164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632" name="Google Shape;632;p57"/>
          <p:cNvSpPr txBox="1"/>
          <p:nvPr>
            <p:ph idx="7" type="subTitle"/>
          </p:nvPr>
        </p:nvSpPr>
        <p:spPr>
          <a:xfrm>
            <a:off x="307950" y="3220200"/>
            <a:ext cx="38076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633" name="Google Shape;633;p57"/>
          <p:cNvSpPr txBox="1"/>
          <p:nvPr>
            <p:ph idx="8" type="subTitle"/>
          </p:nvPr>
        </p:nvSpPr>
        <p:spPr>
          <a:xfrm>
            <a:off x="4367925" y="3220200"/>
            <a:ext cx="21210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634" name="Google Shape;634;p57"/>
          <p:cNvSpPr txBox="1"/>
          <p:nvPr>
            <p:ph idx="9" type="subTitle"/>
          </p:nvPr>
        </p:nvSpPr>
        <p:spPr>
          <a:xfrm>
            <a:off x="6718750" y="3220200"/>
            <a:ext cx="23832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635" name="Google Shape;635;p57"/>
          <p:cNvSpPr txBox="1"/>
          <p:nvPr>
            <p:ph idx="13" type="subTitle"/>
          </p:nvPr>
        </p:nvSpPr>
        <p:spPr>
          <a:xfrm>
            <a:off x="2793625" y="762900"/>
            <a:ext cx="21435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636" name="Google Shape;636;p57"/>
          <p:cNvSpPr txBox="1"/>
          <p:nvPr>
            <p:ph idx="14" type="subTitle"/>
          </p:nvPr>
        </p:nvSpPr>
        <p:spPr>
          <a:xfrm>
            <a:off x="5151963" y="762900"/>
            <a:ext cx="24132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637" name="Google Shape;637;p57"/>
          <p:cNvSpPr/>
          <p:nvPr>
            <p:ph idx="15" type="pic"/>
          </p:nvPr>
        </p:nvSpPr>
        <p:spPr>
          <a:xfrm>
            <a:off x="8596800" y="223475"/>
            <a:ext cx="318600" cy="318600"/>
          </a:xfrm>
          <a:prstGeom prst="ellipse">
            <a:avLst/>
          </a:prstGeom>
          <a:noFill/>
          <a:ln>
            <a:noFill/>
          </a:ln>
        </p:spPr>
      </p:sp>
      <p:sp>
        <p:nvSpPr>
          <p:cNvPr id="638" name="Google Shape;638;p57"/>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Graph">
  <p:cSld name="CUSTOM_8">
    <p:spTree>
      <p:nvGrpSpPr>
        <p:cNvPr id="639" name="Shape 639"/>
        <p:cNvGrpSpPr/>
        <p:nvPr/>
      </p:nvGrpSpPr>
      <p:grpSpPr>
        <a:xfrm>
          <a:off x="0" y="0"/>
          <a:ext cx="0" cy="0"/>
          <a:chOff x="0" y="0"/>
          <a:chExt cx="0" cy="0"/>
        </a:xfrm>
      </p:grpSpPr>
      <p:sp>
        <p:nvSpPr>
          <p:cNvPr id="640" name="Google Shape;640;p58"/>
          <p:cNvSpPr txBox="1"/>
          <p:nvPr>
            <p:ph type="title"/>
          </p:nvPr>
        </p:nvSpPr>
        <p:spPr>
          <a:xfrm>
            <a:off x="956150" y="3271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641" name="Google Shape;641;p58"/>
          <p:cNvSpPr/>
          <p:nvPr>
            <p:ph idx="2" type="pic"/>
          </p:nvPr>
        </p:nvSpPr>
        <p:spPr>
          <a:xfrm>
            <a:off x="8596800" y="223475"/>
            <a:ext cx="318600" cy="318600"/>
          </a:xfrm>
          <a:prstGeom prst="ellipse">
            <a:avLst/>
          </a:prstGeom>
          <a:noFill/>
          <a:ln>
            <a:noFill/>
          </a:ln>
        </p:spPr>
      </p:sp>
      <p:sp>
        <p:nvSpPr>
          <p:cNvPr id="642" name="Google Shape;642;p58"/>
          <p:cNvSpPr txBox="1"/>
          <p:nvPr>
            <p:ph idx="1" type="subTitle"/>
          </p:nvPr>
        </p:nvSpPr>
        <p:spPr>
          <a:xfrm>
            <a:off x="3831000" y="327150"/>
            <a:ext cx="4500300" cy="120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3" name="Google Shape;643;p5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Graph">
  <p:cSld name="CUSTOM_8_1">
    <p:spTree>
      <p:nvGrpSpPr>
        <p:cNvPr id="644" name="Shape 644"/>
        <p:cNvGrpSpPr/>
        <p:nvPr/>
      </p:nvGrpSpPr>
      <p:grpSpPr>
        <a:xfrm>
          <a:off x="0" y="0"/>
          <a:ext cx="0" cy="0"/>
          <a:chOff x="0" y="0"/>
          <a:chExt cx="0" cy="0"/>
        </a:xfrm>
      </p:grpSpPr>
      <p:sp>
        <p:nvSpPr>
          <p:cNvPr id="645" name="Google Shape;645;p59"/>
          <p:cNvSpPr txBox="1"/>
          <p:nvPr>
            <p:ph idx="1" type="subTitle"/>
          </p:nvPr>
        </p:nvSpPr>
        <p:spPr>
          <a:xfrm>
            <a:off x="955475" y="1615450"/>
            <a:ext cx="3291600" cy="2850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6" name="Google Shape;646;p59"/>
          <p:cNvSpPr txBox="1"/>
          <p:nvPr>
            <p:ph type="title"/>
          </p:nvPr>
        </p:nvSpPr>
        <p:spPr>
          <a:xfrm>
            <a:off x="956150"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647" name="Google Shape;647;p59"/>
          <p:cNvSpPr/>
          <p:nvPr>
            <p:ph idx="2" type="pic"/>
          </p:nvPr>
        </p:nvSpPr>
        <p:spPr>
          <a:xfrm>
            <a:off x="8596800" y="223475"/>
            <a:ext cx="318600" cy="318600"/>
          </a:xfrm>
          <a:prstGeom prst="ellipse">
            <a:avLst/>
          </a:prstGeom>
          <a:noFill/>
          <a:ln>
            <a:noFill/>
          </a:ln>
        </p:spPr>
      </p:sp>
      <p:sp>
        <p:nvSpPr>
          <p:cNvPr id="648" name="Google Shape;648;p59"/>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Solution">
  <p:cSld name="CUSTOM_9">
    <p:bg>
      <p:bgPr>
        <a:solidFill>
          <a:schemeClr val="accent1"/>
        </a:solidFill>
      </p:bgPr>
    </p:bg>
    <p:spTree>
      <p:nvGrpSpPr>
        <p:cNvPr id="649" name="Shape 649"/>
        <p:cNvGrpSpPr/>
        <p:nvPr/>
      </p:nvGrpSpPr>
      <p:grpSpPr>
        <a:xfrm>
          <a:off x="0" y="0"/>
          <a:ext cx="0" cy="0"/>
          <a:chOff x="0" y="0"/>
          <a:chExt cx="0" cy="0"/>
        </a:xfrm>
      </p:grpSpPr>
      <p:sp>
        <p:nvSpPr>
          <p:cNvPr id="650" name="Google Shape;650;p60"/>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0"/>
          <p:cNvSpPr txBox="1"/>
          <p:nvPr>
            <p:ph idx="1" type="subTitle"/>
          </p:nvPr>
        </p:nvSpPr>
        <p:spPr>
          <a:xfrm>
            <a:off x="958450" y="2692875"/>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2pPr>
            <a:lvl3pPr lvl="2">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3pPr>
            <a:lvl4pPr lvl="3">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4pPr>
            <a:lvl5pPr lvl="4">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5pPr>
            <a:lvl6pPr lvl="5">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6pPr>
            <a:lvl7pPr lvl="6">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7pPr>
            <a:lvl8pPr lvl="7">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8pPr>
            <a:lvl9pPr lvl="8">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9pPr>
          </a:lstStyle>
          <a:p/>
        </p:txBody>
      </p:sp>
      <p:sp>
        <p:nvSpPr>
          <p:cNvPr id="652" name="Google Shape;652;p60"/>
          <p:cNvSpPr txBox="1"/>
          <p:nvPr>
            <p:ph type="title"/>
          </p:nvPr>
        </p:nvSpPr>
        <p:spPr>
          <a:xfrm>
            <a:off x="956150" y="5557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53" name="Google Shape;653;p60"/>
          <p:cNvSpPr txBox="1"/>
          <p:nvPr>
            <p:ph idx="2" type="title"/>
          </p:nvPr>
        </p:nvSpPr>
        <p:spPr>
          <a:xfrm>
            <a:off x="941263" y="866159"/>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54" name="Google Shape;654;p60"/>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5" name="Google Shape;655;p60"/>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y It Works">
  <p:cSld name="CUSTOM_9_1">
    <p:bg>
      <p:bgPr>
        <a:solidFill>
          <a:schemeClr val="accent1"/>
        </a:solidFill>
      </p:bgPr>
    </p:bg>
    <p:spTree>
      <p:nvGrpSpPr>
        <p:cNvPr id="656" name="Shape 656"/>
        <p:cNvGrpSpPr/>
        <p:nvPr/>
      </p:nvGrpSpPr>
      <p:grpSpPr>
        <a:xfrm>
          <a:off x="0" y="0"/>
          <a:ext cx="0" cy="0"/>
          <a:chOff x="0" y="0"/>
          <a:chExt cx="0" cy="0"/>
        </a:xfrm>
      </p:grpSpPr>
      <p:sp>
        <p:nvSpPr>
          <p:cNvPr id="657" name="Google Shape;657;p61"/>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1"/>
          <p:cNvSpPr/>
          <p:nvPr>
            <p:ph idx="2" type="pic"/>
          </p:nvPr>
        </p:nvSpPr>
        <p:spPr>
          <a:xfrm rot="-5400000">
            <a:off x="-113050" y="322725"/>
            <a:ext cx="4911300" cy="4450500"/>
          </a:xfrm>
          <a:prstGeom prst="round2SameRect">
            <a:avLst>
              <a:gd fmla="val 2860" name="adj1"/>
              <a:gd fmla="val 0" name="adj2"/>
            </a:avLst>
          </a:prstGeom>
          <a:noFill/>
          <a:ln>
            <a:noFill/>
          </a:ln>
        </p:spPr>
      </p:sp>
      <p:sp>
        <p:nvSpPr>
          <p:cNvPr id="659" name="Google Shape;659;p61"/>
          <p:cNvSpPr txBox="1"/>
          <p:nvPr>
            <p:ph idx="1" type="body"/>
          </p:nvPr>
        </p:nvSpPr>
        <p:spPr>
          <a:xfrm>
            <a:off x="5364025" y="704025"/>
            <a:ext cx="3437700" cy="3537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Font typeface="Albert Sans"/>
              <a:buChar char="●"/>
              <a:defRPr>
                <a:solidFill>
                  <a:schemeClr val="dk2"/>
                </a:solidFill>
              </a:defRPr>
            </a:lvl1pPr>
            <a:lvl2pPr indent="-317500" lvl="1" marL="914400">
              <a:spcBef>
                <a:spcPts val="0"/>
              </a:spcBef>
              <a:spcAft>
                <a:spcPts val="0"/>
              </a:spcAft>
              <a:buClr>
                <a:schemeClr val="dk2"/>
              </a:buClr>
              <a:buSzPts val="1400"/>
              <a:buFont typeface="Albert Sans"/>
              <a:buChar char="○"/>
              <a:defRPr>
                <a:solidFill>
                  <a:schemeClr val="dk2"/>
                </a:solidFill>
              </a:defRPr>
            </a:lvl2pPr>
            <a:lvl3pPr indent="-317500" lvl="2" marL="1371600">
              <a:spcBef>
                <a:spcPts val="0"/>
              </a:spcBef>
              <a:spcAft>
                <a:spcPts val="0"/>
              </a:spcAft>
              <a:buClr>
                <a:schemeClr val="dk2"/>
              </a:buClr>
              <a:buSzPts val="1400"/>
              <a:buFont typeface="Albert Sans"/>
              <a:buChar char="■"/>
              <a:defRPr>
                <a:solidFill>
                  <a:schemeClr val="dk2"/>
                </a:solidFill>
              </a:defRPr>
            </a:lvl3pPr>
            <a:lvl4pPr indent="-317500" lvl="3" marL="1828800">
              <a:spcBef>
                <a:spcPts val="0"/>
              </a:spcBef>
              <a:spcAft>
                <a:spcPts val="0"/>
              </a:spcAft>
              <a:buClr>
                <a:schemeClr val="dk2"/>
              </a:buClr>
              <a:buSzPts val="1400"/>
              <a:buFont typeface="Albert Sans"/>
              <a:buChar char="●"/>
              <a:defRPr>
                <a:solidFill>
                  <a:schemeClr val="dk2"/>
                </a:solidFill>
              </a:defRPr>
            </a:lvl4pPr>
            <a:lvl5pPr indent="-317500" lvl="4" marL="2286000">
              <a:spcBef>
                <a:spcPts val="0"/>
              </a:spcBef>
              <a:spcAft>
                <a:spcPts val="0"/>
              </a:spcAft>
              <a:buClr>
                <a:schemeClr val="dk2"/>
              </a:buClr>
              <a:buSzPts val="1400"/>
              <a:buFont typeface="Albert Sans"/>
              <a:buChar char="○"/>
              <a:defRPr>
                <a:solidFill>
                  <a:schemeClr val="dk2"/>
                </a:solidFill>
              </a:defRPr>
            </a:lvl5pPr>
            <a:lvl6pPr indent="-317500" lvl="5" marL="2743200">
              <a:spcBef>
                <a:spcPts val="0"/>
              </a:spcBef>
              <a:spcAft>
                <a:spcPts val="0"/>
              </a:spcAft>
              <a:buClr>
                <a:schemeClr val="dk2"/>
              </a:buClr>
              <a:buSzPts val="1400"/>
              <a:buFont typeface="Albert Sans"/>
              <a:buChar char="■"/>
              <a:defRPr>
                <a:solidFill>
                  <a:schemeClr val="dk2"/>
                </a:solidFill>
              </a:defRPr>
            </a:lvl6pPr>
            <a:lvl7pPr indent="-317500" lvl="6" marL="3200400">
              <a:spcBef>
                <a:spcPts val="0"/>
              </a:spcBef>
              <a:spcAft>
                <a:spcPts val="0"/>
              </a:spcAft>
              <a:buClr>
                <a:schemeClr val="dk2"/>
              </a:buClr>
              <a:buSzPts val="1400"/>
              <a:buFont typeface="Albert Sans"/>
              <a:buChar char="●"/>
              <a:defRPr>
                <a:solidFill>
                  <a:schemeClr val="dk2"/>
                </a:solidFill>
              </a:defRPr>
            </a:lvl7pPr>
            <a:lvl8pPr indent="-317500" lvl="7" marL="3657600">
              <a:spcBef>
                <a:spcPts val="0"/>
              </a:spcBef>
              <a:spcAft>
                <a:spcPts val="0"/>
              </a:spcAft>
              <a:buClr>
                <a:schemeClr val="dk2"/>
              </a:buClr>
              <a:buSzPts val="1400"/>
              <a:buFont typeface="Albert Sans"/>
              <a:buChar char="○"/>
              <a:defRPr>
                <a:solidFill>
                  <a:schemeClr val="dk2"/>
                </a:solidFill>
              </a:defRPr>
            </a:lvl8pPr>
            <a:lvl9pPr indent="-317500" lvl="8" marL="4114800">
              <a:spcBef>
                <a:spcPts val="0"/>
              </a:spcBef>
              <a:spcAft>
                <a:spcPts val="0"/>
              </a:spcAft>
              <a:buClr>
                <a:schemeClr val="dk2"/>
              </a:buClr>
              <a:buSzPts val="1400"/>
              <a:buFont typeface="Albert Sans"/>
              <a:buChar char="■"/>
              <a:defRPr>
                <a:solidFill>
                  <a:schemeClr val="dk2"/>
                </a:solidFill>
              </a:defRPr>
            </a:lvl9pPr>
          </a:lstStyle>
          <a:p/>
        </p:txBody>
      </p:sp>
      <p:sp>
        <p:nvSpPr>
          <p:cNvPr id="660" name="Google Shape;660;p61"/>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1" name="Google Shape;661;p61"/>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Audience Venn Diagram">
  <p:cSld name="CUSTOM_10">
    <p:spTree>
      <p:nvGrpSpPr>
        <p:cNvPr id="662" name="Shape 662"/>
        <p:cNvGrpSpPr/>
        <p:nvPr/>
      </p:nvGrpSpPr>
      <p:grpSpPr>
        <a:xfrm>
          <a:off x="0" y="0"/>
          <a:ext cx="0" cy="0"/>
          <a:chOff x="0" y="0"/>
          <a:chExt cx="0" cy="0"/>
        </a:xfrm>
      </p:grpSpPr>
      <p:sp>
        <p:nvSpPr>
          <p:cNvPr id="663" name="Google Shape;663;p62"/>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4" name="Google Shape;664;p62"/>
          <p:cNvSpPr txBox="1"/>
          <p:nvPr>
            <p:ph idx="2" type="title"/>
          </p:nvPr>
        </p:nvSpPr>
        <p:spPr>
          <a:xfrm>
            <a:off x="956150" y="39420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Albert Sans"/>
              <a:buNone/>
              <a:defRPr sz="1400">
                <a:latin typeface="Albert Sans"/>
                <a:ea typeface="Albert Sans"/>
                <a:cs typeface="Albert Sans"/>
                <a:sym typeface="Albert Sans"/>
              </a:defRPr>
            </a:lvl1pPr>
            <a:lvl2pPr lvl="1">
              <a:spcBef>
                <a:spcPts val="0"/>
              </a:spcBef>
              <a:spcAft>
                <a:spcPts val="0"/>
              </a:spcAft>
              <a:buClr>
                <a:schemeClr val="lt1"/>
              </a:buClr>
              <a:buSzPts val="1400"/>
              <a:buFont typeface="Albert Sans"/>
              <a:buNone/>
              <a:defRPr>
                <a:latin typeface="Albert Sans"/>
                <a:ea typeface="Albert Sans"/>
                <a:cs typeface="Albert Sans"/>
                <a:sym typeface="Albert Sans"/>
              </a:defRPr>
            </a:lvl2pPr>
            <a:lvl3pPr lvl="2">
              <a:spcBef>
                <a:spcPts val="0"/>
              </a:spcBef>
              <a:spcAft>
                <a:spcPts val="0"/>
              </a:spcAft>
              <a:buClr>
                <a:schemeClr val="lt1"/>
              </a:buClr>
              <a:buSzPts val="1400"/>
              <a:buFont typeface="Albert Sans"/>
              <a:buNone/>
              <a:defRPr>
                <a:latin typeface="Albert Sans"/>
                <a:ea typeface="Albert Sans"/>
                <a:cs typeface="Albert Sans"/>
                <a:sym typeface="Albert Sans"/>
              </a:defRPr>
            </a:lvl3pPr>
            <a:lvl4pPr lvl="3">
              <a:spcBef>
                <a:spcPts val="0"/>
              </a:spcBef>
              <a:spcAft>
                <a:spcPts val="0"/>
              </a:spcAft>
              <a:buClr>
                <a:schemeClr val="lt1"/>
              </a:buClr>
              <a:buSzPts val="1400"/>
              <a:buFont typeface="Albert Sans"/>
              <a:buNone/>
              <a:defRPr>
                <a:latin typeface="Albert Sans"/>
                <a:ea typeface="Albert Sans"/>
                <a:cs typeface="Albert Sans"/>
                <a:sym typeface="Albert Sans"/>
              </a:defRPr>
            </a:lvl4pPr>
            <a:lvl5pPr lvl="4">
              <a:spcBef>
                <a:spcPts val="0"/>
              </a:spcBef>
              <a:spcAft>
                <a:spcPts val="0"/>
              </a:spcAft>
              <a:buClr>
                <a:schemeClr val="lt1"/>
              </a:buClr>
              <a:buSzPts val="1400"/>
              <a:buFont typeface="Albert Sans"/>
              <a:buNone/>
              <a:defRPr>
                <a:latin typeface="Albert Sans"/>
                <a:ea typeface="Albert Sans"/>
                <a:cs typeface="Albert Sans"/>
                <a:sym typeface="Albert Sans"/>
              </a:defRPr>
            </a:lvl5pPr>
            <a:lvl6pPr lvl="5">
              <a:spcBef>
                <a:spcPts val="0"/>
              </a:spcBef>
              <a:spcAft>
                <a:spcPts val="0"/>
              </a:spcAft>
              <a:buClr>
                <a:schemeClr val="lt1"/>
              </a:buClr>
              <a:buSzPts val="1400"/>
              <a:buFont typeface="Albert Sans"/>
              <a:buNone/>
              <a:defRPr>
                <a:latin typeface="Albert Sans"/>
                <a:ea typeface="Albert Sans"/>
                <a:cs typeface="Albert Sans"/>
                <a:sym typeface="Albert Sans"/>
              </a:defRPr>
            </a:lvl6pPr>
            <a:lvl7pPr lvl="6">
              <a:spcBef>
                <a:spcPts val="0"/>
              </a:spcBef>
              <a:spcAft>
                <a:spcPts val="0"/>
              </a:spcAft>
              <a:buClr>
                <a:schemeClr val="lt1"/>
              </a:buClr>
              <a:buSzPts val="1400"/>
              <a:buFont typeface="Albert Sans"/>
              <a:buNone/>
              <a:defRPr>
                <a:latin typeface="Albert Sans"/>
                <a:ea typeface="Albert Sans"/>
                <a:cs typeface="Albert Sans"/>
                <a:sym typeface="Albert Sans"/>
              </a:defRPr>
            </a:lvl7pPr>
            <a:lvl8pPr lvl="7">
              <a:spcBef>
                <a:spcPts val="0"/>
              </a:spcBef>
              <a:spcAft>
                <a:spcPts val="0"/>
              </a:spcAft>
              <a:buClr>
                <a:schemeClr val="lt1"/>
              </a:buClr>
              <a:buSzPts val="1400"/>
              <a:buFont typeface="Albert Sans"/>
              <a:buNone/>
              <a:defRPr>
                <a:latin typeface="Albert Sans"/>
                <a:ea typeface="Albert Sans"/>
                <a:cs typeface="Albert Sans"/>
                <a:sym typeface="Albert Sans"/>
              </a:defRPr>
            </a:lvl8pPr>
            <a:lvl9pPr lvl="8">
              <a:spcBef>
                <a:spcPts val="0"/>
              </a:spcBef>
              <a:spcAft>
                <a:spcPts val="0"/>
              </a:spcAft>
              <a:buClr>
                <a:schemeClr val="lt1"/>
              </a:buClr>
              <a:buSzPts val="1400"/>
              <a:buFont typeface="Albert Sans"/>
              <a:buNone/>
              <a:defRPr>
                <a:latin typeface="Albert Sans"/>
                <a:ea typeface="Albert Sans"/>
                <a:cs typeface="Albert Sans"/>
                <a:sym typeface="Albert Sans"/>
              </a:defRPr>
            </a:lvl9pPr>
          </a:lstStyle>
          <a:p/>
        </p:txBody>
      </p:sp>
      <p:sp>
        <p:nvSpPr>
          <p:cNvPr id="665" name="Google Shape;665;p62"/>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f 3 Concepts">
  <p:cSld name="CUSTOM_11">
    <p:bg>
      <p:bgPr>
        <a:solidFill>
          <a:schemeClr val="accent2"/>
        </a:solidFill>
      </p:bgPr>
    </p:bg>
    <p:spTree>
      <p:nvGrpSpPr>
        <p:cNvPr id="666" name="Shape 666"/>
        <p:cNvGrpSpPr/>
        <p:nvPr/>
      </p:nvGrpSpPr>
      <p:grpSpPr>
        <a:xfrm>
          <a:off x="0" y="0"/>
          <a:ext cx="0" cy="0"/>
          <a:chOff x="0" y="0"/>
          <a:chExt cx="0" cy="0"/>
        </a:xfrm>
      </p:grpSpPr>
      <p:sp>
        <p:nvSpPr>
          <p:cNvPr id="667" name="Google Shape;667;p63"/>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63"/>
          <p:cNvSpPr txBox="1"/>
          <p:nvPr>
            <p:ph type="title"/>
          </p:nvPr>
        </p:nvSpPr>
        <p:spPr>
          <a:xfrm>
            <a:off x="941780" y="715125"/>
            <a:ext cx="7860000" cy="830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2pPr>
            <a:lvl3pPr lvl="2">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3pPr>
            <a:lvl4pPr lvl="3">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4pPr>
            <a:lvl5pPr lvl="4">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5pPr>
            <a:lvl6pPr lvl="5">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6pPr>
            <a:lvl7pPr lvl="6">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7pPr>
            <a:lvl8pPr lvl="7">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8pPr>
            <a:lvl9pPr lvl="8">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9pPr>
          </a:lstStyle>
          <a:p/>
        </p:txBody>
      </p:sp>
      <p:sp>
        <p:nvSpPr>
          <p:cNvPr id="669" name="Google Shape;669;p63"/>
          <p:cNvSpPr txBox="1"/>
          <p:nvPr>
            <p:ph idx="1" type="body"/>
          </p:nvPr>
        </p:nvSpPr>
        <p:spPr>
          <a:xfrm>
            <a:off x="1188971"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70" name="Google Shape;670;p63"/>
          <p:cNvSpPr txBox="1"/>
          <p:nvPr>
            <p:ph idx="2" type="body"/>
          </p:nvPr>
        </p:nvSpPr>
        <p:spPr>
          <a:xfrm>
            <a:off x="3628515"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71" name="Google Shape;671;p63"/>
          <p:cNvSpPr txBox="1"/>
          <p:nvPr>
            <p:ph idx="3" type="subTitle"/>
          </p:nvPr>
        </p:nvSpPr>
        <p:spPr>
          <a:xfrm>
            <a:off x="1078092"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72" name="Google Shape;672;p63"/>
          <p:cNvSpPr txBox="1"/>
          <p:nvPr>
            <p:ph idx="4" type="subTitle"/>
          </p:nvPr>
        </p:nvSpPr>
        <p:spPr>
          <a:xfrm>
            <a:off x="3524146"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73" name="Google Shape;673;p63"/>
          <p:cNvSpPr txBox="1"/>
          <p:nvPr>
            <p:ph idx="5" type="subTitle"/>
          </p:nvPr>
        </p:nvSpPr>
        <p:spPr>
          <a:xfrm>
            <a:off x="5970200"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74" name="Google Shape;674;p63"/>
          <p:cNvSpPr txBox="1"/>
          <p:nvPr>
            <p:ph idx="6" type="body"/>
          </p:nvPr>
        </p:nvSpPr>
        <p:spPr>
          <a:xfrm>
            <a:off x="6068972"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75" name="Google Shape;675;p63"/>
          <p:cNvSpPr/>
          <p:nvPr>
            <p:ph idx="7" type="pic"/>
          </p:nvPr>
        </p:nvSpPr>
        <p:spPr>
          <a:xfrm>
            <a:off x="8596800" y="223475"/>
            <a:ext cx="318600" cy="318600"/>
          </a:xfrm>
          <a:prstGeom prst="ellipse">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f 6 Concepts">
  <p:cSld name="CUSTOM_11_1">
    <p:bg>
      <p:bgPr>
        <a:solidFill>
          <a:schemeClr val="accent2"/>
        </a:solidFill>
      </p:bgPr>
    </p:bg>
    <p:spTree>
      <p:nvGrpSpPr>
        <p:cNvPr id="676" name="Shape 676"/>
        <p:cNvGrpSpPr/>
        <p:nvPr/>
      </p:nvGrpSpPr>
      <p:grpSpPr>
        <a:xfrm>
          <a:off x="0" y="0"/>
          <a:ext cx="0" cy="0"/>
          <a:chOff x="0" y="0"/>
          <a:chExt cx="0" cy="0"/>
        </a:xfrm>
      </p:grpSpPr>
      <p:sp>
        <p:nvSpPr>
          <p:cNvPr id="677" name="Google Shape;677;p64"/>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4"/>
          <p:cNvSpPr txBox="1"/>
          <p:nvPr>
            <p:ph idx="1" type="subTitle"/>
          </p:nvPr>
        </p:nvSpPr>
        <p:spPr>
          <a:xfrm>
            <a:off x="1062065"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79" name="Google Shape;679;p64"/>
          <p:cNvSpPr txBox="1"/>
          <p:nvPr>
            <p:ph idx="2" type="subTitle"/>
          </p:nvPr>
        </p:nvSpPr>
        <p:spPr>
          <a:xfrm>
            <a:off x="3507690"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80" name="Google Shape;680;p64"/>
          <p:cNvSpPr txBox="1"/>
          <p:nvPr>
            <p:ph idx="3" type="subTitle"/>
          </p:nvPr>
        </p:nvSpPr>
        <p:spPr>
          <a:xfrm>
            <a:off x="5956640"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81" name="Google Shape;681;p64"/>
          <p:cNvSpPr txBox="1"/>
          <p:nvPr>
            <p:ph idx="4" type="body"/>
          </p:nvPr>
        </p:nvSpPr>
        <p:spPr>
          <a:xfrm>
            <a:off x="1172475"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82" name="Google Shape;682;p64"/>
          <p:cNvSpPr txBox="1"/>
          <p:nvPr>
            <p:ph idx="5" type="body"/>
          </p:nvPr>
        </p:nvSpPr>
        <p:spPr>
          <a:xfrm>
            <a:off x="3618100"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83" name="Google Shape;683;p64"/>
          <p:cNvSpPr txBox="1"/>
          <p:nvPr>
            <p:ph idx="6" type="body"/>
          </p:nvPr>
        </p:nvSpPr>
        <p:spPr>
          <a:xfrm>
            <a:off x="6067050"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84" name="Google Shape;684;p64"/>
          <p:cNvSpPr txBox="1"/>
          <p:nvPr>
            <p:ph idx="7" type="subTitle"/>
          </p:nvPr>
        </p:nvSpPr>
        <p:spPr>
          <a:xfrm>
            <a:off x="5956640"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85" name="Google Shape;685;p64"/>
          <p:cNvSpPr txBox="1"/>
          <p:nvPr>
            <p:ph idx="8" type="body"/>
          </p:nvPr>
        </p:nvSpPr>
        <p:spPr>
          <a:xfrm>
            <a:off x="3618088"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86" name="Google Shape;686;p64"/>
          <p:cNvSpPr txBox="1"/>
          <p:nvPr>
            <p:ph idx="9" type="subTitle"/>
          </p:nvPr>
        </p:nvSpPr>
        <p:spPr>
          <a:xfrm>
            <a:off x="3508752"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87" name="Google Shape;687;p64"/>
          <p:cNvSpPr txBox="1"/>
          <p:nvPr>
            <p:ph idx="13" type="body"/>
          </p:nvPr>
        </p:nvSpPr>
        <p:spPr>
          <a:xfrm>
            <a:off x="1171275"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88" name="Google Shape;688;p64"/>
          <p:cNvSpPr txBox="1"/>
          <p:nvPr>
            <p:ph idx="14" type="subTitle"/>
          </p:nvPr>
        </p:nvSpPr>
        <p:spPr>
          <a:xfrm>
            <a:off x="1060865"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89" name="Google Shape;689;p64"/>
          <p:cNvSpPr txBox="1"/>
          <p:nvPr>
            <p:ph idx="15" type="body"/>
          </p:nvPr>
        </p:nvSpPr>
        <p:spPr>
          <a:xfrm>
            <a:off x="6067050"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690" name="Google Shape;690;p64"/>
          <p:cNvSpPr txBox="1"/>
          <p:nvPr>
            <p:ph type="title"/>
          </p:nvPr>
        </p:nvSpPr>
        <p:spPr>
          <a:xfrm>
            <a:off x="956150" y="3271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91" name="Google Shape;691;p64"/>
          <p:cNvSpPr/>
          <p:nvPr>
            <p:ph idx="16" type="pic"/>
          </p:nvPr>
        </p:nvSpPr>
        <p:spPr>
          <a:xfrm>
            <a:off x="8596800" y="223475"/>
            <a:ext cx="318600" cy="318600"/>
          </a:xfrm>
          <a:prstGeom prst="ellipse">
            <a:avLst/>
          </a:prstGeom>
          <a:no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Graph">
  <p:cSld name="CUSTOM_12">
    <p:spTree>
      <p:nvGrpSpPr>
        <p:cNvPr id="692" name="Shape 692"/>
        <p:cNvGrpSpPr/>
        <p:nvPr/>
      </p:nvGrpSpPr>
      <p:grpSpPr>
        <a:xfrm>
          <a:off x="0" y="0"/>
          <a:ext cx="0" cy="0"/>
          <a:chOff x="0" y="0"/>
          <a:chExt cx="0" cy="0"/>
        </a:xfrm>
      </p:grpSpPr>
      <p:sp>
        <p:nvSpPr>
          <p:cNvPr id="693" name="Google Shape;693;p65"/>
          <p:cNvSpPr txBox="1"/>
          <p:nvPr>
            <p:ph idx="1" type="subTitle"/>
          </p:nvPr>
        </p:nvSpPr>
        <p:spPr>
          <a:xfrm>
            <a:off x="960850" y="3191652"/>
            <a:ext cx="40827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694" name="Google Shape;694;p65"/>
          <p:cNvSpPr txBox="1"/>
          <p:nvPr>
            <p:ph type="title"/>
          </p:nvPr>
        </p:nvSpPr>
        <p:spPr>
          <a:xfrm>
            <a:off x="932850" y="730375"/>
            <a:ext cx="4082700" cy="2103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2pPr>
            <a:lvl3pPr lvl="2">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3pPr>
            <a:lvl4pPr lvl="3">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4pPr>
            <a:lvl5pPr lvl="4">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5pPr>
            <a:lvl6pPr lvl="5">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6pPr>
            <a:lvl7pPr lvl="6">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7pPr>
            <a:lvl8pPr lvl="7">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8pPr>
            <a:lvl9pPr lvl="8">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9pPr>
          </a:lstStyle>
          <a:p/>
        </p:txBody>
      </p:sp>
      <p:sp>
        <p:nvSpPr>
          <p:cNvPr id="695" name="Google Shape;695;p65"/>
          <p:cNvSpPr txBox="1"/>
          <p:nvPr>
            <p:ph idx="2"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6" name="Google Shape;696;p65"/>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Graph">
  <p:cSld name="CUSTOM_13">
    <p:bg>
      <p:bgPr>
        <a:solidFill>
          <a:schemeClr val="accent2"/>
        </a:solidFill>
      </p:bgPr>
    </p:bg>
    <p:spTree>
      <p:nvGrpSpPr>
        <p:cNvPr id="697" name="Shape 697"/>
        <p:cNvGrpSpPr/>
        <p:nvPr/>
      </p:nvGrpSpPr>
      <p:grpSpPr>
        <a:xfrm>
          <a:off x="0" y="0"/>
          <a:ext cx="0" cy="0"/>
          <a:chOff x="0" y="0"/>
          <a:chExt cx="0" cy="0"/>
        </a:xfrm>
      </p:grpSpPr>
      <p:sp>
        <p:nvSpPr>
          <p:cNvPr id="698" name="Google Shape;698;p66"/>
          <p:cNvSpPr/>
          <p:nvPr/>
        </p:nvSpPr>
        <p:spPr>
          <a:xfrm>
            <a:off x="114300" y="114300"/>
            <a:ext cx="8915400" cy="4914900"/>
          </a:xfrm>
          <a:prstGeom prst="roundRect">
            <a:avLst>
              <a:gd fmla="val 330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6"/>
          <p:cNvSpPr txBox="1"/>
          <p:nvPr>
            <p:ph idx="1" type="subTitle"/>
          </p:nvPr>
        </p:nvSpPr>
        <p:spPr>
          <a:xfrm>
            <a:off x="5251039" y="2593520"/>
            <a:ext cx="25716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700" name="Google Shape;700;p66"/>
          <p:cNvSpPr txBox="1"/>
          <p:nvPr>
            <p:ph idx="2" type="subTitle"/>
          </p:nvPr>
        </p:nvSpPr>
        <p:spPr>
          <a:xfrm>
            <a:off x="5233275" y="763675"/>
            <a:ext cx="3576600" cy="133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01" name="Google Shape;701;p66"/>
          <p:cNvSpPr txBox="1"/>
          <p:nvPr>
            <p:ph type="title"/>
          </p:nvPr>
        </p:nvSpPr>
        <p:spPr>
          <a:xfrm>
            <a:off x="956150"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702" name="Google Shape;702;p66"/>
          <p:cNvSpPr txBox="1"/>
          <p:nvPr>
            <p:ph idx="3" type="title"/>
          </p:nvPr>
        </p:nvSpPr>
        <p:spPr>
          <a:xfrm>
            <a:off x="5251132"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703" name="Google Shape;703;p66"/>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4" name="Google Shape;704;p66"/>
          <p:cNvSpPr/>
          <p:nvPr>
            <p:ph idx="5" type="pic"/>
          </p:nvPr>
        </p:nvSpPr>
        <p:spPr>
          <a:xfrm>
            <a:off x="8596800" y="223475"/>
            <a:ext cx="318600" cy="318600"/>
          </a:xfrm>
          <a:prstGeom prst="ellipse">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Landscape">
  <p:cSld name="CUSTOM_14">
    <p:bg>
      <p:bgPr>
        <a:solidFill>
          <a:schemeClr val="lt1"/>
        </a:solidFill>
      </p:bgPr>
    </p:bg>
    <p:spTree>
      <p:nvGrpSpPr>
        <p:cNvPr id="705" name="Shape 705"/>
        <p:cNvGrpSpPr/>
        <p:nvPr/>
      </p:nvGrpSpPr>
      <p:grpSpPr>
        <a:xfrm>
          <a:off x="0" y="0"/>
          <a:ext cx="0" cy="0"/>
          <a:chOff x="0" y="0"/>
          <a:chExt cx="0" cy="0"/>
        </a:xfrm>
      </p:grpSpPr>
      <p:sp>
        <p:nvSpPr>
          <p:cNvPr id="706" name="Google Shape;706;p67"/>
          <p:cNvSpPr txBox="1"/>
          <p:nvPr>
            <p:ph idx="1" type="body"/>
          </p:nvPr>
        </p:nvSpPr>
        <p:spPr>
          <a:xfrm>
            <a:off x="6564350" y="577612"/>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707" name="Google Shape;707;p67"/>
          <p:cNvSpPr txBox="1"/>
          <p:nvPr>
            <p:ph idx="2" type="body"/>
          </p:nvPr>
        </p:nvSpPr>
        <p:spPr>
          <a:xfrm>
            <a:off x="6564350" y="1810914"/>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708" name="Google Shape;708;p67"/>
          <p:cNvSpPr txBox="1"/>
          <p:nvPr>
            <p:ph idx="3" type="body"/>
          </p:nvPr>
        </p:nvSpPr>
        <p:spPr>
          <a:xfrm>
            <a:off x="6564350" y="3038996"/>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709" name="Google Shape;709;p67"/>
          <p:cNvSpPr txBox="1"/>
          <p:nvPr>
            <p:ph type="title"/>
          </p:nvPr>
        </p:nvSpPr>
        <p:spPr>
          <a:xfrm>
            <a:off x="3706300" y="32715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10" name="Google Shape;710;p67"/>
          <p:cNvSpPr txBox="1"/>
          <p:nvPr>
            <p:ph idx="4" type="body"/>
          </p:nvPr>
        </p:nvSpPr>
        <p:spPr>
          <a:xfrm>
            <a:off x="3706300" y="577612"/>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711" name="Google Shape;711;p67"/>
          <p:cNvSpPr txBox="1"/>
          <p:nvPr>
            <p:ph idx="5"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12" name="Google Shape;712;p67"/>
          <p:cNvSpPr txBox="1"/>
          <p:nvPr>
            <p:ph idx="6" type="title"/>
          </p:nvPr>
        </p:nvSpPr>
        <p:spPr>
          <a:xfrm>
            <a:off x="956150" y="327150"/>
            <a:ext cx="2009100" cy="13254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713" name="Google Shape;713;p67"/>
          <p:cNvSpPr/>
          <p:nvPr>
            <p:ph idx="7" type="pic"/>
          </p:nvPr>
        </p:nvSpPr>
        <p:spPr>
          <a:xfrm>
            <a:off x="3205625" y="423875"/>
            <a:ext cx="422400" cy="422400"/>
          </a:xfrm>
          <a:prstGeom prst="ellipse">
            <a:avLst/>
          </a:prstGeom>
          <a:noFill/>
          <a:ln>
            <a:noFill/>
          </a:ln>
        </p:spPr>
      </p:sp>
      <p:sp>
        <p:nvSpPr>
          <p:cNvPr id="714" name="Google Shape;714;p67"/>
          <p:cNvSpPr/>
          <p:nvPr>
            <p:ph idx="8" type="pic"/>
          </p:nvPr>
        </p:nvSpPr>
        <p:spPr>
          <a:xfrm>
            <a:off x="6063675" y="423875"/>
            <a:ext cx="422400" cy="422400"/>
          </a:xfrm>
          <a:prstGeom prst="ellipse">
            <a:avLst/>
          </a:prstGeom>
          <a:noFill/>
          <a:ln>
            <a:noFill/>
          </a:ln>
        </p:spPr>
      </p:sp>
      <p:sp>
        <p:nvSpPr>
          <p:cNvPr id="715" name="Google Shape;715;p67"/>
          <p:cNvSpPr/>
          <p:nvPr>
            <p:ph idx="9" type="pic"/>
          </p:nvPr>
        </p:nvSpPr>
        <p:spPr>
          <a:xfrm>
            <a:off x="3205625" y="1653438"/>
            <a:ext cx="422400" cy="422400"/>
          </a:xfrm>
          <a:prstGeom prst="ellipse">
            <a:avLst/>
          </a:prstGeom>
          <a:noFill/>
          <a:ln>
            <a:noFill/>
          </a:ln>
        </p:spPr>
      </p:sp>
      <p:sp>
        <p:nvSpPr>
          <p:cNvPr id="716" name="Google Shape;716;p67"/>
          <p:cNvSpPr/>
          <p:nvPr>
            <p:ph idx="13" type="pic"/>
          </p:nvPr>
        </p:nvSpPr>
        <p:spPr>
          <a:xfrm>
            <a:off x="6063675" y="1653438"/>
            <a:ext cx="422400" cy="422400"/>
          </a:xfrm>
          <a:prstGeom prst="ellipse">
            <a:avLst/>
          </a:prstGeom>
          <a:noFill/>
          <a:ln>
            <a:noFill/>
          </a:ln>
        </p:spPr>
      </p:sp>
      <p:sp>
        <p:nvSpPr>
          <p:cNvPr id="717" name="Google Shape;717;p67"/>
          <p:cNvSpPr/>
          <p:nvPr>
            <p:ph idx="14" type="pic"/>
          </p:nvPr>
        </p:nvSpPr>
        <p:spPr>
          <a:xfrm>
            <a:off x="3205625" y="2881163"/>
            <a:ext cx="422400" cy="422400"/>
          </a:xfrm>
          <a:prstGeom prst="ellipse">
            <a:avLst/>
          </a:prstGeom>
          <a:noFill/>
          <a:ln>
            <a:noFill/>
          </a:ln>
        </p:spPr>
      </p:sp>
      <p:sp>
        <p:nvSpPr>
          <p:cNvPr id="718" name="Google Shape;718;p67"/>
          <p:cNvSpPr/>
          <p:nvPr>
            <p:ph idx="15" type="pic"/>
          </p:nvPr>
        </p:nvSpPr>
        <p:spPr>
          <a:xfrm>
            <a:off x="6063675" y="2881163"/>
            <a:ext cx="422400" cy="422400"/>
          </a:xfrm>
          <a:prstGeom prst="ellipse">
            <a:avLst/>
          </a:prstGeom>
          <a:noFill/>
          <a:ln>
            <a:noFill/>
          </a:ln>
        </p:spPr>
      </p:sp>
      <p:sp>
        <p:nvSpPr>
          <p:cNvPr id="719" name="Google Shape;719;p67"/>
          <p:cNvSpPr txBox="1"/>
          <p:nvPr>
            <p:ph idx="16" type="title"/>
          </p:nvPr>
        </p:nvSpPr>
        <p:spPr>
          <a:xfrm>
            <a:off x="6564350" y="32715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20" name="Google Shape;720;p67"/>
          <p:cNvSpPr txBox="1"/>
          <p:nvPr>
            <p:ph idx="17" type="title"/>
          </p:nvPr>
        </p:nvSpPr>
        <p:spPr>
          <a:xfrm>
            <a:off x="3706300" y="1554125"/>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21" name="Google Shape;721;p67"/>
          <p:cNvSpPr txBox="1"/>
          <p:nvPr>
            <p:ph idx="18" type="title"/>
          </p:nvPr>
        </p:nvSpPr>
        <p:spPr>
          <a:xfrm>
            <a:off x="6564350" y="1554125"/>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22" name="Google Shape;722;p67"/>
          <p:cNvSpPr txBox="1"/>
          <p:nvPr>
            <p:ph idx="19" type="title"/>
          </p:nvPr>
        </p:nvSpPr>
        <p:spPr>
          <a:xfrm>
            <a:off x="3706300" y="278110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23" name="Google Shape;723;p67"/>
          <p:cNvSpPr txBox="1"/>
          <p:nvPr>
            <p:ph idx="20" type="title"/>
          </p:nvPr>
        </p:nvSpPr>
        <p:spPr>
          <a:xfrm>
            <a:off x="6564350" y="278110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24" name="Google Shape;724;p67"/>
          <p:cNvSpPr txBox="1"/>
          <p:nvPr>
            <p:ph idx="21" type="body"/>
          </p:nvPr>
        </p:nvSpPr>
        <p:spPr>
          <a:xfrm>
            <a:off x="3706300" y="1810914"/>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725" name="Google Shape;725;p67"/>
          <p:cNvSpPr txBox="1"/>
          <p:nvPr>
            <p:ph idx="22" type="body"/>
          </p:nvPr>
        </p:nvSpPr>
        <p:spPr>
          <a:xfrm>
            <a:off x="3706300" y="3038996"/>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726" name="Google Shape;726;p67"/>
          <p:cNvSpPr/>
          <p:nvPr>
            <p:ph idx="23" type="pic"/>
          </p:nvPr>
        </p:nvSpPr>
        <p:spPr>
          <a:xfrm>
            <a:off x="8596800" y="223475"/>
            <a:ext cx="318600" cy="318600"/>
          </a:xfrm>
          <a:prstGeom prst="ellipse">
            <a:avLst/>
          </a:prstGeom>
          <a:no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p:cSld name="CUSTOM_15">
    <p:bg>
      <p:bgPr>
        <a:solidFill>
          <a:schemeClr val="lt1"/>
        </a:solidFill>
      </p:bgPr>
    </p:bg>
    <p:spTree>
      <p:nvGrpSpPr>
        <p:cNvPr id="727" name="Shape 727"/>
        <p:cNvGrpSpPr/>
        <p:nvPr/>
      </p:nvGrpSpPr>
      <p:grpSpPr>
        <a:xfrm>
          <a:off x="0" y="0"/>
          <a:ext cx="0" cy="0"/>
          <a:chOff x="0" y="0"/>
          <a:chExt cx="0" cy="0"/>
        </a:xfrm>
      </p:grpSpPr>
      <p:sp>
        <p:nvSpPr>
          <p:cNvPr id="728" name="Google Shape;728;p68"/>
          <p:cNvSpPr/>
          <p:nvPr/>
        </p:nvSpPr>
        <p:spPr>
          <a:xfrm rot="5400000">
            <a:off x="4342200" y="341250"/>
            <a:ext cx="4914900" cy="4460100"/>
          </a:xfrm>
          <a:prstGeom prst="round2SameRect">
            <a:avLst>
              <a:gd fmla="val 3491"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68"/>
          <p:cNvSpPr txBox="1"/>
          <p:nvPr>
            <p:ph type="title"/>
          </p:nvPr>
        </p:nvSpPr>
        <p:spPr>
          <a:xfrm>
            <a:off x="932850" y="730375"/>
            <a:ext cx="3280800" cy="2103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2pPr>
            <a:lvl3pPr lvl="2">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3pPr>
            <a:lvl4pPr lvl="3">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4pPr>
            <a:lvl5pPr lvl="4">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5pPr>
            <a:lvl6pPr lvl="5">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6pPr>
            <a:lvl7pPr lvl="6">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7pPr>
            <a:lvl8pPr lvl="7">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8pPr>
            <a:lvl9pPr lvl="8">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9pPr>
          </a:lstStyle>
          <a:p/>
        </p:txBody>
      </p:sp>
      <p:sp>
        <p:nvSpPr>
          <p:cNvPr id="730" name="Google Shape;730;p68"/>
          <p:cNvSpPr txBox="1"/>
          <p:nvPr>
            <p:ph idx="1" type="subTitle"/>
          </p:nvPr>
        </p:nvSpPr>
        <p:spPr>
          <a:xfrm>
            <a:off x="5233275" y="763675"/>
            <a:ext cx="35037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1" name="Google Shape;731;p68"/>
          <p:cNvSpPr txBox="1"/>
          <p:nvPr>
            <p:ph idx="2" type="subTitle"/>
          </p:nvPr>
        </p:nvSpPr>
        <p:spPr>
          <a:xfrm>
            <a:off x="955350" y="2928709"/>
            <a:ext cx="28449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732" name="Google Shape;732;p6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3" name="Google Shape;733;p68"/>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Phone + Desktop">
  <p:cSld name="CUSTOM_16">
    <p:bg>
      <p:bgPr>
        <a:solidFill>
          <a:schemeClr val="lt1"/>
        </a:solidFill>
      </p:bgPr>
    </p:bg>
    <p:spTree>
      <p:nvGrpSpPr>
        <p:cNvPr id="734" name="Shape 734"/>
        <p:cNvGrpSpPr/>
        <p:nvPr/>
      </p:nvGrpSpPr>
      <p:grpSpPr>
        <a:xfrm>
          <a:off x="0" y="0"/>
          <a:ext cx="0" cy="0"/>
          <a:chOff x="0" y="0"/>
          <a:chExt cx="0" cy="0"/>
        </a:xfrm>
      </p:grpSpPr>
      <p:sp>
        <p:nvSpPr>
          <p:cNvPr id="735" name="Google Shape;735;p69"/>
          <p:cNvSpPr/>
          <p:nvPr/>
        </p:nvSpPr>
        <p:spPr>
          <a:xfrm rot="5400000">
            <a:off x="3618000" y="-382950"/>
            <a:ext cx="4914900" cy="5908500"/>
          </a:xfrm>
          <a:prstGeom prst="round2SameRect">
            <a:avLst>
              <a:gd fmla="val 3196"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69"/>
          <p:cNvSpPr/>
          <p:nvPr>
            <p:ph idx="2" type="pic"/>
          </p:nvPr>
        </p:nvSpPr>
        <p:spPr>
          <a:xfrm>
            <a:off x="3768625" y="934850"/>
            <a:ext cx="4630500" cy="2606700"/>
          </a:xfrm>
          <a:prstGeom prst="roundRect">
            <a:avLst>
              <a:gd fmla="val 1120" name="adj"/>
            </a:avLst>
          </a:prstGeom>
          <a:noFill/>
          <a:ln cap="flat" cmpd="sng" w="76200">
            <a:solidFill>
              <a:schemeClr val="dk2"/>
            </a:solidFill>
            <a:prstDash val="solid"/>
            <a:round/>
            <a:headEnd len="sm" w="sm" type="none"/>
            <a:tailEnd len="sm" w="sm" type="none"/>
          </a:ln>
        </p:spPr>
      </p:sp>
      <p:sp>
        <p:nvSpPr>
          <p:cNvPr id="737" name="Google Shape;737;p69"/>
          <p:cNvSpPr/>
          <p:nvPr>
            <p:ph idx="3"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738" name="Google Shape;738;p69"/>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9" name="Google Shape;739;p69"/>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Desktop">
  <p:cSld name="CUSTOM_16_2">
    <p:bg>
      <p:bgPr>
        <a:solidFill>
          <a:schemeClr val="lt1"/>
        </a:solidFill>
      </p:bgPr>
    </p:bg>
    <p:spTree>
      <p:nvGrpSpPr>
        <p:cNvPr id="740" name="Shape 740"/>
        <p:cNvGrpSpPr/>
        <p:nvPr/>
      </p:nvGrpSpPr>
      <p:grpSpPr>
        <a:xfrm>
          <a:off x="0" y="0"/>
          <a:ext cx="0" cy="0"/>
          <a:chOff x="0" y="0"/>
          <a:chExt cx="0" cy="0"/>
        </a:xfrm>
      </p:grpSpPr>
      <p:sp>
        <p:nvSpPr>
          <p:cNvPr id="741" name="Google Shape;741;p70"/>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70"/>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0"/>
          <p:cNvSpPr/>
          <p:nvPr>
            <p:ph idx="2" type="pic"/>
          </p:nvPr>
        </p:nvSpPr>
        <p:spPr>
          <a:xfrm>
            <a:off x="8596800" y="223475"/>
            <a:ext cx="318600" cy="318600"/>
          </a:xfrm>
          <a:prstGeom prst="ellipse">
            <a:avLst/>
          </a:prstGeom>
          <a:noFill/>
          <a:ln>
            <a:noFill/>
          </a:ln>
        </p:spPr>
      </p:sp>
      <p:sp>
        <p:nvSpPr>
          <p:cNvPr id="744" name="Google Shape;744;p70"/>
          <p:cNvSpPr/>
          <p:nvPr>
            <p:ph idx="3" type="pic"/>
          </p:nvPr>
        </p:nvSpPr>
        <p:spPr>
          <a:xfrm>
            <a:off x="1931050" y="789375"/>
            <a:ext cx="5281800" cy="2973300"/>
          </a:xfrm>
          <a:prstGeom prst="roundRect">
            <a:avLst>
              <a:gd fmla="val 1120"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3 Phone">
  <p:cSld name="CUSTOM_16_1">
    <p:bg>
      <p:bgPr>
        <a:solidFill>
          <a:schemeClr val="lt1"/>
        </a:solidFill>
      </p:bgPr>
    </p:bg>
    <p:spTree>
      <p:nvGrpSpPr>
        <p:cNvPr id="745" name="Shape 745"/>
        <p:cNvGrpSpPr/>
        <p:nvPr/>
      </p:nvGrpSpPr>
      <p:grpSpPr>
        <a:xfrm>
          <a:off x="0" y="0"/>
          <a:ext cx="0" cy="0"/>
          <a:chOff x="0" y="0"/>
          <a:chExt cx="0" cy="0"/>
        </a:xfrm>
      </p:grpSpPr>
      <p:sp>
        <p:nvSpPr>
          <p:cNvPr id="746" name="Google Shape;746;p71"/>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71"/>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1"/>
          <p:cNvSpPr/>
          <p:nvPr>
            <p:ph idx="2"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749" name="Google Shape;749;p71"/>
          <p:cNvSpPr/>
          <p:nvPr>
            <p:ph idx="3" type="pic"/>
          </p:nvPr>
        </p:nvSpPr>
        <p:spPr>
          <a:xfrm>
            <a:off x="8596800" y="223475"/>
            <a:ext cx="318600" cy="318600"/>
          </a:xfrm>
          <a:prstGeom prst="ellipse">
            <a:avLst/>
          </a:prstGeom>
          <a:noFill/>
          <a:ln>
            <a:noFill/>
          </a:ln>
        </p:spPr>
      </p:sp>
      <p:sp>
        <p:nvSpPr>
          <p:cNvPr id="750" name="Google Shape;750;p71"/>
          <p:cNvSpPr/>
          <p:nvPr>
            <p:ph idx="4" type="pic"/>
          </p:nvPr>
        </p:nvSpPr>
        <p:spPr>
          <a:xfrm>
            <a:off x="376500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751" name="Google Shape;751;p71"/>
          <p:cNvSpPr/>
          <p:nvPr>
            <p:ph idx="5" type="pic"/>
          </p:nvPr>
        </p:nvSpPr>
        <p:spPr>
          <a:xfrm>
            <a:off x="67171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Tablet">
  <p:cSld name="CUSTOM_16_2_1">
    <p:bg>
      <p:bgPr>
        <a:solidFill>
          <a:schemeClr val="lt1"/>
        </a:solidFill>
      </p:bgPr>
    </p:bg>
    <p:spTree>
      <p:nvGrpSpPr>
        <p:cNvPr id="752" name="Shape 752"/>
        <p:cNvGrpSpPr/>
        <p:nvPr/>
      </p:nvGrpSpPr>
      <p:grpSpPr>
        <a:xfrm>
          <a:off x="0" y="0"/>
          <a:ext cx="0" cy="0"/>
          <a:chOff x="0" y="0"/>
          <a:chExt cx="0" cy="0"/>
        </a:xfrm>
      </p:grpSpPr>
      <p:sp>
        <p:nvSpPr>
          <p:cNvPr id="753" name="Google Shape;753;p72"/>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2"/>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2"/>
          <p:cNvSpPr/>
          <p:nvPr>
            <p:ph idx="2" type="pic"/>
          </p:nvPr>
        </p:nvSpPr>
        <p:spPr>
          <a:xfrm>
            <a:off x="8596800" y="223475"/>
            <a:ext cx="318600" cy="318600"/>
          </a:xfrm>
          <a:prstGeom prst="ellipse">
            <a:avLst/>
          </a:prstGeom>
          <a:noFill/>
          <a:ln>
            <a:noFill/>
          </a:ln>
        </p:spPr>
      </p:sp>
      <p:sp>
        <p:nvSpPr>
          <p:cNvPr id="756" name="Google Shape;756;p72"/>
          <p:cNvSpPr/>
          <p:nvPr>
            <p:ph idx="3" type="pic"/>
          </p:nvPr>
        </p:nvSpPr>
        <p:spPr>
          <a:xfrm>
            <a:off x="1988050" y="627575"/>
            <a:ext cx="5167800" cy="3888300"/>
          </a:xfrm>
          <a:prstGeom prst="roundRect">
            <a:avLst>
              <a:gd fmla="val 4099"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s Phone + Tablet">
  <p:cSld name="CUSTOM_16_1_1">
    <p:bg>
      <p:bgPr>
        <a:solidFill>
          <a:schemeClr val="lt1"/>
        </a:solidFill>
      </p:bgPr>
    </p:bg>
    <p:spTree>
      <p:nvGrpSpPr>
        <p:cNvPr id="757" name="Shape 757"/>
        <p:cNvGrpSpPr/>
        <p:nvPr/>
      </p:nvGrpSpPr>
      <p:grpSpPr>
        <a:xfrm>
          <a:off x="0" y="0"/>
          <a:ext cx="0" cy="0"/>
          <a:chOff x="0" y="0"/>
          <a:chExt cx="0" cy="0"/>
        </a:xfrm>
      </p:grpSpPr>
      <p:sp>
        <p:nvSpPr>
          <p:cNvPr id="758" name="Google Shape;758;p73"/>
          <p:cNvSpPr/>
          <p:nvPr>
            <p:ph idx="2"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759" name="Google Shape;759;p73"/>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0" name="Google Shape;760;p73"/>
          <p:cNvSpPr/>
          <p:nvPr>
            <p:ph idx="3" type="pic"/>
          </p:nvPr>
        </p:nvSpPr>
        <p:spPr>
          <a:xfrm>
            <a:off x="8596800" y="223475"/>
            <a:ext cx="318600" cy="318600"/>
          </a:xfrm>
          <a:prstGeom prst="ellipse">
            <a:avLst/>
          </a:prstGeom>
          <a:noFill/>
          <a:ln>
            <a:noFill/>
          </a:ln>
        </p:spPr>
      </p:sp>
      <p:sp>
        <p:nvSpPr>
          <p:cNvPr id="761" name="Google Shape;761;p73"/>
          <p:cNvSpPr/>
          <p:nvPr>
            <p:ph idx="4" type="pic"/>
          </p:nvPr>
        </p:nvSpPr>
        <p:spPr>
          <a:xfrm>
            <a:off x="3874125" y="866550"/>
            <a:ext cx="4531500" cy="3409500"/>
          </a:xfrm>
          <a:prstGeom prst="roundRect">
            <a:avLst>
              <a:gd fmla="val 4099"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17">
    <p:bg>
      <p:bgPr>
        <a:solidFill>
          <a:schemeClr val="lt1"/>
        </a:solidFill>
      </p:bgPr>
    </p:bg>
    <p:spTree>
      <p:nvGrpSpPr>
        <p:cNvPr id="762" name="Shape 762"/>
        <p:cNvGrpSpPr/>
        <p:nvPr/>
      </p:nvGrpSpPr>
      <p:grpSpPr>
        <a:xfrm>
          <a:off x="0" y="0"/>
          <a:ext cx="0" cy="0"/>
          <a:chOff x="0" y="0"/>
          <a:chExt cx="0" cy="0"/>
        </a:xfrm>
      </p:grpSpPr>
      <p:sp>
        <p:nvSpPr>
          <p:cNvPr id="763" name="Google Shape;763;p74"/>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4" name="Google Shape;764;p74"/>
          <p:cNvSpPr txBox="1"/>
          <p:nvPr>
            <p:ph idx="1" type="subTitle"/>
          </p:nvPr>
        </p:nvSpPr>
        <p:spPr>
          <a:xfrm>
            <a:off x="440281" y="763675"/>
            <a:ext cx="20703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5" name="Google Shape;765;p74"/>
          <p:cNvSpPr txBox="1"/>
          <p:nvPr/>
        </p:nvSpPr>
        <p:spPr>
          <a:xfrm>
            <a:off x="871975" y="114300"/>
            <a:ext cx="1385400" cy="81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a:solidFill>
                  <a:schemeClr val="accent4"/>
                </a:solidFill>
                <a:latin typeface="Albert Sans"/>
                <a:ea typeface="Albert Sans"/>
                <a:cs typeface="Albert Sans"/>
                <a:sym typeface="Albert Sans"/>
              </a:rPr>
              <a:t>Future Focused</a:t>
            </a:r>
            <a:endParaRPr b="1">
              <a:solidFill>
                <a:schemeClr val="accent4"/>
              </a:solidFill>
              <a:latin typeface="Albert Sans"/>
              <a:ea typeface="Albert Sans"/>
              <a:cs typeface="Albert Sans"/>
              <a:sym typeface="Albert Sans"/>
            </a:endParaRPr>
          </a:p>
        </p:txBody>
      </p:sp>
      <p:sp>
        <p:nvSpPr>
          <p:cNvPr id="766" name="Google Shape;766;p74"/>
          <p:cNvSpPr txBox="1"/>
          <p:nvPr>
            <p:ph idx="2" type="subTitle"/>
          </p:nvPr>
        </p:nvSpPr>
        <p:spPr>
          <a:xfrm>
            <a:off x="580888" y="3286575"/>
            <a:ext cx="1757100" cy="118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None/>
              <a:defRPr b="0" sz="100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767" name="Google Shape;767;p74"/>
          <p:cNvSpPr txBox="1"/>
          <p:nvPr>
            <p:ph idx="3" type="title"/>
          </p:nvPr>
        </p:nvSpPr>
        <p:spPr>
          <a:xfrm>
            <a:off x="440281" y="327150"/>
            <a:ext cx="2009100" cy="1325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Pullquote">
  <p:cSld name="CUSTOM_18">
    <p:bg>
      <p:bgPr>
        <a:solidFill>
          <a:schemeClr val="accent2"/>
        </a:solidFill>
      </p:bgPr>
    </p:bg>
    <p:spTree>
      <p:nvGrpSpPr>
        <p:cNvPr id="768" name="Shape 768"/>
        <p:cNvGrpSpPr/>
        <p:nvPr/>
      </p:nvGrpSpPr>
      <p:grpSpPr>
        <a:xfrm>
          <a:off x="0" y="0"/>
          <a:ext cx="0" cy="0"/>
          <a:chOff x="0" y="0"/>
          <a:chExt cx="0" cy="0"/>
        </a:xfrm>
      </p:grpSpPr>
      <p:sp>
        <p:nvSpPr>
          <p:cNvPr id="769" name="Google Shape;769;p75"/>
          <p:cNvSpPr txBox="1"/>
          <p:nvPr>
            <p:ph idx="1" type="subTitle"/>
          </p:nvPr>
        </p:nvSpPr>
        <p:spPr>
          <a:xfrm>
            <a:off x="821950" y="763675"/>
            <a:ext cx="2070300" cy="36405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Nanum Myeongjo"/>
              <a:buNone/>
              <a:defRPr sz="2400">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0" name="Google Shape;770;p75"/>
          <p:cNvSpPr/>
          <p:nvPr/>
        </p:nvSpPr>
        <p:spPr>
          <a:xfrm>
            <a:off x="114300" y="114300"/>
            <a:ext cx="8915400" cy="4914900"/>
          </a:xfrm>
          <a:prstGeom prst="roundRect">
            <a:avLst>
              <a:gd fmla="val 330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5"/>
          <p:cNvSpPr txBox="1"/>
          <p:nvPr>
            <p:ph idx="2" type="subTitle"/>
          </p:nvPr>
        </p:nvSpPr>
        <p:spPr>
          <a:xfrm>
            <a:off x="1062075" y="763675"/>
            <a:ext cx="70254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Font typeface="Nanum Myeongjo"/>
              <a:buNone/>
              <a:defRPr b="0" sz="3600">
                <a:solidFill>
                  <a:schemeClr val="dk2"/>
                </a:solidFill>
                <a:latin typeface="Nanum Myeongjo"/>
                <a:ea typeface="Nanum Myeongjo"/>
                <a:cs typeface="Nanum Myeongjo"/>
                <a:sym typeface="Nanum Myeongjo"/>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72" name="Google Shape;772;p75"/>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3" name="Google Shape;773;p75"/>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774" name="Shape 774"/>
        <p:cNvGrpSpPr/>
        <p:nvPr/>
      </p:nvGrpSpPr>
      <p:grpSpPr>
        <a:xfrm>
          <a:off x="0" y="0"/>
          <a:ext cx="0" cy="0"/>
          <a:chOff x="0" y="0"/>
          <a:chExt cx="0" cy="0"/>
        </a:xfrm>
      </p:grpSpPr>
      <p:sp>
        <p:nvSpPr>
          <p:cNvPr id="775" name="Google Shape;775;p7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76" name="Google Shape;776;p7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777" name="Google Shape;777;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778" name="Shape 778"/>
        <p:cNvGrpSpPr/>
        <p:nvPr/>
      </p:nvGrpSpPr>
      <p:grpSpPr>
        <a:xfrm>
          <a:off x="0" y="0"/>
          <a:ext cx="0" cy="0"/>
          <a:chOff x="0" y="0"/>
          <a:chExt cx="0" cy="0"/>
        </a:xfrm>
      </p:grpSpPr>
      <p:sp>
        <p:nvSpPr>
          <p:cNvPr id="779" name="Google Shape;779;p7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80" name="Google Shape;780;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781" name="Shape 781"/>
        <p:cNvGrpSpPr/>
        <p:nvPr/>
      </p:nvGrpSpPr>
      <p:grpSpPr>
        <a:xfrm>
          <a:off x="0" y="0"/>
          <a:ext cx="0" cy="0"/>
          <a:chOff x="0" y="0"/>
          <a:chExt cx="0" cy="0"/>
        </a:xfrm>
      </p:grpSpPr>
      <p:sp>
        <p:nvSpPr>
          <p:cNvPr id="782" name="Google Shape;782;p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3" name="Google Shape;783;p7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84" name="Google Shape;784;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785" name="Shape 785"/>
        <p:cNvGrpSpPr/>
        <p:nvPr/>
      </p:nvGrpSpPr>
      <p:grpSpPr>
        <a:xfrm>
          <a:off x="0" y="0"/>
          <a:ext cx="0" cy="0"/>
          <a:chOff x="0" y="0"/>
          <a:chExt cx="0" cy="0"/>
        </a:xfrm>
      </p:grpSpPr>
      <p:sp>
        <p:nvSpPr>
          <p:cNvPr id="786" name="Google Shape;786;p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7" name="Google Shape;787;p7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8" name="Google Shape;788;p7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9" name="Google Shape;789;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90" name="Shape 790"/>
        <p:cNvGrpSpPr/>
        <p:nvPr/>
      </p:nvGrpSpPr>
      <p:grpSpPr>
        <a:xfrm>
          <a:off x="0" y="0"/>
          <a:ext cx="0" cy="0"/>
          <a:chOff x="0" y="0"/>
          <a:chExt cx="0" cy="0"/>
        </a:xfrm>
      </p:grpSpPr>
      <p:sp>
        <p:nvSpPr>
          <p:cNvPr id="791" name="Google Shape;791;p8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2" name="Google Shape;792;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93" name="Shape 793"/>
        <p:cNvGrpSpPr/>
        <p:nvPr/>
      </p:nvGrpSpPr>
      <p:grpSpPr>
        <a:xfrm>
          <a:off x="0" y="0"/>
          <a:ext cx="0" cy="0"/>
          <a:chOff x="0" y="0"/>
          <a:chExt cx="0" cy="0"/>
        </a:xfrm>
      </p:grpSpPr>
      <p:sp>
        <p:nvSpPr>
          <p:cNvPr id="794" name="Google Shape;794;p8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95" name="Google Shape;795;p8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6" name="Google Shape;796;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97" name="Shape 797"/>
        <p:cNvGrpSpPr/>
        <p:nvPr/>
      </p:nvGrpSpPr>
      <p:grpSpPr>
        <a:xfrm>
          <a:off x="0" y="0"/>
          <a:ext cx="0" cy="0"/>
          <a:chOff x="0" y="0"/>
          <a:chExt cx="0" cy="0"/>
        </a:xfrm>
      </p:grpSpPr>
      <p:sp>
        <p:nvSpPr>
          <p:cNvPr id="798" name="Google Shape;798;p8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9" name="Google Shape;799;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0" name="Shape 800"/>
        <p:cNvGrpSpPr/>
        <p:nvPr/>
      </p:nvGrpSpPr>
      <p:grpSpPr>
        <a:xfrm>
          <a:off x="0" y="0"/>
          <a:ext cx="0" cy="0"/>
          <a:chOff x="0" y="0"/>
          <a:chExt cx="0" cy="0"/>
        </a:xfrm>
      </p:grpSpPr>
      <p:sp>
        <p:nvSpPr>
          <p:cNvPr id="801" name="Google Shape;801;p8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8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3" name="Google Shape;803;p8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4" name="Google Shape;804;p8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chemeClr val="dk1"/>
              </a:buClr>
              <a:buSzPts val="14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805" name="Google Shape;805;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06" name="Shape 806"/>
        <p:cNvGrpSpPr/>
        <p:nvPr/>
      </p:nvGrpSpPr>
      <p:grpSpPr>
        <a:xfrm>
          <a:off x="0" y="0"/>
          <a:ext cx="0" cy="0"/>
          <a:chOff x="0" y="0"/>
          <a:chExt cx="0" cy="0"/>
        </a:xfrm>
      </p:grpSpPr>
      <p:sp>
        <p:nvSpPr>
          <p:cNvPr id="807" name="Google Shape;807;p8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
        <p:nvSpPr>
          <p:cNvPr id="808" name="Google Shape;808;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09" name="Shape 809"/>
        <p:cNvGrpSpPr/>
        <p:nvPr/>
      </p:nvGrpSpPr>
      <p:grpSpPr>
        <a:xfrm>
          <a:off x="0" y="0"/>
          <a:ext cx="0" cy="0"/>
          <a:chOff x="0" y="0"/>
          <a:chExt cx="0" cy="0"/>
        </a:xfrm>
      </p:grpSpPr>
      <p:sp>
        <p:nvSpPr>
          <p:cNvPr id="810" name="Google Shape;810;p8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11" name="Google Shape;811;p8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812" name="Google Shape;812;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3" name="Shape 813"/>
        <p:cNvGrpSpPr/>
        <p:nvPr/>
      </p:nvGrpSpPr>
      <p:grpSpPr>
        <a:xfrm>
          <a:off x="0" y="0"/>
          <a:ext cx="0" cy="0"/>
          <a:chOff x="0" y="0"/>
          <a:chExt cx="0" cy="0"/>
        </a:xfrm>
      </p:grpSpPr>
      <p:sp>
        <p:nvSpPr>
          <p:cNvPr id="814" name="Google Shape;814;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815" name="Shape 815"/>
        <p:cNvGrpSpPr/>
        <p:nvPr/>
      </p:nvGrpSpPr>
      <p:grpSpPr>
        <a:xfrm>
          <a:off x="0" y="0"/>
          <a:ext cx="0" cy="0"/>
          <a:chOff x="0" y="0"/>
          <a:chExt cx="0" cy="0"/>
        </a:xfrm>
      </p:grpSpPr>
      <p:sp>
        <p:nvSpPr>
          <p:cNvPr id="816" name="Google Shape;816;p8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7" name="Google Shape;817;p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18" name="Google Shape;818;p8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8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8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1" name="Google Shape;821;p8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2" name="Google Shape;822;p8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3" name="Google Shape;823;p8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_1">
    <p:spTree>
      <p:nvGrpSpPr>
        <p:cNvPr id="824" name="Shape 824"/>
        <p:cNvGrpSpPr/>
        <p:nvPr/>
      </p:nvGrpSpPr>
      <p:grpSpPr>
        <a:xfrm>
          <a:off x="0" y="0"/>
          <a:ext cx="0" cy="0"/>
          <a:chOff x="0" y="0"/>
          <a:chExt cx="0" cy="0"/>
        </a:xfrm>
      </p:grpSpPr>
      <p:sp>
        <p:nvSpPr>
          <p:cNvPr id="825" name="Google Shape;825;p8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6" name="Google Shape;826;p8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27" name="Google Shape;827;p88"/>
          <p:cNvSpPr/>
          <p:nvPr>
            <p:ph idx="2" type="pic"/>
          </p:nvPr>
        </p:nvSpPr>
        <p:spPr>
          <a:xfrm>
            <a:off x="4992024" y="1152775"/>
            <a:ext cx="3840300" cy="3416400"/>
          </a:xfrm>
          <a:prstGeom prst="rect">
            <a:avLst/>
          </a:prstGeom>
          <a:noFill/>
          <a:ln>
            <a:noFill/>
          </a:ln>
        </p:spPr>
      </p:sp>
      <p:sp>
        <p:nvSpPr>
          <p:cNvPr id="828" name="Google Shape;828;p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829" name="Shape 829"/>
        <p:cNvGrpSpPr/>
        <p:nvPr/>
      </p:nvGrpSpPr>
      <p:grpSpPr>
        <a:xfrm>
          <a:off x="0" y="0"/>
          <a:ext cx="0" cy="0"/>
          <a:chOff x="0" y="0"/>
          <a:chExt cx="0" cy="0"/>
        </a:xfrm>
      </p:grpSpPr>
      <p:sp>
        <p:nvSpPr>
          <p:cNvPr id="830" name="Google Shape;830;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31" name="Google Shape;831;p8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32" name="Google Shape;832;p8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33" name="Google Shape;833;p8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34" name="Google Shape;834;p8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5" name="Google Shape;835;p8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836" name="Shape 836"/>
        <p:cNvGrpSpPr/>
        <p:nvPr/>
      </p:nvGrpSpPr>
      <p:grpSpPr>
        <a:xfrm>
          <a:off x="0" y="0"/>
          <a:ext cx="0" cy="0"/>
          <a:chOff x="0" y="0"/>
          <a:chExt cx="0" cy="0"/>
        </a:xfrm>
      </p:grpSpPr>
      <p:sp>
        <p:nvSpPr>
          <p:cNvPr id="837" name="Google Shape;837;p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38" name="Google Shape;838;p9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39" name="Google Shape;839;p9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40" name="Google Shape;840;p90"/>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41" name="Google Shape;841;p9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42" name="Google Shape;842;p90"/>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3" name="Google Shape;843;p90"/>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4" name="Google Shape;844;p90"/>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_1">
    <p:spTree>
      <p:nvGrpSpPr>
        <p:cNvPr id="845" name="Shape 845"/>
        <p:cNvGrpSpPr/>
        <p:nvPr/>
      </p:nvGrpSpPr>
      <p:grpSpPr>
        <a:xfrm>
          <a:off x="0" y="0"/>
          <a:ext cx="0" cy="0"/>
          <a:chOff x="0" y="0"/>
          <a:chExt cx="0" cy="0"/>
        </a:xfrm>
      </p:grpSpPr>
      <p:sp>
        <p:nvSpPr>
          <p:cNvPr id="846" name="Google Shape;846;p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47" name="Google Shape;847;p9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48" name="Google Shape;848;p9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49" name="Google Shape;849;p9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0" name="Google Shape;850;p9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1" name="Google Shape;851;p9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52" name="Google Shape;852;p9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53" name="Google Shape;853;p9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54" name="Google Shape;854;p9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55" name="Google Shape;855;p9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856" name="Shape 856"/>
        <p:cNvGrpSpPr/>
        <p:nvPr/>
      </p:nvGrpSpPr>
      <p:grpSpPr>
        <a:xfrm>
          <a:off x="0" y="0"/>
          <a:ext cx="0" cy="0"/>
          <a:chOff x="0" y="0"/>
          <a:chExt cx="0" cy="0"/>
        </a:xfrm>
      </p:grpSpPr>
      <p:sp>
        <p:nvSpPr>
          <p:cNvPr id="857" name="Google Shape;857;p9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8" name="Google Shape;858;p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59" name="Google Shape;859;p9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1">
    <p:spTree>
      <p:nvGrpSpPr>
        <p:cNvPr id="860" name="Shape 860"/>
        <p:cNvGrpSpPr/>
        <p:nvPr/>
      </p:nvGrpSpPr>
      <p:grpSpPr>
        <a:xfrm>
          <a:off x="0" y="0"/>
          <a:ext cx="0" cy="0"/>
          <a:chOff x="0" y="0"/>
          <a:chExt cx="0" cy="0"/>
        </a:xfrm>
      </p:grpSpPr>
      <p:sp>
        <p:nvSpPr>
          <p:cNvPr id="861" name="Google Shape;861;p9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2" name="Google Shape;862;p93"/>
          <p:cNvSpPr/>
          <p:nvPr>
            <p:ph idx="2" type="pic"/>
          </p:nvPr>
        </p:nvSpPr>
        <p:spPr>
          <a:xfrm>
            <a:off x="4804825" y="1133300"/>
            <a:ext cx="4027500" cy="2392800"/>
          </a:xfrm>
          <a:prstGeom prst="rect">
            <a:avLst/>
          </a:prstGeom>
          <a:noFill/>
          <a:ln>
            <a:noFill/>
          </a:ln>
        </p:spPr>
      </p:sp>
      <p:sp>
        <p:nvSpPr>
          <p:cNvPr id="863" name="Google Shape;863;p93"/>
          <p:cNvSpPr/>
          <p:nvPr>
            <p:ph idx="3" type="pic"/>
          </p:nvPr>
        </p:nvSpPr>
        <p:spPr>
          <a:xfrm>
            <a:off x="311725" y="1133300"/>
            <a:ext cx="4027500" cy="2392800"/>
          </a:xfrm>
          <a:prstGeom prst="rect">
            <a:avLst/>
          </a:prstGeom>
          <a:noFill/>
          <a:ln>
            <a:noFill/>
          </a:ln>
        </p:spPr>
      </p:sp>
      <p:sp>
        <p:nvSpPr>
          <p:cNvPr id="864" name="Google Shape;864;p9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5" name="Google Shape;865;p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66" name="Google Shape;866;p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7" name="Google Shape;867;p9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8" name="Google Shape;868;p9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869" name="Shape 869"/>
        <p:cNvGrpSpPr/>
        <p:nvPr/>
      </p:nvGrpSpPr>
      <p:grpSpPr>
        <a:xfrm>
          <a:off x="0" y="0"/>
          <a:ext cx="0" cy="0"/>
          <a:chOff x="0" y="0"/>
          <a:chExt cx="0" cy="0"/>
        </a:xfrm>
      </p:grpSpPr>
      <p:sp>
        <p:nvSpPr>
          <p:cNvPr id="870" name="Google Shape;870;p9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71" name="Google Shape;871;p94"/>
          <p:cNvSpPr/>
          <p:nvPr>
            <p:ph idx="2" type="pic"/>
          </p:nvPr>
        </p:nvSpPr>
        <p:spPr>
          <a:xfrm>
            <a:off x="6205225" y="1128325"/>
            <a:ext cx="2627100" cy="2273100"/>
          </a:xfrm>
          <a:prstGeom prst="rect">
            <a:avLst/>
          </a:prstGeom>
          <a:noFill/>
          <a:ln>
            <a:noFill/>
          </a:ln>
        </p:spPr>
      </p:sp>
      <p:sp>
        <p:nvSpPr>
          <p:cNvPr id="872" name="Google Shape;872;p94"/>
          <p:cNvSpPr/>
          <p:nvPr>
            <p:ph idx="3" type="pic"/>
          </p:nvPr>
        </p:nvSpPr>
        <p:spPr>
          <a:xfrm>
            <a:off x="311725" y="1128325"/>
            <a:ext cx="2627100" cy="2273100"/>
          </a:xfrm>
          <a:prstGeom prst="rect">
            <a:avLst/>
          </a:prstGeom>
          <a:noFill/>
          <a:ln>
            <a:noFill/>
          </a:ln>
        </p:spPr>
      </p:sp>
      <p:sp>
        <p:nvSpPr>
          <p:cNvPr id="873" name="Google Shape;873;p9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74" name="Google Shape;874;p94"/>
          <p:cNvSpPr/>
          <p:nvPr>
            <p:ph idx="5" type="pic"/>
          </p:nvPr>
        </p:nvSpPr>
        <p:spPr>
          <a:xfrm>
            <a:off x="3255250" y="1128325"/>
            <a:ext cx="2627100" cy="2273100"/>
          </a:xfrm>
          <a:prstGeom prst="rect">
            <a:avLst/>
          </a:prstGeom>
          <a:noFill/>
          <a:ln>
            <a:noFill/>
          </a:ln>
        </p:spPr>
      </p:sp>
      <p:sp>
        <p:nvSpPr>
          <p:cNvPr id="875" name="Google Shape;875;p9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76" name="Google Shape;876;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77" name="Google Shape;877;p9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8" name="Google Shape;878;p9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9" name="Google Shape;879;p9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80" name="Google Shape;880;p9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_2">
    <p:spTree>
      <p:nvGrpSpPr>
        <p:cNvPr id="881" name="Shape 881"/>
        <p:cNvGrpSpPr/>
        <p:nvPr/>
      </p:nvGrpSpPr>
      <p:grpSpPr>
        <a:xfrm>
          <a:off x="0" y="0"/>
          <a:ext cx="0" cy="0"/>
          <a:chOff x="0" y="0"/>
          <a:chExt cx="0" cy="0"/>
        </a:xfrm>
      </p:grpSpPr>
      <p:sp>
        <p:nvSpPr>
          <p:cNvPr id="882" name="Google Shape;882;p95"/>
          <p:cNvSpPr/>
          <p:nvPr>
            <p:ph idx="2" type="pic"/>
          </p:nvPr>
        </p:nvSpPr>
        <p:spPr>
          <a:xfrm>
            <a:off x="311700" y="445025"/>
            <a:ext cx="8520600" cy="4218300"/>
          </a:xfrm>
          <a:prstGeom prst="rect">
            <a:avLst/>
          </a:prstGeom>
          <a:noFill/>
          <a:ln>
            <a:noFill/>
          </a:ln>
        </p:spPr>
      </p:sp>
      <p:sp>
        <p:nvSpPr>
          <p:cNvPr id="883" name="Google Shape;883;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884" name="Shape 884"/>
        <p:cNvGrpSpPr/>
        <p:nvPr/>
      </p:nvGrpSpPr>
      <p:grpSpPr>
        <a:xfrm>
          <a:off x="0" y="0"/>
          <a:ext cx="0" cy="0"/>
          <a:chOff x="0" y="0"/>
          <a:chExt cx="0" cy="0"/>
        </a:xfrm>
      </p:grpSpPr>
      <p:sp>
        <p:nvSpPr>
          <p:cNvPr id="885" name="Google Shape;885;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86" name="Google Shape;886;p96"/>
          <p:cNvSpPr/>
          <p:nvPr>
            <p:ph idx="2" type="pic"/>
          </p:nvPr>
        </p:nvSpPr>
        <p:spPr>
          <a:xfrm>
            <a:off x="3389600" y="118913"/>
            <a:ext cx="1643700" cy="1535100"/>
          </a:xfrm>
          <a:prstGeom prst="rect">
            <a:avLst/>
          </a:prstGeom>
          <a:noFill/>
          <a:ln>
            <a:noFill/>
          </a:ln>
        </p:spPr>
      </p:sp>
      <p:sp>
        <p:nvSpPr>
          <p:cNvPr id="887" name="Google Shape;887;p96"/>
          <p:cNvSpPr/>
          <p:nvPr>
            <p:ph idx="3" type="pic"/>
          </p:nvPr>
        </p:nvSpPr>
        <p:spPr>
          <a:xfrm>
            <a:off x="5195935" y="118913"/>
            <a:ext cx="1643700" cy="1535100"/>
          </a:xfrm>
          <a:prstGeom prst="rect">
            <a:avLst/>
          </a:prstGeom>
          <a:noFill/>
          <a:ln>
            <a:noFill/>
          </a:ln>
        </p:spPr>
      </p:sp>
      <p:sp>
        <p:nvSpPr>
          <p:cNvPr id="888" name="Google Shape;888;p96"/>
          <p:cNvSpPr/>
          <p:nvPr>
            <p:ph idx="4" type="pic"/>
          </p:nvPr>
        </p:nvSpPr>
        <p:spPr>
          <a:xfrm>
            <a:off x="7002270" y="118913"/>
            <a:ext cx="1643700" cy="1535100"/>
          </a:xfrm>
          <a:prstGeom prst="rect">
            <a:avLst/>
          </a:prstGeom>
          <a:noFill/>
          <a:ln>
            <a:noFill/>
          </a:ln>
        </p:spPr>
      </p:sp>
      <p:sp>
        <p:nvSpPr>
          <p:cNvPr id="889" name="Google Shape;889;p96"/>
          <p:cNvSpPr/>
          <p:nvPr>
            <p:ph idx="5" type="pic"/>
          </p:nvPr>
        </p:nvSpPr>
        <p:spPr>
          <a:xfrm>
            <a:off x="3389588" y="1804212"/>
            <a:ext cx="1643700" cy="1535100"/>
          </a:xfrm>
          <a:prstGeom prst="rect">
            <a:avLst/>
          </a:prstGeom>
          <a:noFill/>
          <a:ln>
            <a:noFill/>
          </a:ln>
        </p:spPr>
      </p:sp>
      <p:sp>
        <p:nvSpPr>
          <p:cNvPr id="890" name="Google Shape;890;p96"/>
          <p:cNvSpPr/>
          <p:nvPr>
            <p:ph idx="6" type="pic"/>
          </p:nvPr>
        </p:nvSpPr>
        <p:spPr>
          <a:xfrm>
            <a:off x="5195922" y="1804212"/>
            <a:ext cx="1643700" cy="1535100"/>
          </a:xfrm>
          <a:prstGeom prst="rect">
            <a:avLst/>
          </a:prstGeom>
          <a:noFill/>
          <a:ln>
            <a:noFill/>
          </a:ln>
        </p:spPr>
      </p:sp>
      <p:sp>
        <p:nvSpPr>
          <p:cNvPr id="891" name="Google Shape;891;p96"/>
          <p:cNvSpPr/>
          <p:nvPr>
            <p:ph idx="7" type="pic"/>
          </p:nvPr>
        </p:nvSpPr>
        <p:spPr>
          <a:xfrm>
            <a:off x="7002257" y="1804212"/>
            <a:ext cx="1643700" cy="1535100"/>
          </a:xfrm>
          <a:prstGeom prst="rect">
            <a:avLst/>
          </a:prstGeom>
          <a:noFill/>
          <a:ln>
            <a:noFill/>
          </a:ln>
        </p:spPr>
      </p:sp>
      <p:sp>
        <p:nvSpPr>
          <p:cNvPr id="892" name="Google Shape;892;p9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3" name="Google Shape;893;p96"/>
          <p:cNvSpPr/>
          <p:nvPr>
            <p:ph idx="8" type="pic"/>
          </p:nvPr>
        </p:nvSpPr>
        <p:spPr>
          <a:xfrm>
            <a:off x="3389588" y="3489487"/>
            <a:ext cx="1643700" cy="1535100"/>
          </a:xfrm>
          <a:prstGeom prst="rect">
            <a:avLst/>
          </a:prstGeom>
          <a:noFill/>
          <a:ln>
            <a:noFill/>
          </a:ln>
        </p:spPr>
      </p:sp>
      <p:sp>
        <p:nvSpPr>
          <p:cNvPr id="894" name="Google Shape;894;p96"/>
          <p:cNvSpPr/>
          <p:nvPr>
            <p:ph idx="9" type="pic"/>
          </p:nvPr>
        </p:nvSpPr>
        <p:spPr>
          <a:xfrm>
            <a:off x="5195922" y="3489487"/>
            <a:ext cx="1643700" cy="1535100"/>
          </a:xfrm>
          <a:prstGeom prst="rect">
            <a:avLst/>
          </a:prstGeom>
          <a:noFill/>
          <a:ln>
            <a:noFill/>
          </a:ln>
        </p:spPr>
      </p:sp>
      <p:sp>
        <p:nvSpPr>
          <p:cNvPr id="895" name="Google Shape;895;p9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1.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1.xml"/><Relationship Id="rId42" Type="http://schemas.openxmlformats.org/officeDocument/2006/relationships/slideLayout" Target="../slideLayouts/slideLayout83.xml"/><Relationship Id="rId41" Type="http://schemas.openxmlformats.org/officeDocument/2006/relationships/slideLayout" Target="../slideLayouts/slideLayout82.xml"/><Relationship Id="rId44" Type="http://schemas.openxmlformats.org/officeDocument/2006/relationships/slideLayout" Target="../slideLayouts/slideLayout85.xml"/><Relationship Id="rId43" Type="http://schemas.openxmlformats.org/officeDocument/2006/relationships/slideLayout" Target="../slideLayouts/slideLayout84.xml"/><Relationship Id="rId46" Type="http://schemas.openxmlformats.org/officeDocument/2006/relationships/slideLayout" Target="../slideLayouts/slideLayout87.xml"/><Relationship Id="rId45" Type="http://schemas.openxmlformats.org/officeDocument/2006/relationships/slideLayout" Target="../slideLayouts/slideLayout86.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48" Type="http://schemas.openxmlformats.org/officeDocument/2006/relationships/slideLayout" Target="../slideLayouts/slideLayout89.xml"/><Relationship Id="rId47" Type="http://schemas.openxmlformats.org/officeDocument/2006/relationships/slideLayout" Target="../slideLayouts/slideLayout88.xml"/><Relationship Id="rId49" Type="http://schemas.openxmlformats.org/officeDocument/2006/relationships/slideLayout" Target="../slideLayouts/slideLayout90.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31" Type="http://schemas.openxmlformats.org/officeDocument/2006/relationships/slideLayout" Target="../slideLayouts/slideLayout72.xml"/><Relationship Id="rId30" Type="http://schemas.openxmlformats.org/officeDocument/2006/relationships/slideLayout" Target="../slideLayouts/slideLayout71.xml"/><Relationship Id="rId33" Type="http://schemas.openxmlformats.org/officeDocument/2006/relationships/slideLayout" Target="../slideLayouts/slideLayout74.xml"/><Relationship Id="rId32" Type="http://schemas.openxmlformats.org/officeDocument/2006/relationships/slideLayout" Target="../slideLayouts/slideLayout73.xml"/><Relationship Id="rId35" Type="http://schemas.openxmlformats.org/officeDocument/2006/relationships/slideLayout" Target="../slideLayouts/slideLayout76.xml"/><Relationship Id="rId34" Type="http://schemas.openxmlformats.org/officeDocument/2006/relationships/slideLayout" Target="../slideLayouts/slideLayout75.xml"/><Relationship Id="rId37" Type="http://schemas.openxmlformats.org/officeDocument/2006/relationships/slideLayout" Target="../slideLayouts/slideLayout78.xml"/><Relationship Id="rId36" Type="http://schemas.openxmlformats.org/officeDocument/2006/relationships/slideLayout" Target="../slideLayouts/slideLayout77.xml"/><Relationship Id="rId39" Type="http://schemas.openxmlformats.org/officeDocument/2006/relationships/slideLayout" Target="../slideLayouts/slideLayout80.xml"/><Relationship Id="rId38" Type="http://schemas.openxmlformats.org/officeDocument/2006/relationships/slideLayout" Target="../slideLayouts/slideLayout79.xml"/><Relationship Id="rId20" Type="http://schemas.openxmlformats.org/officeDocument/2006/relationships/slideLayout" Target="../slideLayouts/slideLayout61.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28" Type="http://schemas.openxmlformats.org/officeDocument/2006/relationships/slideLayout" Target="../slideLayouts/slideLayout69.xml"/><Relationship Id="rId27" Type="http://schemas.openxmlformats.org/officeDocument/2006/relationships/slideLayout" Target="../slideLayouts/slideLayout68.xml"/><Relationship Id="rId29" Type="http://schemas.openxmlformats.org/officeDocument/2006/relationships/slideLayout" Target="../slideLayouts/slideLayout70.xml"/><Relationship Id="rId51" Type="http://schemas.openxmlformats.org/officeDocument/2006/relationships/slideLayout" Target="../slideLayouts/slideLayout92.xml"/><Relationship Id="rId50" Type="http://schemas.openxmlformats.org/officeDocument/2006/relationships/slideLayout" Target="../slideLayouts/slideLayout91.xml"/><Relationship Id="rId53" Type="http://schemas.openxmlformats.org/officeDocument/2006/relationships/slideLayout" Target="../slideLayouts/slideLayout94.xml"/><Relationship Id="rId52" Type="http://schemas.openxmlformats.org/officeDocument/2006/relationships/slideLayout" Target="../slideLayouts/slideLayout93.xml"/><Relationship Id="rId11" Type="http://schemas.openxmlformats.org/officeDocument/2006/relationships/slideLayout" Target="../slideLayouts/slideLayout52.xml"/><Relationship Id="rId10" Type="http://schemas.openxmlformats.org/officeDocument/2006/relationships/slideLayout" Target="../slideLayouts/slideLayout51.xml"/><Relationship Id="rId54" Type="http://schemas.openxmlformats.org/officeDocument/2006/relationships/theme" Target="../theme/theme3.xml"/><Relationship Id="rId13" Type="http://schemas.openxmlformats.org/officeDocument/2006/relationships/slideLayout" Target="../slideLayouts/slideLayout54.xml"/><Relationship Id="rId12" Type="http://schemas.openxmlformats.org/officeDocument/2006/relationships/slideLayout" Target="../slideLayouts/slideLayout53.xml"/><Relationship Id="rId15" Type="http://schemas.openxmlformats.org/officeDocument/2006/relationships/slideLayout" Target="../slideLayouts/slideLayout56.xml"/><Relationship Id="rId14" Type="http://schemas.openxmlformats.org/officeDocument/2006/relationships/slideLayout" Target="../slideLayouts/slideLayout55.xml"/><Relationship Id="rId17" Type="http://schemas.openxmlformats.org/officeDocument/2006/relationships/slideLayout" Target="../slideLayouts/slideLayout58.xml"/><Relationship Id="rId16" Type="http://schemas.openxmlformats.org/officeDocument/2006/relationships/slideLayout" Target="../slideLayouts/slideLayout57.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7" name="Google Shape;7;p1"/>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8" name="Google Shape;8;p1"/>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44" name="Shape 544"/>
        <p:cNvGrpSpPr/>
        <p:nvPr/>
      </p:nvGrpSpPr>
      <p:grpSpPr>
        <a:xfrm>
          <a:off x="0" y="0"/>
          <a:ext cx="0" cy="0"/>
          <a:chOff x="0" y="0"/>
          <a:chExt cx="0" cy="0"/>
        </a:xfrm>
      </p:grpSpPr>
      <p:sp>
        <p:nvSpPr>
          <p:cNvPr id="545" name="Google Shape;545;p43"/>
          <p:cNvSpPr txBox="1"/>
          <p:nvPr>
            <p:ph type="title"/>
          </p:nvPr>
        </p:nvSpPr>
        <p:spPr>
          <a:xfrm>
            <a:off x="347550" y="425875"/>
            <a:ext cx="2916300" cy="128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400"/>
              <a:buFont typeface="Nanum Myeongjo"/>
              <a:buNone/>
              <a:defRPr sz="2400">
                <a:solidFill>
                  <a:schemeClr val="lt1"/>
                </a:solidFill>
                <a:latin typeface="Nanum Myeongjo"/>
                <a:ea typeface="Nanum Myeongjo"/>
                <a:cs typeface="Nanum Myeongjo"/>
                <a:sym typeface="Nanum Myeongjo"/>
              </a:defRPr>
            </a:lvl1pPr>
            <a:lvl2pPr lvl="1">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2pPr>
            <a:lvl3pPr lvl="2">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3pPr>
            <a:lvl4pPr lvl="3">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4pPr>
            <a:lvl5pPr lvl="4">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5pPr>
            <a:lvl6pPr lvl="5">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6pPr>
            <a:lvl7pPr lvl="6">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7pPr>
            <a:lvl8pPr lvl="7">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8pPr>
            <a:lvl9pPr lvl="8">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9pPr>
          </a:lstStyle>
          <a:p/>
        </p:txBody>
      </p:sp>
      <p:sp>
        <p:nvSpPr>
          <p:cNvPr id="546" name="Google Shape;546;p43"/>
          <p:cNvSpPr txBox="1"/>
          <p:nvPr>
            <p:ph idx="1" type="body"/>
          </p:nvPr>
        </p:nvSpPr>
        <p:spPr>
          <a:xfrm>
            <a:off x="347550" y="1714375"/>
            <a:ext cx="5780700" cy="29163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1pPr>
            <a:lvl2pPr indent="-317500" lvl="1" marL="9144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2pPr>
            <a:lvl3pPr indent="-317500" lvl="2" marL="13716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3pPr>
            <a:lvl4pPr indent="-317500" lvl="3" marL="18288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4pPr>
            <a:lvl5pPr indent="-317500" lvl="4" marL="22860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5pPr>
            <a:lvl6pPr indent="-317500" lvl="5" marL="27432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6pPr>
            <a:lvl7pPr indent="-317500" lvl="6" marL="32004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7pPr>
            <a:lvl8pPr indent="-317500" lvl="7" marL="36576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8pPr>
            <a:lvl9pPr indent="-317500" lvl="8" marL="41148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 id="2147483730" r:id="rId42"/>
    <p:sldLayoutId id="2147483731" r:id="rId43"/>
    <p:sldLayoutId id="2147483732" r:id="rId44"/>
    <p:sldLayoutId id="2147483733" r:id="rId45"/>
    <p:sldLayoutId id="2147483734" r:id="rId46"/>
    <p:sldLayoutId id="2147483735" r:id="rId47"/>
    <p:sldLayoutId id="2147483736" r:id="rId48"/>
    <p:sldLayoutId id="2147483737" r:id="rId49"/>
    <p:sldLayoutId id="2147483738" r:id="rId50"/>
    <p:sldLayoutId id="2147483739" r:id="rId51"/>
    <p:sldLayoutId id="2147483740" r:id="rId52"/>
    <p:sldLayoutId id="214748374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19">
          <p15:clr>
            <a:srgbClr val="E46962"/>
          </p15:clr>
        </p15:guide>
        <p15:guide id="2" pos="593">
          <p15:clr>
            <a:srgbClr val="E46962"/>
          </p15:clr>
        </p15:guide>
        <p15:guide id="3" pos="669">
          <p15:clr>
            <a:srgbClr val="E46962"/>
          </p15:clr>
        </p15:guide>
        <p15:guide id="4" pos="1044">
          <p15:clr>
            <a:srgbClr val="E46962"/>
          </p15:clr>
        </p15:guide>
        <p15:guide id="5" pos="1119">
          <p15:clr>
            <a:srgbClr val="E46962"/>
          </p15:clr>
        </p15:guide>
        <p15:guide id="6" pos="1494">
          <p15:clr>
            <a:srgbClr val="E46962"/>
          </p15:clr>
        </p15:guide>
        <p15:guide id="7" pos="1569">
          <p15:clr>
            <a:srgbClr val="E46962"/>
          </p15:clr>
        </p15:guide>
        <p15:guide id="8" pos="1944">
          <p15:clr>
            <a:srgbClr val="E46962"/>
          </p15:clr>
        </p15:guide>
        <p15:guide id="9" pos="2019">
          <p15:clr>
            <a:srgbClr val="E46962"/>
          </p15:clr>
        </p15:guide>
        <p15:guide id="10" pos="2394">
          <p15:clr>
            <a:srgbClr val="E46962"/>
          </p15:clr>
        </p15:guide>
        <p15:guide id="11" pos="2469">
          <p15:clr>
            <a:srgbClr val="E46962"/>
          </p15:clr>
        </p15:guide>
        <p15:guide id="12" pos="2844">
          <p15:clr>
            <a:srgbClr val="E46962"/>
          </p15:clr>
        </p15:guide>
        <p15:guide id="13" pos="2919">
          <p15:clr>
            <a:srgbClr val="E46962"/>
          </p15:clr>
        </p15:guide>
        <p15:guide id="14" pos="3294">
          <p15:clr>
            <a:srgbClr val="E46962"/>
          </p15:clr>
        </p15:guide>
        <p15:guide id="15" pos="3370">
          <p15:clr>
            <a:srgbClr val="E46962"/>
          </p15:clr>
        </p15:guide>
        <p15:guide id="16" pos="3744">
          <p15:clr>
            <a:srgbClr val="E46962"/>
          </p15:clr>
        </p15:guide>
        <p15:guide id="17" pos="3820">
          <p15:clr>
            <a:srgbClr val="E46962"/>
          </p15:clr>
        </p15:guide>
        <p15:guide id="18" pos="4194">
          <p15:clr>
            <a:srgbClr val="E46962"/>
          </p15:clr>
        </p15:guide>
        <p15:guide id="19" pos="4270">
          <p15:clr>
            <a:srgbClr val="E46962"/>
          </p15:clr>
        </p15:guide>
        <p15:guide id="20" pos="4644">
          <p15:clr>
            <a:srgbClr val="E46962"/>
          </p15:clr>
        </p15:guide>
        <p15:guide id="21" pos="4720">
          <p15:clr>
            <a:srgbClr val="E46962"/>
          </p15:clr>
        </p15:guide>
        <p15:guide id="22" pos="5094">
          <p15:clr>
            <a:srgbClr val="E46962"/>
          </p15:clr>
        </p15:guide>
        <p15:guide id="23" pos="5170">
          <p15:clr>
            <a:srgbClr val="E46962"/>
          </p15:clr>
        </p15:guide>
        <p15:guide id="24" pos="5544">
          <p15:clr>
            <a:srgbClr val="E46962"/>
          </p15:clr>
        </p15:guide>
        <p15:guide id="25" orient="horz" pos="141">
          <p15:clr>
            <a:srgbClr val="E46962"/>
          </p15:clr>
        </p15:guide>
        <p15:guide id="26" orient="horz" pos="3099">
          <p15:clr>
            <a:srgbClr val="E46962"/>
          </p15:clr>
        </p15:guide>
        <p15:guide id="27" pos="144">
          <p15:clr>
            <a:srgbClr val="E46962"/>
          </p15:clr>
        </p15:guide>
        <p15:guide id="28" pos="561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xml"/><Relationship Id="rId3" Type="http://schemas.openxmlformats.org/officeDocument/2006/relationships/hyperlink" Target="mailto:arzuergen@hotmail.com" TargetMode="External"/><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97"/>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01" name="Google Shape;901;p97"/>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06666"/>
                </a:solidFill>
              </a:rPr>
              <a:t>GROUP 5</a:t>
            </a:r>
            <a:endParaRPr>
              <a:solidFill>
                <a:srgbClr val="E06666"/>
              </a:solidFill>
            </a:endParaRPr>
          </a:p>
        </p:txBody>
      </p:sp>
      <p:sp>
        <p:nvSpPr>
          <p:cNvPr id="902" name="Google Shape;902;p97"/>
          <p:cNvSpPr txBox="1"/>
          <p:nvPr>
            <p:ph type="title"/>
          </p:nvPr>
        </p:nvSpPr>
        <p:spPr>
          <a:xfrm>
            <a:off x="3780300" y="889050"/>
            <a:ext cx="4816500" cy="186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700"/>
              <a:t>Burlington Corporation</a:t>
            </a:r>
            <a:endParaRPr sz="6700"/>
          </a:p>
          <a:p>
            <a:pPr indent="0" lvl="0" marL="0" rtl="0" algn="l">
              <a:spcBef>
                <a:spcPts val="0"/>
              </a:spcBef>
              <a:spcAft>
                <a:spcPts val="0"/>
              </a:spcAft>
              <a:buNone/>
            </a:pPr>
            <a:r>
              <a:t/>
            </a:r>
            <a:endParaRPr sz="2500"/>
          </a:p>
          <a:p>
            <a:pPr indent="0" lvl="0" marL="0" rtl="0" algn="l">
              <a:spcBef>
                <a:spcPts val="0"/>
              </a:spcBef>
              <a:spcAft>
                <a:spcPts val="0"/>
              </a:spcAft>
              <a:buNone/>
            </a:pPr>
            <a:r>
              <a:rPr lang="en" sz="2500"/>
              <a:t>Garfield, NJ</a:t>
            </a:r>
            <a:endParaRPr sz="2500"/>
          </a:p>
        </p:txBody>
      </p:sp>
      <p:sp>
        <p:nvSpPr>
          <p:cNvPr id="903" name="Google Shape;903;p97"/>
          <p:cNvSpPr txBox="1"/>
          <p:nvPr>
            <p:ph idx="1" type="subTitle"/>
          </p:nvPr>
        </p:nvSpPr>
        <p:spPr>
          <a:xfrm>
            <a:off x="3827748" y="4016050"/>
            <a:ext cx="5031300" cy="90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Contributors</a:t>
            </a:r>
            <a:endParaRPr b="1"/>
          </a:p>
          <a:p>
            <a:pPr indent="0" lvl="0" marL="0" rtl="0" algn="l">
              <a:spcBef>
                <a:spcPts val="0"/>
              </a:spcBef>
              <a:spcAft>
                <a:spcPts val="0"/>
              </a:spcAft>
              <a:buNone/>
            </a:pPr>
            <a:r>
              <a:rPr lang="en"/>
              <a:t>Carley Thompson, Lara Ergen, Alex Sendecki, Tyce Cannon, Mayuri Acharya</a:t>
            </a:r>
            <a:endParaRPr/>
          </a:p>
        </p:txBody>
      </p:sp>
      <p:pic>
        <p:nvPicPr>
          <p:cNvPr descr="File:Burlington San Antonio - Culebra Market.jpg - Wikipedia" id="904" name="Google Shape;904;p97"/>
          <p:cNvPicPr preferRelativeResize="0"/>
          <p:nvPr>
            <p:ph idx="5" type="pic"/>
          </p:nvPr>
        </p:nvPicPr>
        <p:blipFill rotWithShape="1">
          <a:blip r:embed="rId3">
            <a:alphaModFix/>
          </a:blip>
          <a:srcRect b="0" l="6063" r="6063" t="0"/>
          <a:stretch/>
        </p:blipFill>
        <p:spPr>
          <a:xfrm>
            <a:off x="228600" y="223475"/>
            <a:ext cx="2857200" cy="2348100"/>
          </a:xfrm>
          <a:prstGeom prst="round2SameRect">
            <a:avLst>
              <a:gd fmla="val 16667" name="adj1"/>
              <a:gd fmla="val 0" name="adj2"/>
            </a:avLst>
          </a:prstGeom>
        </p:spPr>
      </p:pic>
      <p:pic>
        <p:nvPicPr>
          <p:cNvPr descr="Burlington Coat Factory | Burlington Coat Factory pics by Mi… | Flickr" id="905" name="Google Shape;905;p97"/>
          <p:cNvPicPr preferRelativeResize="0"/>
          <p:nvPr>
            <p:ph idx="6" type="pic"/>
          </p:nvPr>
        </p:nvPicPr>
        <p:blipFill rotWithShape="1">
          <a:blip r:embed="rId4">
            <a:alphaModFix/>
          </a:blip>
          <a:srcRect b="0" l="4545" r="4554" t="0"/>
          <a:stretch/>
        </p:blipFill>
        <p:spPr>
          <a:xfrm>
            <a:off x="228600" y="2564446"/>
            <a:ext cx="2857200" cy="2348100"/>
          </a:xfrm>
          <a:prstGeom prst="round2SameRect">
            <a:avLst>
              <a:gd fmla="val 0" name="adj1"/>
              <a:gd fmla="val 6437" name="adj2"/>
            </a:avLst>
          </a:prstGeom>
        </p:spPr>
      </p:pic>
      <p:sp>
        <p:nvSpPr>
          <p:cNvPr id="906" name="Google Shape;906;p97"/>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907" name="Google Shape;907;p97"/>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98"/>
          <p:cNvSpPr/>
          <p:nvPr/>
        </p:nvSpPr>
        <p:spPr>
          <a:xfrm>
            <a:off x="7158725"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13" name="Google Shape;913;p98"/>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914" name="Google Shape;914;p98"/>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915" name="Google Shape;915;p98"/>
          <p:cNvSpPr txBox="1"/>
          <p:nvPr>
            <p:ph idx="1" type="body"/>
          </p:nvPr>
        </p:nvSpPr>
        <p:spPr>
          <a:xfrm>
            <a:off x="564675" y="780675"/>
            <a:ext cx="3729900" cy="23073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Burlington is a national off-price retail store specializing in popular brands at discounted costs.</a:t>
            </a:r>
            <a:endParaRPr>
              <a:solidFill>
                <a:srgbClr val="FFFFFF"/>
              </a:solidFill>
            </a:endParaRPr>
          </a:p>
          <a:p>
            <a:pPr indent="0" lvl="0" marL="0" rtl="0" algn="l">
              <a:spcBef>
                <a:spcPts val="1200"/>
              </a:spcBef>
              <a:spcAft>
                <a:spcPts val="0"/>
              </a:spcAft>
              <a:buNone/>
            </a:pPr>
            <a:r>
              <a:rPr lang="en" sz="900">
                <a:solidFill>
                  <a:srgbClr val="FFFFFF"/>
                </a:solidFill>
              </a:rPr>
              <a:t>“The premier off price retailer” (Our History | Burlington Stores, Inc.)</a:t>
            </a:r>
            <a:endParaRPr sz="900">
              <a:solidFill>
                <a:srgbClr val="FFFFFF"/>
              </a:solidFill>
            </a:endParaRPr>
          </a:p>
          <a:p>
            <a:pPr indent="0" lvl="0" marL="0" rtl="0" algn="l">
              <a:spcBef>
                <a:spcPts val="1200"/>
              </a:spcBef>
              <a:spcAft>
                <a:spcPts val="0"/>
              </a:spcAft>
              <a:buNone/>
            </a:pPr>
            <a:r>
              <a:t/>
            </a:r>
            <a:endParaRPr/>
          </a:p>
        </p:txBody>
      </p:sp>
      <p:sp>
        <p:nvSpPr>
          <p:cNvPr id="916" name="Google Shape;916;p98"/>
          <p:cNvSpPr txBox="1"/>
          <p:nvPr>
            <p:ph type="title"/>
          </p:nvPr>
        </p:nvSpPr>
        <p:spPr>
          <a:xfrm>
            <a:off x="1058013" y="30730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dk2"/>
                </a:solidFill>
              </a:rPr>
              <a:t>Company Access</a:t>
            </a:r>
            <a:endParaRPr sz="2100">
              <a:solidFill>
                <a:schemeClr val="dk2"/>
              </a:solidFill>
            </a:endParaRPr>
          </a:p>
        </p:txBody>
      </p:sp>
      <p:sp>
        <p:nvSpPr>
          <p:cNvPr id="917" name="Google Shape;917;p98"/>
          <p:cNvSpPr txBox="1"/>
          <p:nvPr>
            <p:ph idx="2" type="body"/>
          </p:nvPr>
        </p:nvSpPr>
        <p:spPr>
          <a:xfrm>
            <a:off x="5235225" y="824225"/>
            <a:ext cx="3321600" cy="3470400"/>
          </a:xfrm>
          <a:prstGeom prst="rect">
            <a:avLst/>
          </a:prstGeom>
          <a:solidFill>
            <a:srgbClr val="000000"/>
          </a:solidFill>
          <a:ln cap="flat" cmpd="sng" w="38100">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Founded in 1972 in Burlington, NJ</a:t>
            </a:r>
            <a:endParaRPr>
              <a:solidFill>
                <a:srgbClr val="FFFFFF"/>
              </a:solidFill>
            </a:endParaRPr>
          </a:p>
          <a:p>
            <a:pPr indent="0" lvl="0" marL="0" rtl="0" algn="l">
              <a:spcBef>
                <a:spcPts val="1000"/>
              </a:spcBef>
              <a:spcAft>
                <a:spcPts val="0"/>
              </a:spcAft>
              <a:buNone/>
            </a:pPr>
            <a:r>
              <a:rPr lang="en">
                <a:solidFill>
                  <a:srgbClr val="FFFFFF"/>
                </a:solidFill>
              </a:rPr>
              <a:t>By </a:t>
            </a:r>
            <a:r>
              <a:rPr lang="en">
                <a:solidFill>
                  <a:srgbClr val="FFFFFF"/>
                </a:solidFill>
              </a:rPr>
              <a:t>Monroe</a:t>
            </a:r>
            <a:r>
              <a:rPr lang="en">
                <a:solidFill>
                  <a:srgbClr val="FFFFFF"/>
                </a:solidFill>
              </a:rPr>
              <a:t> and Henrietta Milstein</a:t>
            </a:r>
            <a:endParaRPr>
              <a:solidFill>
                <a:srgbClr val="FFFFFF"/>
              </a:solidFill>
            </a:endParaRPr>
          </a:p>
          <a:p>
            <a:pPr indent="0" lvl="0" marL="0" rtl="0" algn="l">
              <a:spcBef>
                <a:spcPts val="1000"/>
              </a:spcBef>
              <a:spcAft>
                <a:spcPts val="0"/>
              </a:spcAft>
              <a:buNone/>
            </a:pPr>
            <a:r>
              <a:rPr lang="en">
                <a:solidFill>
                  <a:srgbClr val="FFFFFF"/>
                </a:solidFill>
              </a:rPr>
              <a:t>Garfield location (opened in 2016): 174 </a:t>
            </a:r>
            <a:r>
              <a:rPr lang="en">
                <a:solidFill>
                  <a:srgbClr val="FFFFFF"/>
                </a:solidFill>
              </a:rPr>
              <a:t>Passaic</a:t>
            </a:r>
            <a:r>
              <a:rPr lang="en">
                <a:solidFill>
                  <a:srgbClr val="FFFFFF"/>
                </a:solidFill>
              </a:rPr>
              <a:t> Street, Suite 252, Garfield NJ 07026</a:t>
            </a:r>
            <a:endParaRPr>
              <a:solidFill>
                <a:srgbClr val="FFFFFF"/>
              </a:solidFill>
            </a:endParaRPr>
          </a:p>
          <a:p>
            <a:pPr indent="0" lvl="0" marL="0" rtl="0" algn="l">
              <a:spcBef>
                <a:spcPts val="1000"/>
              </a:spcBef>
              <a:spcAft>
                <a:spcPts val="0"/>
              </a:spcAft>
              <a:buNone/>
            </a:pPr>
            <a:r>
              <a:rPr lang="en">
                <a:solidFill>
                  <a:srgbClr val="FFFFFF"/>
                </a:solidFill>
              </a:rPr>
              <a:t>Nationally 1,212 stores</a:t>
            </a:r>
            <a:endParaRPr>
              <a:solidFill>
                <a:srgbClr val="FFFFFF"/>
              </a:solidFill>
            </a:endParaRPr>
          </a:p>
          <a:p>
            <a:pPr indent="0" lvl="0" marL="0" rtl="0" algn="l">
              <a:spcBef>
                <a:spcPts val="1000"/>
              </a:spcBef>
              <a:spcAft>
                <a:spcPts val="0"/>
              </a:spcAft>
              <a:buNone/>
            </a:pPr>
            <a:r>
              <a:t/>
            </a:r>
            <a:endParaRPr>
              <a:solidFill>
                <a:srgbClr val="FFFFFF"/>
              </a:solidFill>
            </a:endParaRPr>
          </a:p>
          <a:p>
            <a:pPr indent="0" lvl="0" marL="0" rtl="0" algn="l">
              <a:spcBef>
                <a:spcPts val="1000"/>
              </a:spcBef>
              <a:spcAft>
                <a:spcPts val="0"/>
              </a:spcAft>
              <a:buNone/>
            </a:pPr>
            <a:r>
              <a:rPr lang="en">
                <a:solidFill>
                  <a:srgbClr val="FFFFFF"/>
                </a:solidFill>
              </a:rPr>
              <a:t>Main Contact: Arzu Ergen</a:t>
            </a:r>
            <a:endParaRPr>
              <a:solidFill>
                <a:srgbClr val="FFFFFF"/>
              </a:solidFill>
            </a:endParaRPr>
          </a:p>
          <a:p>
            <a:pPr indent="0" lvl="0" marL="0" rtl="0" algn="l">
              <a:spcBef>
                <a:spcPts val="1000"/>
              </a:spcBef>
              <a:spcAft>
                <a:spcPts val="0"/>
              </a:spcAft>
              <a:buNone/>
            </a:pPr>
            <a:r>
              <a:rPr lang="en">
                <a:solidFill>
                  <a:srgbClr val="FFFFFF"/>
                </a:solidFill>
              </a:rPr>
              <a:t>Store Manager</a:t>
            </a:r>
            <a:endParaRPr>
              <a:solidFill>
                <a:srgbClr val="FFFFFF"/>
              </a:solidFill>
            </a:endParaRPr>
          </a:p>
          <a:p>
            <a:pPr indent="0" lvl="0" marL="0" rtl="0" algn="l">
              <a:spcBef>
                <a:spcPts val="1000"/>
              </a:spcBef>
              <a:spcAft>
                <a:spcPts val="0"/>
              </a:spcAft>
              <a:buNone/>
            </a:pPr>
            <a:r>
              <a:rPr lang="en" u="sng">
                <a:solidFill>
                  <a:srgbClr val="FFFFFF"/>
                </a:solidFill>
                <a:hlinkClick r:id="rId3">
                  <a:extLst>
                    <a:ext uri="{A12FA001-AC4F-418D-AE19-62706E023703}">
                      <ahyp:hlinkClr val="tx"/>
                    </a:ext>
                  </a:extLst>
                </a:hlinkClick>
              </a:rPr>
              <a:t>arzuergen@hotmail.com</a:t>
            </a:r>
            <a:endParaRPr>
              <a:solidFill>
                <a:srgbClr val="FFFFFF"/>
              </a:solidFill>
            </a:endParaRPr>
          </a:p>
          <a:p>
            <a:pPr indent="0" lvl="0" marL="0" rtl="0" algn="l">
              <a:spcBef>
                <a:spcPts val="1000"/>
              </a:spcBef>
              <a:spcAft>
                <a:spcPts val="1000"/>
              </a:spcAft>
              <a:buNone/>
            </a:pPr>
            <a:r>
              <a:t/>
            </a:r>
            <a:endParaRPr/>
          </a:p>
        </p:txBody>
      </p:sp>
      <p:sp>
        <p:nvSpPr>
          <p:cNvPr id="918" name="Google Shape;918;p98"/>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919" name="Google Shape;919;p98"/>
          <p:cNvSpPr/>
          <p:nvPr/>
        </p:nvSpPr>
        <p:spPr>
          <a:xfrm>
            <a:off x="57206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20" name="Google Shape;920;p98"/>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pic>
        <p:nvPicPr>
          <p:cNvPr descr="Hexagonal icon." id="921" name="Google Shape;921;p98"/>
          <p:cNvPicPr preferRelativeResize="0"/>
          <p:nvPr>
            <p:ph idx="3" type="pic"/>
          </p:nvPr>
        </p:nvPicPr>
        <p:blipFill rotWithShape="1">
          <a:blip r:embed="rId4">
            <a:alphaModFix/>
          </a:blip>
          <a:srcRect b="6598" l="0" r="0" t="6589"/>
          <a:stretch/>
        </p:blipFill>
        <p:spPr>
          <a:xfrm>
            <a:off x="8596800" y="223475"/>
            <a:ext cx="318600" cy="318600"/>
          </a:xfrm>
          <a:prstGeom prst="ellipse">
            <a:avLst/>
          </a:prstGeom>
        </p:spPr>
      </p:pic>
      <p:pic>
        <p:nvPicPr>
          <p:cNvPr id="922" name="Google Shape;922;p98"/>
          <p:cNvPicPr preferRelativeResize="0"/>
          <p:nvPr/>
        </p:nvPicPr>
        <p:blipFill>
          <a:blip r:embed="rId5">
            <a:alphaModFix/>
          </a:blip>
          <a:stretch>
            <a:fillRect/>
          </a:stretch>
        </p:blipFill>
        <p:spPr>
          <a:xfrm>
            <a:off x="1271475" y="3275925"/>
            <a:ext cx="2316300" cy="1613700"/>
          </a:xfrm>
          <a:prstGeom prst="roundRect">
            <a:avLst>
              <a:gd fmla="val 16667" name="adj"/>
            </a:avLst>
          </a:prstGeom>
          <a:noFill/>
          <a:ln>
            <a:noFill/>
          </a:ln>
        </p:spPr>
      </p:pic>
      <p:sp>
        <p:nvSpPr>
          <p:cNvPr id="923" name="Google Shape;923;p98"/>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24" name="Google Shape;924;p98"/>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925" name="Google Shape;925;p98"/>
          <p:cNvSpPr txBox="1"/>
          <p:nvPr>
            <p:ph idx="2" type="sldNum"/>
          </p:nvPr>
        </p:nvSpPr>
        <p:spPr>
          <a:xfrm>
            <a:off x="8501618"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rgbClr val="FFFFFF"/>
                </a:solidFill>
                <a:latin typeface="Albert Sans"/>
                <a:ea typeface="Albert Sans"/>
                <a:cs typeface="Albert Sans"/>
                <a:sym typeface="Albert Sans"/>
              </a:rPr>
              <a:t>‹#›</a:t>
            </a:fld>
            <a:endParaRPr sz="1000">
              <a:solidFill>
                <a:srgbClr val="FFFFFF"/>
              </a:solidFill>
              <a:latin typeface="Albert Sans"/>
              <a:ea typeface="Albert Sans"/>
              <a:cs typeface="Albert Sans"/>
              <a:sym typeface="Albert Sans"/>
            </a:endParaRPr>
          </a:p>
        </p:txBody>
      </p:sp>
      <p:sp>
        <p:nvSpPr>
          <p:cNvPr id="926" name="Google Shape;926;p98"/>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sp>
        <p:nvSpPr>
          <p:cNvPr id="927" name="Google Shape;927;p98"/>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latin typeface="Albert Sans"/>
              <a:ea typeface="Albert Sans"/>
              <a:cs typeface="Albert Sans"/>
              <a:sym typeface="Albert Sans"/>
            </a:endParaRPr>
          </a:p>
        </p:txBody>
      </p:sp>
      <p:sp>
        <p:nvSpPr>
          <p:cNvPr id="928" name="Google Shape;928;p98"/>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929" name="Google Shape;929;p98"/>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30" name="Google Shape;930;p98"/>
          <p:cNvSpPr txBox="1"/>
          <p:nvPr/>
        </p:nvSpPr>
        <p:spPr>
          <a:xfrm>
            <a:off x="5730000" y="462415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931" name="Google Shape;931;p98"/>
          <p:cNvSpPr/>
          <p:nvPr/>
        </p:nvSpPr>
        <p:spPr>
          <a:xfrm>
            <a:off x="4398775" y="1757525"/>
            <a:ext cx="743400" cy="3186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99"/>
          <p:cNvSpPr/>
          <p:nvPr/>
        </p:nvSpPr>
        <p:spPr>
          <a:xfrm>
            <a:off x="7158725"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37" name="Google Shape;937;p99"/>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938" name="Google Shape;938;p99"/>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939" name="Google Shape;939;p99"/>
          <p:cNvSpPr txBox="1"/>
          <p:nvPr>
            <p:ph idx="1" type="body"/>
          </p:nvPr>
        </p:nvSpPr>
        <p:spPr>
          <a:xfrm>
            <a:off x="146550" y="524550"/>
            <a:ext cx="8573100" cy="4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Off-Price Retail Industry + Burlington Workforce Trends</a:t>
            </a:r>
            <a:endParaRPr sz="1600"/>
          </a:p>
        </p:txBody>
      </p:sp>
      <p:sp>
        <p:nvSpPr>
          <p:cNvPr id="940" name="Google Shape;940;p99"/>
          <p:cNvSpPr txBox="1"/>
          <p:nvPr>
            <p:ph type="title"/>
          </p:nvPr>
        </p:nvSpPr>
        <p:spPr>
          <a:xfrm>
            <a:off x="146550" y="109475"/>
            <a:ext cx="7070400" cy="546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2"/>
                </a:solidFill>
              </a:rPr>
              <a:t>Background Information and Secondary Data</a:t>
            </a:r>
            <a:endParaRPr sz="2400">
              <a:solidFill>
                <a:schemeClr val="dk2"/>
              </a:solidFill>
            </a:endParaRPr>
          </a:p>
        </p:txBody>
      </p:sp>
      <p:sp>
        <p:nvSpPr>
          <p:cNvPr id="941" name="Google Shape;941;p99"/>
          <p:cNvSpPr txBox="1"/>
          <p:nvPr>
            <p:ph idx="2" type="body"/>
          </p:nvPr>
        </p:nvSpPr>
        <p:spPr>
          <a:xfrm>
            <a:off x="75" y="4696050"/>
            <a:ext cx="5637000" cy="4479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100"/>
              <a:t>Sources: Burlington Stores, inc, Business Research Insights, Garje, Yahoo Finance</a:t>
            </a:r>
            <a:endParaRPr sz="1100"/>
          </a:p>
        </p:txBody>
      </p:sp>
      <p:pic>
        <p:nvPicPr>
          <p:cNvPr descr="Hexagonal icon." id="942" name="Google Shape;942;p99"/>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943" name="Google Shape;943;p99"/>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Company Overview</a:t>
            </a:r>
            <a:endParaRPr/>
          </a:p>
        </p:txBody>
      </p:sp>
      <p:sp>
        <p:nvSpPr>
          <p:cNvPr id="944" name="Google Shape;944;p99"/>
          <p:cNvSpPr/>
          <p:nvPr/>
        </p:nvSpPr>
        <p:spPr>
          <a:xfrm>
            <a:off x="57206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45" name="Google Shape;945;p99"/>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946" name="Google Shape;946;p99"/>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47" name="Google Shape;947;p99"/>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948" name="Google Shape;948;p99"/>
          <p:cNvSpPr txBox="1"/>
          <p:nvPr>
            <p:ph idx="2" type="sldNum"/>
          </p:nvPr>
        </p:nvSpPr>
        <p:spPr>
          <a:xfrm>
            <a:off x="8501618"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rgbClr val="FFFFFF"/>
                </a:solidFill>
                <a:latin typeface="Albert Sans"/>
                <a:ea typeface="Albert Sans"/>
                <a:cs typeface="Albert Sans"/>
                <a:sym typeface="Albert Sans"/>
              </a:rPr>
              <a:t>‹#›</a:t>
            </a:fld>
            <a:endParaRPr sz="1000">
              <a:solidFill>
                <a:srgbClr val="FFFFFF"/>
              </a:solidFill>
              <a:latin typeface="Albert Sans"/>
              <a:ea typeface="Albert Sans"/>
              <a:cs typeface="Albert Sans"/>
              <a:sym typeface="Albert Sans"/>
            </a:endParaRPr>
          </a:p>
        </p:txBody>
      </p:sp>
      <p:sp>
        <p:nvSpPr>
          <p:cNvPr id="949" name="Google Shape;949;p99"/>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sp>
        <p:nvSpPr>
          <p:cNvPr id="950" name="Google Shape;950;p99"/>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latin typeface="Albert Sans"/>
              <a:ea typeface="Albert Sans"/>
              <a:cs typeface="Albert Sans"/>
              <a:sym typeface="Albert Sans"/>
            </a:endParaRPr>
          </a:p>
        </p:txBody>
      </p:sp>
      <p:sp>
        <p:nvSpPr>
          <p:cNvPr id="951" name="Google Shape;951;p99"/>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952" name="Google Shape;952;p99"/>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53" name="Google Shape;953;p99"/>
          <p:cNvSpPr txBox="1"/>
          <p:nvPr/>
        </p:nvSpPr>
        <p:spPr>
          <a:xfrm>
            <a:off x="5730000" y="462415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954" name="Google Shape;954;p99"/>
          <p:cNvSpPr txBox="1"/>
          <p:nvPr/>
        </p:nvSpPr>
        <p:spPr>
          <a:xfrm>
            <a:off x="146550" y="1328002"/>
            <a:ext cx="4358400" cy="30861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FFFFFF"/>
              </a:buClr>
              <a:buSzPts val="1500"/>
              <a:buFont typeface="Nanum Myeongjo"/>
              <a:buChar char="●"/>
            </a:pPr>
            <a:r>
              <a:rPr lang="en" sz="1500">
                <a:solidFill>
                  <a:srgbClr val="FFFFFF"/>
                </a:solidFill>
                <a:latin typeface="Nanum Myeongjo"/>
                <a:ea typeface="Nanum Myeongjo"/>
                <a:cs typeface="Nanum Myeongjo"/>
                <a:sym typeface="Nanum Myeongjo"/>
              </a:rPr>
              <a:t>Burlington competes in the off-price retail market with TJ Maxx, Marshalls, HomeGoods, Ross, and JCPenney</a:t>
            </a:r>
            <a:endParaRPr sz="1500">
              <a:solidFill>
                <a:srgbClr val="FFFFFF"/>
              </a:solidFill>
              <a:latin typeface="Nanum Myeongjo"/>
              <a:ea typeface="Nanum Myeongjo"/>
              <a:cs typeface="Nanum Myeongjo"/>
              <a:sym typeface="Nanum Myeongjo"/>
            </a:endParaRPr>
          </a:p>
          <a:p>
            <a:pPr indent="0" lvl="0" marL="457200" rtl="0" algn="l">
              <a:lnSpc>
                <a:spcPct val="115000"/>
              </a:lnSpc>
              <a:spcBef>
                <a:spcPts val="0"/>
              </a:spcBef>
              <a:spcAft>
                <a:spcPts val="0"/>
              </a:spcAft>
              <a:buNone/>
            </a:pPr>
            <a:r>
              <a:t/>
            </a:r>
            <a:endParaRPr sz="1500">
              <a:solidFill>
                <a:srgbClr val="FFFFFF"/>
              </a:solidFill>
              <a:latin typeface="Nanum Myeongjo"/>
              <a:ea typeface="Nanum Myeongjo"/>
              <a:cs typeface="Nanum Myeongjo"/>
              <a:sym typeface="Nanum Myeongjo"/>
            </a:endParaRPr>
          </a:p>
          <a:p>
            <a:pPr indent="-323850" lvl="0" marL="457200" rtl="0" algn="l">
              <a:lnSpc>
                <a:spcPct val="115000"/>
              </a:lnSpc>
              <a:spcBef>
                <a:spcPts val="0"/>
              </a:spcBef>
              <a:spcAft>
                <a:spcPts val="0"/>
              </a:spcAft>
              <a:buClr>
                <a:srgbClr val="FFFFFF"/>
              </a:buClr>
              <a:buSzPts val="1500"/>
              <a:buFont typeface="Nanum Myeongjo"/>
              <a:buChar char="●"/>
            </a:pPr>
            <a:r>
              <a:rPr lang="en" sz="1500">
                <a:solidFill>
                  <a:srgbClr val="FFFFFF"/>
                </a:solidFill>
                <a:latin typeface="Nanum Myeongjo"/>
                <a:ea typeface="Nanum Myeongjo"/>
                <a:cs typeface="Nanum Myeongjo"/>
                <a:sym typeface="Nanum Myeongjo"/>
              </a:rPr>
              <a:t>The Garfield location is near other discount retailers, including Walmart and Marshalls, making the area highly competitive</a:t>
            </a:r>
            <a:endParaRPr sz="1500">
              <a:solidFill>
                <a:srgbClr val="FFFFFF"/>
              </a:solidFill>
              <a:latin typeface="Nanum Myeongjo"/>
              <a:ea typeface="Nanum Myeongjo"/>
              <a:cs typeface="Nanum Myeongjo"/>
              <a:sym typeface="Nanum Myeongjo"/>
            </a:endParaRPr>
          </a:p>
          <a:p>
            <a:pPr indent="0" lvl="0" marL="457200" rtl="0" algn="l">
              <a:lnSpc>
                <a:spcPct val="115000"/>
              </a:lnSpc>
              <a:spcBef>
                <a:spcPts val="0"/>
              </a:spcBef>
              <a:spcAft>
                <a:spcPts val="0"/>
              </a:spcAft>
              <a:buNone/>
            </a:pPr>
            <a:r>
              <a:t/>
            </a:r>
            <a:endParaRPr sz="1500">
              <a:solidFill>
                <a:srgbClr val="FFFFFF"/>
              </a:solidFill>
              <a:latin typeface="Nanum Myeongjo"/>
              <a:ea typeface="Nanum Myeongjo"/>
              <a:cs typeface="Nanum Myeongjo"/>
              <a:sym typeface="Nanum Myeongjo"/>
            </a:endParaRPr>
          </a:p>
          <a:p>
            <a:pPr indent="-323850" lvl="0" marL="457200" rtl="0" algn="l">
              <a:lnSpc>
                <a:spcPct val="115000"/>
              </a:lnSpc>
              <a:spcBef>
                <a:spcPts val="0"/>
              </a:spcBef>
              <a:spcAft>
                <a:spcPts val="0"/>
              </a:spcAft>
              <a:buClr>
                <a:srgbClr val="FFFFFF"/>
              </a:buClr>
              <a:buSzPts val="1500"/>
              <a:buFont typeface="Nanum Myeongjo"/>
              <a:buChar char="●"/>
            </a:pPr>
            <a:r>
              <a:rPr lang="en" sz="1500">
                <a:solidFill>
                  <a:srgbClr val="FFFFFF"/>
                </a:solidFill>
                <a:latin typeface="Nanum Myeongjo"/>
                <a:ea typeface="Nanum Myeongjo"/>
                <a:cs typeface="Nanum Myeongjo"/>
                <a:sym typeface="Nanum Myeongjo"/>
              </a:rPr>
              <a:t>Secondary research helped connect our project to larger issues in retail: staffing, motivation, compensation, and retention</a:t>
            </a:r>
            <a:endParaRPr sz="1500">
              <a:solidFill>
                <a:srgbClr val="FFFFFF"/>
              </a:solidFill>
              <a:latin typeface="Nanum Myeongjo"/>
              <a:ea typeface="Nanum Myeongjo"/>
              <a:cs typeface="Nanum Myeongjo"/>
              <a:sym typeface="Nanum Myeongjo"/>
            </a:endParaRPr>
          </a:p>
          <a:p>
            <a:pPr indent="0" lvl="0" marL="0" rtl="0" algn="l">
              <a:lnSpc>
                <a:spcPct val="115000"/>
              </a:lnSpc>
              <a:spcBef>
                <a:spcPts val="0"/>
              </a:spcBef>
              <a:spcAft>
                <a:spcPts val="0"/>
              </a:spcAft>
              <a:buClr>
                <a:schemeClr val="dk2"/>
              </a:buClr>
              <a:buSzPts val="1100"/>
              <a:buFont typeface="Arial"/>
              <a:buNone/>
            </a:pPr>
            <a:r>
              <a:rPr lang="en" sz="1500">
                <a:latin typeface="Nanum Myeongjo"/>
                <a:ea typeface="Nanum Myeongjo"/>
                <a:cs typeface="Nanum Myeongjo"/>
                <a:sym typeface="Nanum Myeongjo"/>
              </a:rPr>
              <a:t>            </a:t>
            </a:r>
            <a:endParaRPr sz="1500">
              <a:latin typeface="Nanum Myeongjo"/>
              <a:ea typeface="Nanum Myeongjo"/>
              <a:cs typeface="Nanum Myeongjo"/>
              <a:sym typeface="Nanum Myeongjo"/>
            </a:endParaRPr>
          </a:p>
          <a:p>
            <a:pPr indent="0" lvl="0" marL="0" rtl="0" algn="l">
              <a:spcBef>
                <a:spcPts val="0"/>
              </a:spcBef>
              <a:spcAft>
                <a:spcPts val="0"/>
              </a:spcAft>
              <a:buNone/>
            </a:pPr>
            <a:r>
              <a:t/>
            </a:r>
            <a:endParaRPr sz="1500">
              <a:latin typeface="Nanum Myeongjo"/>
              <a:ea typeface="Nanum Myeongjo"/>
              <a:cs typeface="Nanum Myeongjo"/>
              <a:sym typeface="Nanum Myeongjo"/>
            </a:endParaRPr>
          </a:p>
        </p:txBody>
      </p:sp>
      <p:sp>
        <p:nvSpPr>
          <p:cNvPr id="955" name="Google Shape;955;p99"/>
          <p:cNvSpPr txBox="1"/>
          <p:nvPr/>
        </p:nvSpPr>
        <p:spPr>
          <a:xfrm>
            <a:off x="4672050" y="1328002"/>
            <a:ext cx="4358400" cy="3086100"/>
          </a:xfrm>
          <a:prstGeom prst="rect">
            <a:avLst/>
          </a:prstGeom>
          <a:solidFill>
            <a:srgbClr val="E06666"/>
          </a:solidFill>
          <a:ln cap="flat" cmpd="sng" w="38100">
            <a:solidFill>
              <a:srgbClr val="0E0E0E"/>
            </a:solidFill>
            <a:prstDash val="solid"/>
            <a:round/>
            <a:headEnd len="sm" w="sm" type="none"/>
            <a:tailEnd len="sm" w="sm" type="none"/>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FFFFFF"/>
              </a:buClr>
              <a:buSzPts val="1500"/>
              <a:buFont typeface="Nanum Myeongjo"/>
              <a:buChar char="●"/>
            </a:pPr>
            <a:r>
              <a:rPr lang="en" sz="1500">
                <a:solidFill>
                  <a:srgbClr val="FFFFFF"/>
                </a:solidFill>
                <a:latin typeface="Nanum Myeongjo"/>
                <a:ea typeface="Nanum Myeongjo"/>
                <a:cs typeface="Nanum Myeongjo"/>
                <a:sym typeface="Nanum Myeongjo"/>
              </a:rPr>
              <a:t>Burlington has about 77,000 employees nationally, with an average of about 60 employees per store</a:t>
            </a:r>
            <a:endParaRPr sz="1500">
              <a:solidFill>
                <a:srgbClr val="FFFFFF"/>
              </a:solidFill>
              <a:latin typeface="Nanum Myeongjo"/>
              <a:ea typeface="Nanum Myeongjo"/>
              <a:cs typeface="Nanum Myeongjo"/>
              <a:sym typeface="Nanum Myeongjo"/>
            </a:endParaRPr>
          </a:p>
          <a:p>
            <a:pPr indent="-323850" lvl="0" marL="457200" rtl="0" algn="l">
              <a:lnSpc>
                <a:spcPct val="115000"/>
              </a:lnSpc>
              <a:spcBef>
                <a:spcPts val="0"/>
              </a:spcBef>
              <a:spcAft>
                <a:spcPts val="0"/>
              </a:spcAft>
              <a:buClr>
                <a:srgbClr val="FFFFFF"/>
              </a:buClr>
              <a:buSzPts val="1500"/>
              <a:buFont typeface="Nanum Myeongjo"/>
              <a:buChar char="●"/>
            </a:pPr>
            <a:r>
              <a:rPr lang="en" sz="1500">
                <a:solidFill>
                  <a:srgbClr val="FFFFFF"/>
                </a:solidFill>
                <a:latin typeface="Nanum Myeongjo"/>
                <a:ea typeface="Nanum Myeongjo"/>
                <a:cs typeface="Nanum Myeongjo"/>
                <a:sym typeface="Nanum Myeongjo"/>
              </a:rPr>
              <a:t>Common store roles include Store Manager, Assistant Store Manager, Supervisor, Customer Service Lead, Sales Associate, and Cashier</a:t>
            </a:r>
            <a:endParaRPr sz="1500">
              <a:solidFill>
                <a:srgbClr val="FFFFFF"/>
              </a:solidFill>
              <a:latin typeface="Nanum Myeongjo"/>
              <a:ea typeface="Nanum Myeongjo"/>
              <a:cs typeface="Nanum Myeongjo"/>
              <a:sym typeface="Nanum Myeongjo"/>
            </a:endParaRPr>
          </a:p>
          <a:p>
            <a:pPr indent="-323850" lvl="0" marL="457200" rtl="0" algn="l">
              <a:lnSpc>
                <a:spcPct val="115000"/>
              </a:lnSpc>
              <a:spcBef>
                <a:spcPts val="0"/>
              </a:spcBef>
              <a:spcAft>
                <a:spcPts val="0"/>
              </a:spcAft>
              <a:buClr>
                <a:srgbClr val="FFFFFF"/>
              </a:buClr>
              <a:buSzPts val="1500"/>
              <a:buFont typeface="Nanum Myeongjo"/>
              <a:buChar char="●"/>
            </a:pPr>
            <a:r>
              <a:rPr lang="en" sz="1500">
                <a:solidFill>
                  <a:srgbClr val="FFFFFF"/>
                </a:solidFill>
                <a:latin typeface="Nanum Myeongjo"/>
                <a:ea typeface="Nanum Myeongjo"/>
                <a:cs typeface="Nanum Myeongjo"/>
                <a:sym typeface="Nanum Myeongjo"/>
              </a:rPr>
              <a:t>Employee turnover is a major concern, with about 70% of employees staying less than 2 years</a:t>
            </a:r>
            <a:endParaRPr sz="1500">
              <a:solidFill>
                <a:srgbClr val="FFFFFF"/>
              </a:solidFill>
              <a:latin typeface="Nanum Myeongjo"/>
              <a:ea typeface="Nanum Myeongjo"/>
              <a:cs typeface="Nanum Myeongjo"/>
              <a:sym typeface="Nanum Myeongjo"/>
            </a:endParaRPr>
          </a:p>
        </p:txBody>
      </p:sp>
      <p:sp>
        <p:nvSpPr>
          <p:cNvPr id="956" name="Google Shape;956;p99"/>
          <p:cNvSpPr txBox="1"/>
          <p:nvPr>
            <p:ph idx="1" type="body"/>
          </p:nvPr>
        </p:nvSpPr>
        <p:spPr>
          <a:xfrm>
            <a:off x="146550" y="972451"/>
            <a:ext cx="3443700" cy="4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Industry + </a:t>
            </a:r>
            <a:r>
              <a:rPr b="1" lang="en" sz="1500"/>
              <a:t>Competition</a:t>
            </a:r>
            <a:r>
              <a:rPr b="1" lang="en" sz="1500"/>
              <a:t> </a:t>
            </a:r>
            <a:endParaRPr b="1" sz="1500"/>
          </a:p>
        </p:txBody>
      </p:sp>
      <p:sp>
        <p:nvSpPr>
          <p:cNvPr id="957" name="Google Shape;957;p99"/>
          <p:cNvSpPr txBox="1"/>
          <p:nvPr>
            <p:ph idx="1" type="body"/>
          </p:nvPr>
        </p:nvSpPr>
        <p:spPr>
          <a:xfrm>
            <a:off x="4713425" y="972451"/>
            <a:ext cx="3443700" cy="4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Workforce Trends</a:t>
            </a:r>
            <a:endParaRPr b="1"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00"/>
          <p:cNvSpPr/>
          <p:nvPr/>
        </p:nvSpPr>
        <p:spPr>
          <a:xfrm>
            <a:off x="7158725"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63" name="Google Shape;963;p100"/>
          <p:cNvSpPr/>
          <p:nvPr/>
        </p:nvSpPr>
        <p:spPr>
          <a:xfrm>
            <a:off x="8596792" y="4601400"/>
            <a:ext cx="318600" cy="318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964" name="Google Shape;964;p100"/>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965" name="Google Shape;965;p100"/>
          <p:cNvSpPr txBox="1"/>
          <p:nvPr>
            <p:ph type="title"/>
          </p:nvPr>
        </p:nvSpPr>
        <p:spPr>
          <a:xfrm>
            <a:off x="565975" y="327150"/>
            <a:ext cx="41904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solidFill>
                  <a:srgbClr val="E06666"/>
                </a:solidFill>
              </a:rPr>
              <a:t>Data Collection and Timeline</a:t>
            </a:r>
            <a:endParaRPr sz="2300">
              <a:solidFill>
                <a:srgbClr val="E06666"/>
              </a:solidFill>
            </a:endParaRPr>
          </a:p>
        </p:txBody>
      </p:sp>
      <p:sp>
        <p:nvSpPr>
          <p:cNvPr id="966" name="Google Shape;966;p100"/>
          <p:cNvSpPr txBox="1"/>
          <p:nvPr>
            <p:ph idx="1" type="subTitle"/>
          </p:nvPr>
        </p:nvSpPr>
        <p:spPr>
          <a:xfrm>
            <a:off x="867275" y="720750"/>
            <a:ext cx="77295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Data Collection Methods : Interviews, Surveys, and Secondary Research </a:t>
            </a:r>
            <a:endParaRPr sz="1700"/>
          </a:p>
        </p:txBody>
      </p:sp>
      <p:sp>
        <p:nvSpPr>
          <p:cNvPr id="967" name="Google Shape;967;p100"/>
          <p:cNvSpPr txBox="1"/>
          <p:nvPr/>
        </p:nvSpPr>
        <p:spPr>
          <a:xfrm>
            <a:off x="1016250" y="4237750"/>
            <a:ext cx="1390200" cy="27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000">
                <a:solidFill>
                  <a:schemeClr val="dk2"/>
                </a:solidFill>
                <a:latin typeface="Albert Sans"/>
                <a:ea typeface="Albert Sans"/>
                <a:cs typeface="Albert Sans"/>
                <a:sym typeface="Albert Sans"/>
              </a:rPr>
              <a:t>YEAR 1</a:t>
            </a:r>
            <a:endParaRPr sz="1000">
              <a:solidFill>
                <a:schemeClr val="dk2"/>
              </a:solidFill>
              <a:latin typeface="Albert Sans"/>
              <a:ea typeface="Albert Sans"/>
              <a:cs typeface="Albert Sans"/>
              <a:sym typeface="Albert Sans"/>
            </a:endParaRPr>
          </a:p>
        </p:txBody>
      </p:sp>
      <p:sp>
        <p:nvSpPr>
          <p:cNvPr id="968" name="Google Shape;968;p100"/>
          <p:cNvSpPr txBox="1"/>
          <p:nvPr/>
        </p:nvSpPr>
        <p:spPr>
          <a:xfrm>
            <a:off x="2520823" y="4237750"/>
            <a:ext cx="1390200" cy="27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000">
                <a:solidFill>
                  <a:schemeClr val="dk2"/>
                </a:solidFill>
                <a:latin typeface="Albert Sans"/>
                <a:ea typeface="Albert Sans"/>
                <a:cs typeface="Albert Sans"/>
                <a:sym typeface="Albert Sans"/>
              </a:rPr>
              <a:t>YEAR 2</a:t>
            </a:r>
            <a:endParaRPr sz="1000">
              <a:solidFill>
                <a:schemeClr val="dk2"/>
              </a:solidFill>
              <a:latin typeface="Albert Sans"/>
              <a:ea typeface="Albert Sans"/>
              <a:cs typeface="Albert Sans"/>
              <a:sym typeface="Albert Sans"/>
            </a:endParaRPr>
          </a:p>
        </p:txBody>
      </p:sp>
      <p:sp>
        <p:nvSpPr>
          <p:cNvPr id="969" name="Google Shape;969;p100"/>
          <p:cNvSpPr txBox="1"/>
          <p:nvPr/>
        </p:nvSpPr>
        <p:spPr>
          <a:xfrm>
            <a:off x="3736247" y="4105350"/>
            <a:ext cx="1390200" cy="27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000">
                <a:solidFill>
                  <a:schemeClr val="dk2"/>
                </a:solidFill>
                <a:latin typeface="Albert Sans"/>
                <a:ea typeface="Albert Sans"/>
                <a:cs typeface="Albert Sans"/>
                <a:sym typeface="Albert Sans"/>
              </a:rPr>
              <a:t>YEAR 3</a:t>
            </a:r>
            <a:endParaRPr sz="1000">
              <a:solidFill>
                <a:schemeClr val="dk2"/>
              </a:solidFill>
              <a:latin typeface="Albert Sans"/>
              <a:ea typeface="Albert Sans"/>
              <a:cs typeface="Albert Sans"/>
              <a:sym typeface="Albert Sans"/>
            </a:endParaRPr>
          </a:p>
        </p:txBody>
      </p:sp>
      <p:sp>
        <p:nvSpPr>
          <p:cNvPr id="970" name="Google Shape;970;p100"/>
          <p:cNvSpPr txBox="1"/>
          <p:nvPr/>
        </p:nvSpPr>
        <p:spPr>
          <a:xfrm rot="-5400000">
            <a:off x="-568900" y="2986625"/>
            <a:ext cx="2152500" cy="27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000">
                <a:solidFill>
                  <a:schemeClr val="dk2"/>
                </a:solidFill>
                <a:latin typeface="Albert Sans"/>
                <a:ea typeface="Albert Sans"/>
                <a:cs typeface="Albert Sans"/>
                <a:sym typeface="Albert Sans"/>
              </a:rPr>
              <a:t>Users (in millions) </a:t>
            </a:r>
            <a:endParaRPr b="1" sz="1000">
              <a:solidFill>
                <a:schemeClr val="dk2"/>
              </a:solidFill>
              <a:latin typeface="Albert Sans"/>
              <a:ea typeface="Albert Sans"/>
              <a:cs typeface="Albert Sans"/>
              <a:sym typeface="Albert Sans"/>
            </a:endParaRPr>
          </a:p>
        </p:txBody>
      </p:sp>
      <p:sp>
        <p:nvSpPr>
          <p:cNvPr id="971" name="Google Shape;971;p100"/>
          <p:cNvSpPr txBox="1"/>
          <p:nvPr/>
        </p:nvSpPr>
        <p:spPr>
          <a:xfrm>
            <a:off x="645050" y="3970725"/>
            <a:ext cx="371100" cy="480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None/>
            </a:pPr>
            <a:r>
              <a:rPr lang="en" sz="1000">
                <a:solidFill>
                  <a:schemeClr val="dk2"/>
                </a:solidFill>
                <a:latin typeface="Albert Sans"/>
                <a:ea typeface="Albert Sans"/>
                <a:cs typeface="Albert Sans"/>
                <a:sym typeface="Albert Sans"/>
              </a:rPr>
              <a:t>10</a:t>
            </a:r>
            <a:endParaRPr sz="1000">
              <a:solidFill>
                <a:schemeClr val="dk2"/>
              </a:solidFill>
              <a:latin typeface="Albert Sans"/>
              <a:ea typeface="Albert Sans"/>
              <a:cs typeface="Albert Sans"/>
              <a:sym typeface="Albert Sans"/>
            </a:endParaRPr>
          </a:p>
        </p:txBody>
      </p:sp>
      <p:sp>
        <p:nvSpPr>
          <p:cNvPr id="972" name="Google Shape;972;p100"/>
          <p:cNvSpPr txBox="1"/>
          <p:nvPr/>
        </p:nvSpPr>
        <p:spPr>
          <a:xfrm>
            <a:off x="645050" y="3490125"/>
            <a:ext cx="371100" cy="480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None/>
            </a:pPr>
            <a:r>
              <a:rPr lang="en" sz="1000">
                <a:solidFill>
                  <a:schemeClr val="dk2"/>
                </a:solidFill>
                <a:latin typeface="Albert Sans"/>
                <a:ea typeface="Albert Sans"/>
                <a:cs typeface="Albert Sans"/>
                <a:sym typeface="Albert Sans"/>
              </a:rPr>
              <a:t>20</a:t>
            </a:r>
            <a:endParaRPr sz="1000">
              <a:solidFill>
                <a:schemeClr val="dk2"/>
              </a:solidFill>
              <a:latin typeface="Albert Sans"/>
              <a:ea typeface="Albert Sans"/>
              <a:cs typeface="Albert Sans"/>
              <a:sym typeface="Albert Sans"/>
            </a:endParaRPr>
          </a:p>
        </p:txBody>
      </p:sp>
      <p:sp>
        <p:nvSpPr>
          <p:cNvPr id="973" name="Google Shape;973;p100"/>
          <p:cNvSpPr txBox="1"/>
          <p:nvPr/>
        </p:nvSpPr>
        <p:spPr>
          <a:xfrm>
            <a:off x="645050" y="3009525"/>
            <a:ext cx="371100" cy="480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None/>
            </a:pPr>
            <a:r>
              <a:rPr lang="en" sz="1000">
                <a:solidFill>
                  <a:schemeClr val="dk2"/>
                </a:solidFill>
                <a:latin typeface="Albert Sans"/>
                <a:ea typeface="Albert Sans"/>
                <a:cs typeface="Albert Sans"/>
                <a:sym typeface="Albert Sans"/>
              </a:rPr>
              <a:t>30</a:t>
            </a:r>
            <a:endParaRPr sz="1000">
              <a:solidFill>
                <a:schemeClr val="dk2"/>
              </a:solidFill>
              <a:latin typeface="Albert Sans"/>
              <a:ea typeface="Albert Sans"/>
              <a:cs typeface="Albert Sans"/>
              <a:sym typeface="Albert Sans"/>
            </a:endParaRPr>
          </a:p>
        </p:txBody>
      </p:sp>
      <p:sp>
        <p:nvSpPr>
          <p:cNvPr id="974" name="Google Shape;974;p100"/>
          <p:cNvSpPr txBox="1"/>
          <p:nvPr/>
        </p:nvSpPr>
        <p:spPr>
          <a:xfrm>
            <a:off x="645050" y="2048325"/>
            <a:ext cx="371100" cy="480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None/>
            </a:pPr>
            <a:r>
              <a:rPr lang="en" sz="1000">
                <a:solidFill>
                  <a:schemeClr val="dk2"/>
                </a:solidFill>
                <a:latin typeface="Albert Sans"/>
                <a:ea typeface="Albert Sans"/>
                <a:cs typeface="Albert Sans"/>
                <a:sym typeface="Albert Sans"/>
              </a:rPr>
              <a:t>50</a:t>
            </a:r>
            <a:endParaRPr sz="1000">
              <a:solidFill>
                <a:schemeClr val="dk2"/>
              </a:solidFill>
              <a:latin typeface="Albert Sans"/>
              <a:ea typeface="Albert Sans"/>
              <a:cs typeface="Albert Sans"/>
              <a:sym typeface="Albert Sans"/>
            </a:endParaRPr>
          </a:p>
        </p:txBody>
      </p:sp>
      <p:sp>
        <p:nvSpPr>
          <p:cNvPr id="975" name="Google Shape;975;p100"/>
          <p:cNvSpPr txBox="1"/>
          <p:nvPr/>
        </p:nvSpPr>
        <p:spPr>
          <a:xfrm>
            <a:off x="5529970" y="4237750"/>
            <a:ext cx="1390200" cy="27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000">
                <a:solidFill>
                  <a:schemeClr val="dk2"/>
                </a:solidFill>
                <a:latin typeface="Albert Sans"/>
                <a:ea typeface="Albert Sans"/>
                <a:cs typeface="Albert Sans"/>
                <a:sym typeface="Albert Sans"/>
              </a:rPr>
              <a:t>YEAR 4</a:t>
            </a:r>
            <a:endParaRPr sz="1000">
              <a:solidFill>
                <a:schemeClr val="dk2"/>
              </a:solidFill>
              <a:latin typeface="Albert Sans"/>
              <a:ea typeface="Albert Sans"/>
              <a:cs typeface="Albert Sans"/>
              <a:sym typeface="Albert Sans"/>
            </a:endParaRPr>
          </a:p>
        </p:txBody>
      </p:sp>
      <p:sp>
        <p:nvSpPr>
          <p:cNvPr id="976" name="Google Shape;976;p100"/>
          <p:cNvSpPr txBox="1"/>
          <p:nvPr/>
        </p:nvSpPr>
        <p:spPr>
          <a:xfrm>
            <a:off x="7034551" y="4237750"/>
            <a:ext cx="753300" cy="27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000">
                <a:solidFill>
                  <a:schemeClr val="dk2"/>
                </a:solidFill>
                <a:latin typeface="Albert Sans"/>
                <a:ea typeface="Albert Sans"/>
                <a:cs typeface="Albert Sans"/>
                <a:sym typeface="Albert Sans"/>
              </a:rPr>
              <a:t>YEAR 5</a:t>
            </a:r>
            <a:endParaRPr sz="1000">
              <a:solidFill>
                <a:schemeClr val="dk2"/>
              </a:solidFill>
              <a:latin typeface="Albert Sans"/>
              <a:ea typeface="Albert Sans"/>
              <a:cs typeface="Albert Sans"/>
              <a:sym typeface="Albert Sans"/>
            </a:endParaRPr>
          </a:p>
        </p:txBody>
      </p:sp>
      <p:cxnSp>
        <p:nvCxnSpPr>
          <p:cNvPr id="977" name="Google Shape;977;p100"/>
          <p:cNvCxnSpPr/>
          <p:nvPr/>
        </p:nvCxnSpPr>
        <p:spPr>
          <a:xfrm>
            <a:off x="1016250" y="4237750"/>
            <a:ext cx="7729500" cy="0"/>
          </a:xfrm>
          <a:prstGeom prst="straightConnector1">
            <a:avLst/>
          </a:prstGeom>
          <a:noFill/>
          <a:ln cap="flat" cmpd="sng" w="9525">
            <a:solidFill>
              <a:schemeClr val="dk2"/>
            </a:solidFill>
            <a:prstDash val="solid"/>
            <a:round/>
            <a:headEnd len="med" w="med" type="none"/>
            <a:tailEnd len="med" w="med" type="none"/>
          </a:ln>
        </p:spPr>
      </p:cxnSp>
      <p:cxnSp>
        <p:nvCxnSpPr>
          <p:cNvPr id="978" name="Google Shape;978;p100"/>
          <p:cNvCxnSpPr/>
          <p:nvPr/>
        </p:nvCxnSpPr>
        <p:spPr>
          <a:xfrm rot="10800000">
            <a:off x="1016250" y="2048325"/>
            <a:ext cx="0" cy="2193000"/>
          </a:xfrm>
          <a:prstGeom prst="straightConnector1">
            <a:avLst/>
          </a:prstGeom>
          <a:noFill/>
          <a:ln cap="flat" cmpd="sng" w="9525">
            <a:solidFill>
              <a:schemeClr val="dk2"/>
            </a:solidFill>
            <a:prstDash val="solid"/>
            <a:round/>
            <a:headEnd len="med" w="med" type="none"/>
            <a:tailEnd len="med" w="med" type="none"/>
          </a:ln>
        </p:spPr>
      </p:cxnSp>
      <p:sp>
        <p:nvSpPr>
          <p:cNvPr id="979" name="Google Shape;979;p100"/>
          <p:cNvSpPr txBox="1"/>
          <p:nvPr/>
        </p:nvSpPr>
        <p:spPr>
          <a:xfrm>
            <a:off x="439500" y="4545850"/>
            <a:ext cx="2246400" cy="27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000">
                <a:solidFill>
                  <a:schemeClr val="dk2"/>
                </a:solidFill>
                <a:latin typeface="Albert Sans"/>
                <a:ea typeface="Albert Sans"/>
                <a:cs typeface="Albert Sans"/>
                <a:sym typeface="Albert Sans"/>
              </a:rPr>
              <a:t>Years</a:t>
            </a:r>
            <a:endParaRPr b="1" sz="1000">
              <a:solidFill>
                <a:schemeClr val="dk2"/>
              </a:solidFill>
              <a:latin typeface="Albert Sans"/>
              <a:ea typeface="Albert Sans"/>
              <a:cs typeface="Albert Sans"/>
              <a:sym typeface="Albert Sans"/>
            </a:endParaRPr>
          </a:p>
        </p:txBody>
      </p:sp>
      <p:sp>
        <p:nvSpPr>
          <p:cNvPr id="980" name="Google Shape;980;p100"/>
          <p:cNvSpPr txBox="1"/>
          <p:nvPr/>
        </p:nvSpPr>
        <p:spPr>
          <a:xfrm>
            <a:off x="645050" y="2528925"/>
            <a:ext cx="371100" cy="480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None/>
            </a:pPr>
            <a:r>
              <a:rPr lang="en" sz="1000">
                <a:solidFill>
                  <a:schemeClr val="dk2"/>
                </a:solidFill>
                <a:latin typeface="Albert Sans"/>
                <a:ea typeface="Albert Sans"/>
                <a:cs typeface="Albert Sans"/>
                <a:sym typeface="Albert Sans"/>
              </a:rPr>
              <a:t>40</a:t>
            </a:r>
            <a:endParaRPr sz="1000">
              <a:solidFill>
                <a:schemeClr val="dk2"/>
              </a:solidFill>
              <a:latin typeface="Albert Sans"/>
              <a:ea typeface="Albert Sans"/>
              <a:cs typeface="Albert Sans"/>
              <a:sym typeface="Albert Sans"/>
            </a:endParaRPr>
          </a:p>
        </p:txBody>
      </p:sp>
      <p:sp>
        <p:nvSpPr>
          <p:cNvPr id="981" name="Google Shape;981;p100"/>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Finding a Solution</a:t>
            </a:r>
            <a:endParaRPr/>
          </a:p>
        </p:txBody>
      </p:sp>
      <p:pic>
        <p:nvPicPr>
          <p:cNvPr descr="Hexagonal icon." id="982" name="Google Shape;982;p100"/>
          <p:cNvPicPr preferRelativeResize="0"/>
          <p:nvPr>
            <p:ph idx="2" type="pic"/>
          </p:nvPr>
        </p:nvPicPr>
        <p:blipFill rotWithShape="1">
          <a:blip r:embed="rId3">
            <a:alphaModFix/>
          </a:blip>
          <a:srcRect b="6732" l="0" r="0" t="6732"/>
          <a:stretch/>
        </p:blipFill>
        <p:spPr>
          <a:xfrm>
            <a:off x="8596800" y="223475"/>
            <a:ext cx="318600" cy="318600"/>
          </a:xfrm>
          <a:prstGeom prst="ellipse">
            <a:avLst/>
          </a:prstGeom>
        </p:spPr>
      </p:pic>
      <p:sp>
        <p:nvSpPr>
          <p:cNvPr id="983" name="Google Shape;983;p100"/>
          <p:cNvSpPr/>
          <p:nvPr/>
        </p:nvSpPr>
        <p:spPr>
          <a:xfrm>
            <a:off x="5720650"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84" name="Google Shape;984;p100"/>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985" name="Google Shape;985;p100"/>
          <p:cNvSpPr/>
          <p:nvPr/>
        </p:nvSpPr>
        <p:spPr>
          <a:xfrm>
            <a:off x="7158725"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86" name="Google Shape;986;p100"/>
          <p:cNvSpPr/>
          <p:nvPr/>
        </p:nvSpPr>
        <p:spPr>
          <a:xfrm>
            <a:off x="8596792" y="4601400"/>
            <a:ext cx="318600" cy="318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987" name="Google Shape;987;p100"/>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988" name="Google Shape;988;p100"/>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Finding a Solution</a:t>
            </a:r>
            <a:endParaRPr/>
          </a:p>
        </p:txBody>
      </p:sp>
      <p:sp>
        <p:nvSpPr>
          <p:cNvPr id="989" name="Google Shape;989;p100"/>
          <p:cNvSpPr/>
          <p:nvPr/>
        </p:nvSpPr>
        <p:spPr>
          <a:xfrm>
            <a:off x="5720650"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90" name="Google Shape;990;p100"/>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991" name="Google Shape;991;p100"/>
          <p:cNvSpPr/>
          <p:nvPr/>
        </p:nvSpPr>
        <p:spPr>
          <a:xfrm>
            <a:off x="7158725" y="4601400"/>
            <a:ext cx="1354500" cy="318600"/>
          </a:xfrm>
          <a:prstGeom prst="roundRect">
            <a:avLst>
              <a:gd fmla="val 16290" name="adj"/>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92" name="Google Shape;992;p100"/>
          <p:cNvSpPr/>
          <p:nvPr/>
        </p:nvSpPr>
        <p:spPr>
          <a:xfrm>
            <a:off x="8596792" y="4601400"/>
            <a:ext cx="318600" cy="3186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993" name="Google Shape;993;p100"/>
          <p:cNvSpPr txBox="1"/>
          <p:nvPr>
            <p:ph idx="3" type="sldNum"/>
          </p:nvPr>
        </p:nvSpPr>
        <p:spPr>
          <a:xfrm>
            <a:off x="8481756" y="4554430"/>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994" name="Google Shape;994;p100"/>
          <p:cNvSpPr txBox="1"/>
          <p:nvPr>
            <p:ph idx="3" type="title"/>
          </p:nvPr>
        </p:nvSpPr>
        <p:spPr>
          <a:xfrm>
            <a:off x="7158725" y="4554425"/>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995" name="Google Shape;995;p100"/>
          <p:cNvSpPr/>
          <p:nvPr/>
        </p:nvSpPr>
        <p:spPr>
          <a:xfrm>
            <a:off x="5720650" y="4601400"/>
            <a:ext cx="1354500" cy="318600"/>
          </a:xfrm>
          <a:prstGeom prst="roundRect">
            <a:avLst>
              <a:gd fmla="val 16290" name="adj"/>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996" name="Google Shape;996;p100"/>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sp>
        <p:nvSpPr>
          <p:cNvPr id="997" name="Google Shape;997;p100"/>
          <p:cNvSpPr/>
          <p:nvPr/>
        </p:nvSpPr>
        <p:spPr>
          <a:xfrm>
            <a:off x="672612" y="1188125"/>
            <a:ext cx="489300" cy="4437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1</a:t>
            </a:r>
            <a:endParaRPr>
              <a:latin typeface="Albert Sans"/>
              <a:ea typeface="Albert Sans"/>
              <a:cs typeface="Albert Sans"/>
              <a:sym typeface="Albert Sans"/>
            </a:endParaRPr>
          </a:p>
        </p:txBody>
      </p:sp>
      <p:sp>
        <p:nvSpPr>
          <p:cNvPr id="998" name="Google Shape;998;p100"/>
          <p:cNvSpPr/>
          <p:nvPr/>
        </p:nvSpPr>
        <p:spPr>
          <a:xfrm>
            <a:off x="2108324" y="1188125"/>
            <a:ext cx="489300" cy="4437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2</a:t>
            </a:r>
            <a:endParaRPr>
              <a:latin typeface="Albert Sans"/>
              <a:ea typeface="Albert Sans"/>
              <a:cs typeface="Albert Sans"/>
              <a:sym typeface="Albert Sans"/>
            </a:endParaRPr>
          </a:p>
        </p:txBody>
      </p:sp>
      <p:sp>
        <p:nvSpPr>
          <p:cNvPr id="999" name="Google Shape;999;p100"/>
          <p:cNvSpPr/>
          <p:nvPr/>
        </p:nvSpPr>
        <p:spPr>
          <a:xfrm>
            <a:off x="3544024" y="1195775"/>
            <a:ext cx="489300" cy="4437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3</a:t>
            </a:r>
            <a:endParaRPr>
              <a:latin typeface="Albert Sans"/>
              <a:ea typeface="Albert Sans"/>
              <a:cs typeface="Albert Sans"/>
              <a:sym typeface="Albert Sans"/>
            </a:endParaRPr>
          </a:p>
        </p:txBody>
      </p:sp>
      <p:sp>
        <p:nvSpPr>
          <p:cNvPr id="1000" name="Google Shape;1000;p100"/>
          <p:cNvSpPr/>
          <p:nvPr/>
        </p:nvSpPr>
        <p:spPr>
          <a:xfrm>
            <a:off x="4942138" y="1195775"/>
            <a:ext cx="489300" cy="4437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4</a:t>
            </a:r>
            <a:endParaRPr>
              <a:latin typeface="Albert Sans"/>
              <a:ea typeface="Albert Sans"/>
              <a:cs typeface="Albert Sans"/>
              <a:sym typeface="Albert Sans"/>
            </a:endParaRPr>
          </a:p>
        </p:txBody>
      </p:sp>
      <p:sp>
        <p:nvSpPr>
          <p:cNvPr id="1001" name="Google Shape;1001;p100"/>
          <p:cNvSpPr/>
          <p:nvPr/>
        </p:nvSpPr>
        <p:spPr>
          <a:xfrm>
            <a:off x="6415437" y="1188125"/>
            <a:ext cx="489300" cy="4437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5</a:t>
            </a:r>
            <a:endParaRPr>
              <a:latin typeface="Albert Sans"/>
              <a:ea typeface="Albert Sans"/>
              <a:cs typeface="Albert Sans"/>
              <a:sym typeface="Albert Sans"/>
            </a:endParaRPr>
          </a:p>
        </p:txBody>
      </p:sp>
      <p:sp>
        <p:nvSpPr>
          <p:cNvPr id="1002" name="Google Shape;1002;p100"/>
          <p:cNvSpPr/>
          <p:nvPr/>
        </p:nvSpPr>
        <p:spPr>
          <a:xfrm>
            <a:off x="7851137" y="1188125"/>
            <a:ext cx="489300" cy="4437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bert Sans"/>
                <a:ea typeface="Albert Sans"/>
                <a:cs typeface="Albert Sans"/>
                <a:sym typeface="Albert Sans"/>
              </a:rPr>
              <a:t>6</a:t>
            </a:r>
            <a:endParaRPr>
              <a:latin typeface="Albert Sans"/>
              <a:ea typeface="Albert Sans"/>
              <a:cs typeface="Albert Sans"/>
              <a:sym typeface="Albert Sans"/>
            </a:endParaRPr>
          </a:p>
        </p:txBody>
      </p:sp>
      <p:sp>
        <p:nvSpPr>
          <p:cNvPr id="1003" name="Google Shape;1003;p100"/>
          <p:cNvSpPr txBox="1"/>
          <p:nvPr/>
        </p:nvSpPr>
        <p:spPr>
          <a:xfrm>
            <a:off x="446700" y="1665611"/>
            <a:ext cx="9411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Albert Sans"/>
                <a:ea typeface="Albert Sans"/>
                <a:cs typeface="Albert Sans"/>
                <a:sym typeface="Albert Sans"/>
              </a:rPr>
              <a:t>Initial Meeting</a:t>
            </a:r>
            <a:endParaRPr sz="900">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900">
                <a:solidFill>
                  <a:srgbClr val="E06666"/>
                </a:solidFill>
                <a:latin typeface="Albert Sans"/>
                <a:ea typeface="Albert Sans"/>
                <a:cs typeface="Albert Sans"/>
                <a:sym typeface="Albert Sans"/>
              </a:rPr>
              <a:t>Feb. 12</a:t>
            </a:r>
            <a:endParaRPr sz="900">
              <a:solidFill>
                <a:srgbClr val="E06666"/>
              </a:solidFill>
              <a:latin typeface="Albert Sans"/>
              <a:ea typeface="Albert Sans"/>
              <a:cs typeface="Albert Sans"/>
              <a:sym typeface="Albert Sans"/>
            </a:endParaRPr>
          </a:p>
          <a:p>
            <a:pPr indent="0" lvl="0" marL="0" rtl="0" algn="ctr">
              <a:spcBef>
                <a:spcPts val="0"/>
              </a:spcBef>
              <a:spcAft>
                <a:spcPts val="0"/>
              </a:spcAft>
              <a:buNone/>
            </a:pPr>
            <a:r>
              <a:rPr lang="en" sz="900">
                <a:solidFill>
                  <a:schemeClr val="lt1"/>
                </a:solidFill>
                <a:latin typeface="Albert Sans"/>
                <a:ea typeface="Albert Sans"/>
                <a:cs typeface="Albert Sans"/>
                <a:sym typeface="Albert Sans"/>
              </a:rPr>
              <a:t> </a:t>
            </a:r>
            <a:endParaRPr sz="900">
              <a:solidFill>
                <a:schemeClr val="lt1"/>
              </a:solidFill>
              <a:latin typeface="Albert Sans"/>
              <a:ea typeface="Albert Sans"/>
              <a:cs typeface="Albert Sans"/>
              <a:sym typeface="Albert Sans"/>
            </a:endParaRPr>
          </a:p>
        </p:txBody>
      </p:sp>
      <p:sp>
        <p:nvSpPr>
          <p:cNvPr id="1004" name="Google Shape;1004;p100"/>
          <p:cNvSpPr/>
          <p:nvPr/>
        </p:nvSpPr>
        <p:spPr>
          <a:xfrm>
            <a:off x="7490963" y="2108001"/>
            <a:ext cx="1209600" cy="23901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lbert Sans"/>
                <a:ea typeface="Albert Sans"/>
                <a:cs typeface="Albert Sans"/>
                <a:sym typeface="Albert Sans"/>
              </a:rPr>
              <a:t>Used employee survey responses and secondary research to support our project </a:t>
            </a:r>
            <a:endParaRPr sz="1100">
              <a:latin typeface="Albert Sans"/>
              <a:ea typeface="Albert Sans"/>
              <a:cs typeface="Albert Sans"/>
              <a:sym typeface="Albert Sans"/>
            </a:endParaRPr>
          </a:p>
        </p:txBody>
      </p:sp>
      <p:sp>
        <p:nvSpPr>
          <p:cNvPr id="1005" name="Google Shape;1005;p100"/>
          <p:cNvSpPr/>
          <p:nvPr/>
        </p:nvSpPr>
        <p:spPr>
          <a:xfrm>
            <a:off x="6077855" y="2108001"/>
            <a:ext cx="1209600" cy="23901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lbert Sans"/>
                <a:ea typeface="Albert Sans"/>
                <a:cs typeface="Albert Sans"/>
                <a:sym typeface="Albert Sans"/>
              </a:rPr>
              <a:t>Interviewed</a:t>
            </a:r>
            <a:r>
              <a:rPr lang="en" sz="1100">
                <a:latin typeface="Albert Sans"/>
                <a:ea typeface="Albert Sans"/>
                <a:cs typeface="Albert Sans"/>
                <a:sym typeface="Albert Sans"/>
              </a:rPr>
              <a:t> Natasha Talevska about </a:t>
            </a:r>
            <a:r>
              <a:rPr lang="en" sz="1100">
                <a:latin typeface="Albert Sans"/>
                <a:ea typeface="Albert Sans"/>
                <a:cs typeface="Albert Sans"/>
                <a:sym typeface="Albert Sans"/>
              </a:rPr>
              <a:t>scheduling</a:t>
            </a:r>
            <a:r>
              <a:rPr lang="en" sz="1100">
                <a:latin typeface="Albert Sans"/>
                <a:ea typeface="Albert Sans"/>
                <a:cs typeface="Albert Sans"/>
                <a:sym typeface="Albert Sans"/>
              </a:rPr>
              <a:t>, fairness, limited hours, and recognition</a:t>
            </a:r>
            <a:endParaRPr sz="1100">
              <a:latin typeface="Albert Sans"/>
              <a:ea typeface="Albert Sans"/>
              <a:cs typeface="Albert Sans"/>
              <a:sym typeface="Albert Sans"/>
            </a:endParaRPr>
          </a:p>
        </p:txBody>
      </p:sp>
      <p:sp>
        <p:nvSpPr>
          <p:cNvPr id="1006" name="Google Shape;1006;p100"/>
          <p:cNvSpPr/>
          <p:nvPr/>
        </p:nvSpPr>
        <p:spPr>
          <a:xfrm>
            <a:off x="4612075" y="2108000"/>
            <a:ext cx="1318200" cy="23901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lbert Sans"/>
                <a:ea typeface="Albert Sans"/>
                <a:cs typeface="Albert Sans"/>
                <a:sym typeface="Albert Sans"/>
              </a:rPr>
              <a:t>Interviewed</a:t>
            </a:r>
            <a:r>
              <a:rPr lang="en" sz="1100">
                <a:latin typeface="Albert Sans"/>
                <a:ea typeface="Albert Sans"/>
                <a:cs typeface="Albert Sans"/>
                <a:sym typeface="Albert Sans"/>
              </a:rPr>
              <a:t> Maria Tapale about compensation, morale, recognition, and motivation</a:t>
            </a:r>
            <a:endParaRPr sz="1100">
              <a:latin typeface="Albert Sans"/>
              <a:ea typeface="Albert Sans"/>
              <a:cs typeface="Albert Sans"/>
              <a:sym typeface="Albert Sans"/>
            </a:endParaRPr>
          </a:p>
        </p:txBody>
      </p:sp>
      <p:sp>
        <p:nvSpPr>
          <p:cNvPr id="1007" name="Google Shape;1007;p100"/>
          <p:cNvSpPr/>
          <p:nvPr/>
        </p:nvSpPr>
        <p:spPr>
          <a:xfrm>
            <a:off x="3183863" y="2107424"/>
            <a:ext cx="1209600" cy="23901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lbert Sans"/>
                <a:ea typeface="Albert Sans"/>
                <a:cs typeface="Albert Sans"/>
                <a:sym typeface="Albert Sans"/>
              </a:rPr>
              <a:t>Interviewed</a:t>
            </a:r>
            <a:r>
              <a:rPr lang="en" sz="1100">
                <a:latin typeface="Albert Sans"/>
                <a:ea typeface="Albert Sans"/>
                <a:cs typeface="Albert Sans"/>
                <a:sym typeface="Albert Sans"/>
              </a:rPr>
              <a:t> Nesrin Selman to get a second management perspective </a:t>
            </a:r>
            <a:endParaRPr sz="1100">
              <a:latin typeface="Albert Sans"/>
              <a:ea typeface="Albert Sans"/>
              <a:cs typeface="Albert Sans"/>
              <a:sym typeface="Albert Sans"/>
            </a:endParaRPr>
          </a:p>
        </p:txBody>
      </p:sp>
      <p:sp>
        <p:nvSpPr>
          <p:cNvPr id="1008" name="Google Shape;1008;p100"/>
          <p:cNvSpPr/>
          <p:nvPr/>
        </p:nvSpPr>
        <p:spPr>
          <a:xfrm>
            <a:off x="1748163" y="2129280"/>
            <a:ext cx="1209600" cy="23901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lbert Sans"/>
                <a:ea typeface="Albert Sans"/>
                <a:cs typeface="Albert Sans"/>
                <a:sym typeface="Albert Sans"/>
              </a:rPr>
              <a:t>Discussed and narrowed the issue to payroll </a:t>
            </a:r>
            <a:r>
              <a:rPr lang="en" sz="1100">
                <a:latin typeface="Albert Sans"/>
                <a:ea typeface="Albert Sans"/>
                <a:cs typeface="Albert Sans"/>
                <a:sym typeface="Albert Sans"/>
              </a:rPr>
              <a:t>constraints</a:t>
            </a:r>
            <a:r>
              <a:rPr lang="en" sz="1100">
                <a:latin typeface="Albert Sans"/>
                <a:ea typeface="Albert Sans"/>
                <a:cs typeface="Albert Sans"/>
                <a:sym typeface="Albert Sans"/>
              </a:rPr>
              <a:t>, employee hours, turnover, and motivation</a:t>
            </a:r>
            <a:endParaRPr sz="1100">
              <a:latin typeface="Albert Sans"/>
              <a:ea typeface="Albert Sans"/>
              <a:cs typeface="Albert Sans"/>
              <a:sym typeface="Albert Sans"/>
            </a:endParaRPr>
          </a:p>
        </p:txBody>
      </p:sp>
      <p:sp>
        <p:nvSpPr>
          <p:cNvPr id="1009" name="Google Shape;1009;p100"/>
          <p:cNvSpPr/>
          <p:nvPr/>
        </p:nvSpPr>
        <p:spPr>
          <a:xfrm>
            <a:off x="337338" y="2148242"/>
            <a:ext cx="1209600" cy="23901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Albert Sans"/>
                <a:ea typeface="Albert Sans"/>
                <a:cs typeface="Albert Sans"/>
                <a:sym typeface="Albert Sans"/>
              </a:rPr>
              <a:t>Met with Arzu Ergen to learn more about </a:t>
            </a:r>
            <a:r>
              <a:rPr lang="en" sz="1100">
                <a:latin typeface="Albert Sans"/>
                <a:ea typeface="Albert Sans"/>
                <a:cs typeface="Albert Sans"/>
                <a:sym typeface="Albert Sans"/>
              </a:rPr>
              <a:t>Burlington's</a:t>
            </a:r>
            <a:r>
              <a:rPr lang="en" sz="1100">
                <a:latin typeface="Albert Sans"/>
                <a:ea typeface="Albert Sans"/>
                <a:cs typeface="Albert Sans"/>
                <a:sym typeface="Albert Sans"/>
              </a:rPr>
              <a:t> background and early concerns</a:t>
            </a:r>
            <a:endParaRPr sz="1100">
              <a:latin typeface="Albert Sans"/>
              <a:ea typeface="Albert Sans"/>
              <a:cs typeface="Albert Sans"/>
              <a:sym typeface="Albert Sans"/>
            </a:endParaRPr>
          </a:p>
        </p:txBody>
      </p:sp>
      <p:sp>
        <p:nvSpPr>
          <p:cNvPr id="1010" name="Google Shape;1010;p100"/>
          <p:cNvSpPr txBox="1"/>
          <p:nvPr/>
        </p:nvSpPr>
        <p:spPr>
          <a:xfrm>
            <a:off x="1586675" y="1668700"/>
            <a:ext cx="1421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Albert Sans"/>
                <a:ea typeface="Albert Sans"/>
                <a:cs typeface="Albert Sans"/>
                <a:sym typeface="Albert Sans"/>
              </a:rPr>
              <a:t>Follow- Up Meeting</a:t>
            </a:r>
            <a:endParaRPr sz="900">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900">
                <a:solidFill>
                  <a:srgbClr val="E06666"/>
                </a:solidFill>
                <a:latin typeface="Albert Sans"/>
                <a:ea typeface="Albert Sans"/>
                <a:cs typeface="Albert Sans"/>
                <a:sym typeface="Albert Sans"/>
              </a:rPr>
              <a:t>March. 13 </a:t>
            </a:r>
            <a:endParaRPr sz="900">
              <a:solidFill>
                <a:srgbClr val="E06666"/>
              </a:solidFill>
              <a:latin typeface="Albert Sans"/>
              <a:ea typeface="Albert Sans"/>
              <a:cs typeface="Albert Sans"/>
              <a:sym typeface="Albert Sans"/>
            </a:endParaRPr>
          </a:p>
        </p:txBody>
      </p:sp>
      <p:sp>
        <p:nvSpPr>
          <p:cNvPr id="1011" name="Google Shape;1011;p100"/>
          <p:cNvSpPr txBox="1"/>
          <p:nvPr/>
        </p:nvSpPr>
        <p:spPr>
          <a:xfrm>
            <a:off x="3183725" y="1661600"/>
            <a:ext cx="12096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Albert Sans"/>
                <a:ea typeface="Albert Sans"/>
                <a:cs typeface="Albert Sans"/>
                <a:sym typeface="Albert Sans"/>
              </a:rPr>
              <a:t>Manager Interview</a:t>
            </a:r>
            <a:endParaRPr sz="900">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900">
                <a:solidFill>
                  <a:srgbClr val="E06666"/>
                </a:solidFill>
                <a:latin typeface="Albert Sans"/>
                <a:ea typeface="Albert Sans"/>
                <a:cs typeface="Albert Sans"/>
                <a:sym typeface="Albert Sans"/>
              </a:rPr>
              <a:t>Mar. 17</a:t>
            </a:r>
            <a:endParaRPr sz="900">
              <a:solidFill>
                <a:srgbClr val="E06666"/>
              </a:solidFill>
              <a:latin typeface="Albert Sans"/>
              <a:ea typeface="Albert Sans"/>
              <a:cs typeface="Albert Sans"/>
              <a:sym typeface="Albert Sans"/>
            </a:endParaRPr>
          </a:p>
        </p:txBody>
      </p:sp>
      <p:sp>
        <p:nvSpPr>
          <p:cNvPr id="1012" name="Google Shape;1012;p100"/>
          <p:cNvSpPr txBox="1"/>
          <p:nvPr/>
        </p:nvSpPr>
        <p:spPr>
          <a:xfrm>
            <a:off x="4564300" y="1661900"/>
            <a:ext cx="1318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Albert Sans"/>
                <a:ea typeface="Albert Sans"/>
                <a:cs typeface="Albert Sans"/>
                <a:sym typeface="Albert Sans"/>
              </a:rPr>
              <a:t>Employee Interview</a:t>
            </a:r>
            <a:endParaRPr sz="900">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900">
                <a:solidFill>
                  <a:srgbClr val="E06666"/>
                </a:solidFill>
                <a:latin typeface="Albert Sans"/>
                <a:ea typeface="Albert Sans"/>
                <a:cs typeface="Albert Sans"/>
                <a:sym typeface="Albert Sans"/>
              </a:rPr>
              <a:t>Mar. 19</a:t>
            </a:r>
            <a:endParaRPr sz="900">
              <a:solidFill>
                <a:srgbClr val="E06666"/>
              </a:solidFill>
              <a:latin typeface="Albert Sans"/>
              <a:ea typeface="Albert Sans"/>
              <a:cs typeface="Albert Sans"/>
              <a:sym typeface="Albert Sans"/>
            </a:endParaRPr>
          </a:p>
        </p:txBody>
      </p:sp>
      <p:sp>
        <p:nvSpPr>
          <p:cNvPr id="1013" name="Google Shape;1013;p100"/>
          <p:cNvSpPr txBox="1"/>
          <p:nvPr/>
        </p:nvSpPr>
        <p:spPr>
          <a:xfrm>
            <a:off x="6013263" y="1658050"/>
            <a:ext cx="1318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Albert Sans"/>
                <a:ea typeface="Albert Sans"/>
                <a:cs typeface="Albert Sans"/>
                <a:sym typeface="Albert Sans"/>
              </a:rPr>
              <a:t>Employee Interview</a:t>
            </a:r>
            <a:endParaRPr sz="900">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900">
                <a:solidFill>
                  <a:srgbClr val="E06666"/>
                </a:solidFill>
                <a:latin typeface="Albert Sans"/>
                <a:ea typeface="Albert Sans"/>
                <a:cs typeface="Albert Sans"/>
                <a:sym typeface="Albert Sans"/>
              </a:rPr>
              <a:t>Apr. 1</a:t>
            </a:r>
            <a:endParaRPr sz="900">
              <a:solidFill>
                <a:srgbClr val="E06666"/>
              </a:solidFill>
              <a:latin typeface="Albert Sans"/>
              <a:ea typeface="Albert Sans"/>
              <a:cs typeface="Albert Sans"/>
              <a:sym typeface="Albert Sans"/>
            </a:endParaRPr>
          </a:p>
        </p:txBody>
      </p:sp>
      <p:sp>
        <p:nvSpPr>
          <p:cNvPr id="1014" name="Google Shape;1014;p100"/>
          <p:cNvSpPr txBox="1"/>
          <p:nvPr/>
        </p:nvSpPr>
        <p:spPr>
          <a:xfrm>
            <a:off x="7370249" y="1658075"/>
            <a:ext cx="1585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Albert Sans"/>
                <a:ea typeface="Albert Sans"/>
                <a:cs typeface="Albert Sans"/>
                <a:sym typeface="Albert Sans"/>
              </a:rPr>
              <a:t>Survey + </a:t>
            </a:r>
            <a:r>
              <a:rPr lang="en" sz="900">
                <a:solidFill>
                  <a:schemeClr val="lt1"/>
                </a:solidFill>
                <a:latin typeface="Albert Sans"/>
                <a:ea typeface="Albert Sans"/>
                <a:cs typeface="Albert Sans"/>
                <a:sym typeface="Albert Sans"/>
              </a:rPr>
              <a:t>Research</a:t>
            </a:r>
            <a:endParaRPr sz="900">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900">
                <a:solidFill>
                  <a:srgbClr val="E06666"/>
                </a:solidFill>
                <a:latin typeface="Albert Sans"/>
                <a:ea typeface="Albert Sans"/>
                <a:cs typeface="Albert Sans"/>
                <a:sym typeface="Albert Sans"/>
              </a:rPr>
              <a:t>Final Step</a:t>
            </a:r>
            <a:endParaRPr sz="900">
              <a:solidFill>
                <a:srgbClr val="E06666"/>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1018" name="Shape 1018"/>
        <p:cNvGrpSpPr/>
        <p:nvPr/>
      </p:nvGrpSpPr>
      <p:grpSpPr>
        <a:xfrm>
          <a:off x="0" y="0"/>
          <a:ext cx="0" cy="0"/>
          <a:chOff x="0" y="0"/>
          <a:chExt cx="0" cy="0"/>
        </a:xfrm>
      </p:grpSpPr>
      <p:sp>
        <p:nvSpPr>
          <p:cNvPr id="1019" name="Google Shape;1019;p101"/>
          <p:cNvSpPr/>
          <p:nvPr/>
        </p:nvSpPr>
        <p:spPr>
          <a:xfrm>
            <a:off x="7158725"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20" name="Google Shape;1020;p101"/>
          <p:cNvSpPr/>
          <p:nvPr/>
        </p:nvSpPr>
        <p:spPr>
          <a:xfrm>
            <a:off x="8596792" y="4601400"/>
            <a:ext cx="318600" cy="318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021" name="Google Shape;1021;p101"/>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022" name="Google Shape;1022;p101"/>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Finding a Solution</a:t>
            </a:r>
            <a:endParaRPr/>
          </a:p>
        </p:txBody>
      </p:sp>
      <p:sp>
        <p:nvSpPr>
          <p:cNvPr id="1023" name="Google Shape;1023;p101"/>
          <p:cNvSpPr/>
          <p:nvPr/>
        </p:nvSpPr>
        <p:spPr>
          <a:xfrm>
            <a:off x="5720650"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24" name="Google Shape;1024;p101"/>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1025" name="Google Shape;1025;p101"/>
          <p:cNvSpPr/>
          <p:nvPr/>
        </p:nvSpPr>
        <p:spPr>
          <a:xfrm>
            <a:off x="7158725"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26" name="Google Shape;1026;p101"/>
          <p:cNvSpPr/>
          <p:nvPr/>
        </p:nvSpPr>
        <p:spPr>
          <a:xfrm>
            <a:off x="8596792" y="4601400"/>
            <a:ext cx="318600" cy="318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027" name="Google Shape;1027;p101"/>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028" name="Google Shape;1028;p101"/>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Finding a Solution</a:t>
            </a:r>
            <a:endParaRPr/>
          </a:p>
        </p:txBody>
      </p:sp>
      <p:sp>
        <p:nvSpPr>
          <p:cNvPr id="1029" name="Google Shape;1029;p101"/>
          <p:cNvSpPr/>
          <p:nvPr/>
        </p:nvSpPr>
        <p:spPr>
          <a:xfrm>
            <a:off x="5720650"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30" name="Google Shape;1030;p101"/>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1031" name="Google Shape;1031;p101"/>
          <p:cNvSpPr/>
          <p:nvPr/>
        </p:nvSpPr>
        <p:spPr>
          <a:xfrm>
            <a:off x="7158725"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32" name="Google Shape;1032;p101"/>
          <p:cNvSpPr/>
          <p:nvPr/>
        </p:nvSpPr>
        <p:spPr>
          <a:xfrm>
            <a:off x="8596792" y="4601400"/>
            <a:ext cx="318600" cy="318600"/>
          </a:xfrm>
          <a:prstGeom prst="ellipse">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033" name="Google Shape;1033;p101"/>
          <p:cNvSpPr txBox="1"/>
          <p:nvPr>
            <p:ph idx="3" type="sldNum"/>
          </p:nvPr>
        </p:nvSpPr>
        <p:spPr>
          <a:xfrm>
            <a:off x="8481759" y="4573830"/>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034" name="Google Shape;1034;p101"/>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1035" name="Google Shape;1035;p101"/>
          <p:cNvSpPr/>
          <p:nvPr/>
        </p:nvSpPr>
        <p:spPr>
          <a:xfrm>
            <a:off x="5720650"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36" name="Google Shape;1036;p101"/>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sp>
        <p:nvSpPr>
          <p:cNvPr id="1037" name="Google Shape;1037;p101"/>
          <p:cNvSpPr txBox="1"/>
          <p:nvPr>
            <p:ph idx="4294967295" type="title"/>
          </p:nvPr>
        </p:nvSpPr>
        <p:spPr>
          <a:xfrm>
            <a:off x="2011835" y="318100"/>
            <a:ext cx="50058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dk2"/>
                </a:solidFill>
                <a:latin typeface="Albert Sans"/>
                <a:ea typeface="Albert Sans"/>
                <a:cs typeface="Albert Sans"/>
                <a:sym typeface="Albert Sans"/>
              </a:rPr>
              <a:t>Management Issue/Output Problem</a:t>
            </a:r>
            <a:endParaRPr b="1" sz="2300">
              <a:solidFill>
                <a:schemeClr val="dk2"/>
              </a:solidFill>
              <a:latin typeface="Albert Sans"/>
              <a:ea typeface="Albert Sans"/>
              <a:cs typeface="Albert Sans"/>
              <a:sym typeface="Albert Sans"/>
            </a:endParaRPr>
          </a:p>
        </p:txBody>
      </p:sp>
      <p:sp>
        <p:nvSpPr>
          <p:cNvPr id="1038" name="Google Shape;1038;p101"/>
          <p:cNvSpPr txBox="1"/>
          <p:nvPr/>
        </p:nvSpPr>
        <p:spPr>
          <a:xfrm>
            <a:off x="1291800" y="857863"/>
            <a:ext cx="6560400" cy="3610200"/>
          </a:xfrm>
          <a:prstGeom prst="rect">
            <a:avLst/>
          </a:prstGeom>
          <a:solidFill>
            <a:srgbClr val="000000"/>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300">
                <a:solidFill>
                  <a:srgbClr val="FFFFFF"/>
                </a:solidFill>
                <a:latin typeface="Albert Sans"/>
                <a:ea typeface="Albert Sans"/>
                <a:cs typeface="Albert Sans"/>
                <a:sym typeface="Albert Sans"/>
              </a:rPr>
              <a:t>Output problem:</a:t>
            </a:r>
            <a:r>
              <a:rPr lang="en" sz="1300">
                <a:solidFill>
                  <a:srgbClr val="FFFFFF"/>
                </a:solidFill>
                <a:latin typeface="Albert Sans"/>
                <a:ea typeface="Albert Sans"/>
                <a:cs typeface="Albert Sans"/>
                <a:sym typeface="Albert Sans"/>
              </a:rPr>
              <a:t> </a:t>
            </a:r>
            <a:r>
              <a:rPr lang="en" sz="1300" u="sng">
                <a:solidFill>
                  <a:srgbClr val="FFFFFF"/>
                </a:solidFill>
                <a:latin typeface="Albert Sans"/>
                <a:ea typeface="Albert Sans"/>
                <a:cs typeface="Albert Sans"/>
                <a:sym typeface="Albert Sans"/>
              </a:rPr>
              <a:t>high employee turnover combined with low employee motivation</a:t>
            </a:r>
            <a:r>
              <a:rPr lang="en" sz="1300">
                <a:solidFill>
                  <a:srgbClr val="FFFFFF"/>
                </a:solidFill>
                <a:latin typeface="Albert Sans"/>
                <a:ea typeface="Albert Sans"/>
                <a:cs typeface="Albert Sans"/>
                <a:sym typeface="Albert Sans"/>
              </a:rPr>
              <a:t>, driven by payroll constraints, limited work hours, dissatisfaction with compensation, inconsistent recognition, and concerns about fairness regarding scheduling and treating employees</a:t>
            </a:r>
            <a:endParaRPr sz="1300">
              <a:solidFill>
                <a:srgbClr val="FFFFFF"/>
              </a:solidFill>
              <a:latin typeface="Albert Sans"/>
              <a:ea typeface="Albert Sans"/>
              <a:cs typeface="Albert Sans"/>
              <a:sym typeface="Albert Sans"/>
            </a:endParaRPr>
          </a:p>
          <a:p>
            <a:pPr indent="0" lvl="0" marL="0" rtl="0" algn="l">
              <a:lnSpc>
                <a:spcPct val="100000"/>
              </a:lnSpc>
              <a:spcBef>
                <a:spcPts val="0"/>
              </a:spcBef>
              <a:spcAft>
                <a:spcPts val="0"/>
              </a:spcAft>
              <a:buNone/>
            </a:pPr>
            <a:r>
              <a:t/>
            </a:r>
            <a:endParaRPr sz="1300">
              <a:solidFill>
                <a:srgbClr val="FFFFFF"/>
              </a:solidFill>
              <a:latin typeface="Albert Sans"/>
              <a:ea typeface="Albert Sans"/>
              <a:cs typeface="Albert Sans"/>
              <a:sym typeface="Albert Sans"/>
            </a:endParaRPr>
          </a:p>
          <a:p>
            <a:pPr indent="-323850" lvl="0" marL="457200" rtl="0" algn="l">
              <a:lnSpc>
                <a:spcPct val="100000"/>
              </a:lnSpc>
              <a:spcBef>
                <a:spcPts val="0"/>
              </a:spcBef>
              <a:spcAft>
                <a:spcPts val="0"/>
              </a:spcAft>
              <a:buClr>
                <a:srgbClr val="FFFFFF"/>
              </a:buClr>
              <a:buSzPts val="1500"/>
              <a:buFont typeface="Albert Sans"/>
              <a:buChar char="●"/>
            </a:pPr>
            <a:r>
              <a:rPr lang="en" sz="1200">
                <a:solidFill>
                  <a:srgbClr val="FFFFFF"/>
                </a:solidFill>
                <a:latin typeface="Albert Sans"/>
                <a:ea typeface="Albert Sans"/>
                <a:cs typeface="Albert Sans"/>
                <a:sym typeface="Albert Sans"/>
              </a:rPr>
              <a:t>High turnover leads to less staffing stability and weaker long-term commitment to the store</a:t>
            </a:r>
            <a:endParaRPr sz="1200">
              <a:solidFill>
                <a:srgbClr val="FFFFFF"/>
              </a:solidFill>
              <a:latin typeface="Albert Sans"/>
              <a:ea typeface="Albert Sans"/>
              <a:cs typeface="Albert Sans"/>
              <a:sym typeface="Albert Sans"/>
            </a:endParaRPr>
          </a:p>
          <a:p>
            <a:pPr indent="-323850" lvl="0" marL="457200" rtl="0" algn="l">
              <a:lnSpc>
                <a:spcPct val="100000"/>
              </a:lnSpc>
              <a:spcBef>
                <a:spcPts val="0"/>
              </a:spcBef>
              <a:spcAft>
                <a:spcPts val="0"/>
              </a:spcAft>
              <a:buClr>
                <a:srgbClr val="FFFFFF"/>
              </a:buClr>
              <a:buSzPts val="1500"/>
              <a:buFont typeface="Albert Sans"/>
              <a:buChar char="●"/>
            </a:pPr>
            <a:r>
              <a:rPr lang="en" sz="1200">
                <a:solidFill>
                  <a:srgbClr val="FFFFFF"/>
                </a:solidFill>
                <a:latin typeface="Albert Sans"/>
                <a:ea typeface="Albert Sans"/>
                <a:cs typeface="Albert Sans"/>
                <a:sym typeface="Albert Sans"/>
              </a:rPr>
              <a:t>Low morale affects operational performance, including stocking, teamwork, efficiency, and customer service</a:t>
            </a:r>
            <a:endParaRPr sz="1200">
              <a:solidFill>
                <a:srgbClr val="FFFFFF"/>
              </a:solidFill>
              <a:latin typeface="Albert Sans"/>
              <a:ea typeface="Albert Sans"/>
              <a:cs typeface="Albert Sans"/>
              <a:sym typeface="Albert Sans"/>
            </a:endParaRPr>
          </a:p>
          <a:p>
            <a:pPr indent="-323850" lvl="0" marL="457200" rtl="0" algn="l">
              <a:lnSpc>
                <a:spcPct val="100000"/>
              </a:lnSpc>
              <a:spcBef>
                <a:spcPts val="0"/>
              </a:spcBef>
              <a:spcAft>
                <a:spcPts val="0"/>
              </a:spcAft>
              <a:buClr>
                <a:srgbClr val="FFFFFF"/>
              </a:buClr>
              <a:buSzPts val="1500"/>
              <a:buFont typeface="Albert Sans"/>
              <a:buChar char="●"/>
            </a:pPr>
            <a:r>
              <a:rPr lang="en" sz="1200">
                <a:solidFill>
                  <a:srgbClr val="FFFFFF"/>
                </a:solidFill>
                <a:latin typeface="Albert Sans"/>
                <a:ea typeface="Albert Sans"/>
                <a:cs typeface="Albert Sans"/>
                <a:sym typeface="Albert Sans"/>
              </a:rPr>
              <a:t>Poor communication with little to no recognition can create shifts between managers and employees, making it harder to build a motivated team</a:t>
            </a:r>
            <a:endParaRPr sz="1200">
              <a:solidFill>
                <a:srgbClr val="FFFFFF"/>
              </a:solidFill>
              <a:latin typeface="Albert Sans"/>
              <a:ea typeface="Albert Sans"/>
              <a:cs typeface="Albert Sans"/>
              <a:sym typeface="Albert Sans"/>
            </a:endParaRPr>
          </a:p>
          <a:p>
            <a:pPr indent="-323850" lvl="1" marL="914400" rtl="0" algn="l">
              <a:lnSpc>
                <a:spcPct val="100000"/>
              </a:lnSpc>
              <a:spcBef>
                <a:spcPts val="0"/>
              </a:spcBef>
              <a:spcAft>
                <a:spcPts val="0"/>
              </a:spcAft>
              <a:buClr>
                <a:srgbClr val="FFFFFF"/>
              </a:buClr>
              <a:buSzPts val="1500"/>
              <a:buFont typeface="Albert Sans"/>
              <a:buChar char="○"/>
            </a:pPr>
            <a:r>
              <a:rPr lang="en" sz="1200">
                <a:solidFill>
                  <a:srgbClr val="FFFFFF"/>
                </a:solidFill>
                <a:latin typeface="Albert Sans"/>
                <a:ea typeface="Albert Sans"/>
                <a:cs typeface="Albert Sans"/>
                <a:sym typeface="Albert Sans"/>
              </a:rPr>
              <a:t>Managers focused more on payroll limits, scheduling difficulties, and retention, while employees feel more underpaid, underappreciated, and less motivated to stay for a long time</a:t>
            </a:r>
            <a:endParaRPr sz="1200">
              <a:solidFill>
                <a:srgbClr val="FFFFFF"/>
              </a:solidFill>
              <a:latin typeface="Albert Sans"/>
              <a:ea typeface="Albert Sans"/>
              <a:cs typeface="Albert Sans"/>
              <a:sym typeface="Albert Sans"/>
            </a:endParaRPr>
          </a:p>
          <a:p>
            <a:pPr indent="-323850" lvl="0" marL="457200" rtl="0" algn="l">
              <a:lnSpc>
                <a:spcPct val="100000"/>
              </a:lnSpc>
              <a:spcBef>
                <a:spcPts val="0"/>
              </a:spcBef>
              <a:spcAft>
                <a:spcPts val="0"/>
              </a:spcAft>
              <a:buClr>
                <a:srgbClr val="FFFFFF"/>
              </a:buClr>
              <a:buSzPts val="1500"/>
              <a:buFont typeface="Albert Sans"/>
              <a:buChar char="●"/>
            </a:pPr>
            <a:r>
              <a:rPr b="1" lang="en" sz="1200">
                <a:solidFill>
                  <a:srgbClr val="FFFFFF"/>
                </a:solidFill>
                <a:latin typeface="Albert Sans"/>
                <a:ea typeface="Albert Sans"/>
                <a:cs typeface="Albert Sans"/>
                <a:sym typeface="Albert Sans"/>
              </a:rPr>
              <a:t>Bottom line:</a:t>
            </a:r>
            <a:r>
              <a:rPr lang="en" sz="1200">
                <a:solidFill>
                  <a:srgbClr val="FFFFFF"/>
                </a:solidFill>
                <a:latin typeface="Albert Sans"/>
                <a:ea typeface="Albert Sans"/>
                <a:cs typeface="Albert Sans"/>
                <a:sym typeface="Albert Sans"/>
              </a:rPr>
              <a:t> Burlington's challenge at the Garfield location is not solely a staffing issue, but also a human-centered management issue involving motivation, appreciation, communications, and retention</a:t>
            </a:r>
            <a:endParaRPr sz="1200">
              <a:solidFill>
                <a:srgbClr val="FFFFFF"/>
              </a:solidFill>
              <a:latin typeface="Albert Sans"/>
              <a:ea typeface="Albert Sans"/>
              <a:cs typeface="Albert Sans"/>
              <a:sym typeface="Albert Sans"/>
            </a:endParaRPr>
          </a:p>
          <a:p>
            <a:pPr indent="0" lvl="0" marL="0" rtl="0" algn="l">
              <a:lnSpc>
                <a:spcPct val="100000"/>
              </a:lnSpc>
              <a:spcBef>
                <a:spcPts val="0"/>
              </a:spcBef>
              <a:spcAft>
                <a:spcPts val="0"/>
              </a:spcAft>
              <a:buNone/>
            </a:pPr>
            <a:r>
              <a:t/>
            </a:r>
            <a:endParaRPr sz="1500">
              <a:solidFill>
                <a:srgbClr val="FFFFFF"/>
              </a:solidFill>
              <a:latin typeface="Albert Sans"/>
              <a:ea typeface="Albert Sans"/>
              <a:cs typeface="Albert Sans"/>
              <a:sym typeface="Albert Sans"/>
            </a:endParaRPr>
          </a:p>
          <a:p>
            <a:pPr indent="0" lvl="0" marL="0" rtl="0" algn="l">
              <a:lnSpc>
                <a:spcPct val="100000"/>
              </a:lnSpc>
              <a:spcBef>
                <a:spcPts val="0"/>
              </a:spcBef>
              <a:spcAft>
                <a:spcPts val="0"/>
              </a:spcAft>
              <a:buClr>
                <a:schemeClr val="dk2"/>
              </a:buClr>
              <a:buSzPts val="1100"/>
              <a:buFont typeface="Arial"/>
              <a:buNone/>
            </a:pPr>
            <a:r>
              <a:rPr lang="en" sz="1500">
                <a:solidFill>
                  <a:srgbClr val="FFFFFF"/>
                </a:solidFill>
                <a:latin typeface="Albert Sans"/>
                <a:ea typeface="Albert Sans"/>
                <a:cs typeface="Albert Sans"/>
                <a:sym typeface="Albert Sans"/>
              </a:rPr>
              <a:t>          </a:t>
            </a:r>
            <a:endParaRPr sz="1500">
              <a:solidFill>
                <a:srgbClr val="FFFFFF"/>
              </a:solidFill>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102"/>
          <p:cNvSpPr/>
          <p:nvPr/>
        </p:nvSpPr>
        <p:spPr>
          <a:xfrm>
            <a:off x="7158725"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44" name="Google Shape;1044;p102"/>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045" name="Google Shape;1045;p102"/>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046" name="Google Shape;1046;p102"/>
          <p:cNvSpPr txBox="1"/>
          <p:nvPr>
            <p:ph idx="2" type="body"/>
          </p:nvPr>
        </p:nvSpPr>
        <p:spPr>
          <a:xfrm>
            <a:off x="2745861" y="917130"/>
            <a:ext cx="6106500" cy="1285800"/>
          </a:xfrm>
          <a:prstGeom prst="rect">
            <a:avLst/>
          </a:prstGeom>
          <a:solidFill>
            <a:srgbClr val="000000"/>
          </a:solidFill>
          <a:ln cap="flat" cmpd="sng" w="38100">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FFFFFF"/>
                </a:solidFill>
              </a:rPr>
              <a:t>Motivators</a:t>
            </a:r>
            <a:r>
              <a:rPr lang="en" sz="2000">
                <a:solidFill>
                  <a:srgbClr val="FFFFFF"/>
                </a:solidFill>
              </a:rPr>
              <a:t>: job related factors related to satisfaction</a:t>
            </a:r>
            <a:endParaRPr sz="2000">
              <a:solidFill>
                <a:srgbClr val="FFFFFF"/>
              </a:solidFill>
            </a:endParaRPr>
          </a:p>
          <a:p>
            <a:pPr indent="0" lvl="0" marL="0" rtl="0" algn="l">
              <a:spcBef>
                <a:spcPts val="1200"/>
              </a:spcBef>
              <a:spcAft>
                <a:spcPts val="1200"/>
              </a:spcAft>
              <a:buNone/>
            </a:pPr>
            <a:r>
              <a:rPr b="1" lang="en" sz="2000">
                <a:solidFill>
                  <a:srgbClr val="FFFFFF"/>
                </a:solidFill>
              </a:rPr>
              <a:t>Hygiene factors</a:t>
            </a:r>
            <a:r>
              <a:rPr lang="en" sz="2000">
                <a:solidFill>
                  <a:srgbClr val="FFFFFF"/>
                </a:solidFill>
              </a:rPr>
              <a:t>: working environment factors that lead to job dissatisfaction</a:t>
            </a:r>
            <a:endParaRPr sz="2000">
              <a:solidFill>
                <a:srgbClr val="FFFFFF"/>
              </a:solidFill>
            </a:endParaRPr>
          </a:p>
        </p:txBody>
      </p:sp>
      <p:sp>
        <p:nvSpPr>
          <p:cNvPr id="1047" name="Google Shape;1047;p102"/>
          <p:cNvSpPr txBox="1"/>
          <p:nvPr>
            <p:ph type="title"/>
          </p:nvPr>
        </p:nvSpPr>
        <p:spPr>
          <a:xfrm>
            <a:off x="2681100" y="367650"/>
            <a:ext cx="57258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solidFill>
                  <a:schemeClr val="dk2"/>
                </a:solidFill>
              </a:rPr>
              <a:t>Herzberg’s Motivation-Hygiene Theory</a:t>
            </a:r>
            <a:endParaRPr sz="2300">
              <a:solidFill>
                <a:schemeClr val="dk2"/>
              </a:solidFill>
            </a:endParaRPr>
          </a:p>
        </p:txBody>
      </p:sp>
      <p:pic>
        <p:nvPicPr>
          <p:cNvPr descr="Hexagonal icon." id="1048" name="Google Shape;1048;p102"/>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1049" name="Google Shape;1049;p102"/>
          <p:cNvSpPr txBox="1"/>
          <p:nvPr>
            <p:ph idx="1" type="body"/>
          </p:nvPr>
        </p:nvSpPr>
        <p:spPr>
          <a:xfrm>
            <a:off x="228600" y="2782900"/>
            <a:ext cx="8253000" cy="1613700"/>
          </a:xfrm>
          <a:prstGeom prst="rect">
            <a:avLst/>
          </a:prstGeom>
          <a:solidFill>
            <a:srgbClr val="E06666"/>
          </a:solidFill>
          <a:ln cap="flat" cmpd="sng" w="38100">
            <a:solidFill>
              <a:srgbClr val="0E0E0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There are </a:t>
            </a:r>
            <a:r>
              <a:rPr lang="en">
                <a:solidFill>
                  <a:srgbClr val="FFFFFF"/>
                </a:solidFill>
              </a:rPr>
              <a:t>separate</a:t>
            </a:r>
            <a:r>
              <a:rPr lang="en">
                <a:solidFill>
                  <a:srgbClr val="FFFFFF"/>
                </a:solidFill>
              </a:rPr>
              <a:t> and distinct clusters of factors related to job satisfaction</a:t>
            </a:r>
            <a:endParaRPr>
              <a:solidFill>
                <a:srgbClr val="FFFFFF"/>
              </a:solidFill>
            </a:endParaRPr>
          </a:p>
          <a:p>
            <a:pPr indent="0" lvl="0" marL="0" rtl="0" algn="l">
              <a:spcBef>
                <a:spcPts val="0"/>
              </a:spcBef>
              <a:spcAft>
                <a:spcPts val="0"/>
              </a:spcAft>
              <a:buNone/>
            </a:pPr>
            <a:r>
              <a:t/>
            </a:r>
            <a:endParaRPr>
              <a:solidFill>
                <a:srgbClr val="FFFFFF"/>
              </a:solidFill>
            </a:endParaRPr>
          </a:p>
          <a:p>
            <a:pPr indent="-317500" lvl="0" marL="457200" rtl="0" algn="l">
              <a:spcBef>
                <a:spcPts val="0"/>
              </a:spcBef>
              <a:spcAft>
                <a:spcPts val="0"/>
              </a:spcAft>
              <a:buClr>
                <a:srgbClr val="FFFFFF"/>
              </a:buClr>
              <a:buSzPts val="1400"/>
              <a:buChar char="●"/>
            </a:pPr>
            <a:r>
              <a:rPr lang="en">
                <a:solidFill>
                  <a:srgbClr val="FFFFFF"/>
                </a:solidFill>
              </a:rPr>
              <a:t>Satisfaction does not equal dissatisfaction</a:t>
            </a:r>
            <a:endParaRPr>
              <a:solidFill>
                <a:srgbClr val="FFFFFF"/>
              </a:solidFill>
            </a:endParaRPr>
          </a:p>
          <a:p>
            <a:pPr indent="-317500" lvl="0" marL="457200" rtl="0" algn="l">
              <a:spcBef>
                <a:spcPts val="0"/>
              </a:spcBef>
              <a:spcAft>
                <a:spcPts val="0"/>
              </a:spcAft>
              <a:buClr>
                <a:srgbClr val="FFFFFF"/>
              </a:buClr>
              <a:buSzPts val="1400"/>
              <a:buChar char="●"/>
            </a:pPr>
            <a:r>
              <a:rPr lang="en">
                <a:solidFill>
                  <a:srgbClr val="FFFFFF"/>
                </a:solidFill>
              </a:rPr>
              <a:t>They are independent of each other</a:t>
            </a:r>
            <a:endParaRPr>
              <a:solidFill>
                <a:srgbClr val="FFFFFF"/>
              </a:solidFill>
            </a:endParaRPr>
          </a:p>
          <a:p>
            <a:pPr indent="-317500" lvl="0" marL="457200" rtl="0" algn="l">
              <a:spcBef>
                <a:spcPts val="0"/>
              </a:spcBef>
              <a:spcAft>
                <a:spcPts val="0"/>
              </a:spcAft>
              <a:buClr>
                <a:srgbClr val="FFFFFF"/>
              </a:buClr>
              <a:buSzPts val="1400"/>
              <a:buChar char="●"/>
            </a:pPr>
            <a:r>
              <a:rPr lang="en">
                <a:solidFill>
                  <a:srgbClr val="FFFFFF"/>
                </a:solidFill>
              </a:rPr>
              <a:t>Eliminate dissatisfaction then foster motivation</a:t>
            </a:r>
            <a:endParaRPr>
              <a:solidFill>
                <a:srgbClr val="FFFFFF"/>
              </a:solidFill>
            </a:endParaRPr>
          </a:p>
        </p:txBody>
      </p:sp>
      <p:sp>
        <p:nvSpPr>
          <p:cNvPr id="1050" name="Google Shape;1050;p102"/>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1051" name="Google Shape;1051;p102"/>
          <p:cNvSpPr/>
          <p:nvPr/>
        </p:nvSpPr>
        <p:spPr>
          <a:xfrm>
            <a:off x="57206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52" name="Google Shape;1052;p102"/>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sp>
        <p:nvSpPr>
          <p:cNvPr id="1053" name="Google Shape;1053;p102"/>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54" name="Google Shape;1054;p102"/>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055" name="Google Shape;1055;p102"/>
          <p:cNvSpPr txBox="1"/>
          <p:nvPr>
            <p:ph idx="2" type="sldNum"/>
          </p:nvPr>
        </p:nvSpPr>
        <p:spPr>
          <a:xfrm>
            <a:off x="8501618"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rgbClr val="FFFFFF"/>
                </a:solidFill>
                <a:latin typeface="Albert Sans"/>
                <a:ea typeface="Albert Sans"/>
                <a:cs typeface="Albert Sans"/>
                <a:sym typeface="Albert Sans"/>
              </a:rPr>
              <a:t>‹#›</a:t>
            </a:fld>
            <a:endParaRPr sz="1000">
              <a:solidFill>
                <a:srgbClr val="FFFFFF"/>
              </a:solidFill>
              <a:latin typeface="Albert Sans"/>
              <a:ea typeface="Albert Sans"/>
              <a:cs typeface="Albert Sans"/>
              <a:sym typeface="Albert Sans"/>
            </a:endParaRPr>
          </a:p>
        </p:txBody>
      </p:sp>
      <p:sp>
        <p:nvSpPr>
          <p:cNvPr id="1056" name="Google Shape;1056;p102"/>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sp>
        <p:nvSpPr>
          <p:cNvPr id="1057" name="Google Shape;1057;p102"/>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latin typeface="Albert Sans"/>
              <a:ea typeface="Albert Sans"/>
              <a:cs typeface="Albert Sans"/>
              <a:sym typeface="Albert Sans"/>
            </a:endParaRPr>
          </a:p>
        </p:txBody>
      </p:sp>
      <p:sp>
        <p:nvSpPr>
          <p:cNvPr id="1058" name="Google Shape;1058;p102"/>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1059" name="Google Shape;1059;p102"/>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60" name="Google Shape;1060;p102"/>
          <p:cNvSpPr txBox="1"/>
          <p:nvPr/>
        </p:nvSpPr>
        <p:spPr>
          <a:xfrm>
            <a:off x="5730000" y="462415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pic>
        <p:nvPicPr>
          <p:cNvPr id="1061" name="Google Shape;1061;p102"/>
          <p:cNvPicPr preferRelativeResize="0"/>
          <p:nvPr/>
        </p:nvPicPr>
        <p:blipFill rotWithShape="1">
          <a:blip r:embed="rId4">
            <a:alphaModFix/>
          </a:blip>
          <a:srcRect b="0" l="0" r="0" t="18547"/>
          <a:stretch/>
        </p:blipFill>
        <p:spPr>
          <a:xfrm>
            <a:off x="43132" y="367645"/>
            <a:ext cx="2593451" cy="211250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pic>
        <p:nvPicPr>
          <p:cNvPr descr="Forms response chart. Question title: Have you considered other employment within the past 3 months?. Number of responses: 3 responses." id="1066" name="Google Shape;1066;p103" title="Have you considered other employment within the past 3 months?"/>
          <p:cNvPicPr preferRelativeResize="0"/>
          <p:nvPr/>
        </p:nvPicPr>
        <p:blipFill rotWithShape="1">
          <a:blip r:embed="rId3">
            <a:alphaModFix/>
          </a:blip>
          <a:srcRect b="0" l="0" r="10754" t="0"/>
          <a:stretch/>
        </p:blipFill>
        <p:spPr>
          <a:xfrm>
            <a:off x="4777448" y="3249376"/>
            <a:ext cx="2715250" cy="1288607"/>
          </a:xfrm>
          <a:prstGeom prst="rect">
            <a:avLst/>
          </a:prstGeom>
          <a:noFill/>
          <a:ln>
            <a:noFill/>
          </a:ln>
        </p:spPr>
      </p:pic>
      <p:sp>
        <p:nvSpPr>
          <p:cNvPr id="1067" name="Google Shape;1067;p103"/>
          <p:cNvSpPr/>
          <p:nvPr/>
        </p:nvSpPr>
        <p:spPr>
          <a:xfrm>
            <a:off x="7158725"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68" name="Google Shape;1068;p103"/>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069" name="Google Shape;1069;p103"/>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070" name="Google Shape;1070;p103"/>
          <p:cNvSpPr txBox="1"/>
          <p:nvPr>
            <p:ph idx="1" type="body"/>
          </p:nvPr>
        </p:nvSpPr>
        <p:spPr>
          <a:xfrm>
            <a:off x="712100" y="768925"/>
            <a:ext cx="7171500" cy="888600"/>
          </a:xfrm>
          <a:prstGeom prst="rect">
            <a:avLst/>
          </a:prstGeom>
          <a:solidFill>
            <a:srgbClr val="0E0E0E"/>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Believing compensation and incentives are not equal to their work</a:t>
            </a:r>
            <a:endParaRPr>
              <a:solidFill>
                <a:srgbClr val="FFFFFF"/>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
        <p:nvSpPr>
          <p:cNvPr id="1071" name="Google Shape;1071;p103"/>
          <p:cNvSpPr txBox="1"/>
          <p:nvPr>
            <p:ph type="title"/>
          </p:nvPr>
        </p:nvSpPr>
        <p:spPr>
          <a:xfrm>
            <a:off x="712095" y="317825"/>
            <a:ext cx="57978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solidFill>
                  <a:schemeClr val="dk2"/>
                </a:solidFill>
              </a:rPr>
              <a:t>Hygiene Motivation Theory at Burlington</a:t>
            </a:r>
            <a:endParaRPr sz="2300">
              <a:solidFill>
                <a:schemeClr val="dk2"/>
              </a:solidFill>
            </a:endParaRPr>
          </a:p>
        </p:txBody>
      </p:sp>
      <p:sp>
        <p:nvSpPr>
          <p:cNvPr id="1072" name="Google Shape;1072;p103"/>
          <p:cNvSpPr txBox="1"/>
          <p:nvPr>
            <p:ph idx="2" type="body"/>
          </p:nvPr>
        </p:nvSpPr>
        <p:spPr>
          <a:xfrm>
            <a:off x="724550" y="1657524"/>
            <a:ext cx="7145100" cy="15057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Employees feel “undervalued” and “recognition and feedback was inconsistent” (Natasha Talevska)</a:t>
            </a:r>
            <a:endParaRPr>
              <a:solidFill>
                <a:srgbClr val="FFFFFF"/>
              </a:solidFill>
            </a:endParaRPr>
          </a:p>
          <a:p>
            <a:pPr indent="-317500" lvl="0" marL="457200" rtl="0" algn="l">
              <a:spcBef>
                <a:spcPts val="1000"/>
              </a:spcBef>
              <a:spcAft>
                <a:spcPts val="0"/>
              </a:spcAft>
              <a:buClr>
                <a:srgbClr val="FFFFFF"/>
              </a:buClr>
              <a:buSzPts val="1400"/>
              <a:buChar char="●"/>
            </a:pPr>
            <a:r>
              <a:rPr lang="en">
                <a:solidFill>
                  <a:srgbClr val="FFFFFF"/>
                </a:solidFill>
              </a:rPr>
              <a:t>Survey complaints of pay (</a:t>
            </a:r>
            <a:r>
              <a:rPr lang="en">
                <a:solidFill>
                  <a:srgbClr val="FFFFFF"/>
                </a:solidFill>
              </a:rPr>
              <a:t>hygiene</a:t>
            </a:r>
            <a:r>
              <a:rPr lang="en">
                <a:solidFill>
                  <a:srgbClr val="FFFFFF"/>
                </a:solidFill>
              </a:rPr>
              <a:t> factor)</a:t>
            </a:r>
            <a:endParaRPr>
              <a:solidFill>
                <a:srgbClr val="FFFFFF"/>
              </a:solidFill>
            </a:endParaRPr>
          </a:p>
          <a:p>
            <a:pPr indent="-317500" lvl="0" marL="457200" rtl="0" algn="l">
              <a:spcBef>
                <a:spcPts val="0"/>
              </a:spcBef>
              <a:spcAft>
                <a:spcPts val="0"/>
              </a:spcAft>
              <a:buClr>
                <a:srgbClr val="FFFFFF"/>
              </a:buClr>
              <a:buSzPts val="1400"/>
              <a:buChar char="●"/>
            </a:pPr>
            <a:r>
              <a:rPr lang="en">
                <a:solidFill>
                  <a:srgbClr val="FFFFFF"/>
                </a:solidFill>
              </a:rPr>
              <a:t>Low company morale and high employee turnover due to a lack of motivation</a:t>
            </a:r>
            <a:endParaRPr>
              <a:solidFill>
                <a:srgbClr val="FFFFFF"/>
              </a:solidFill>
            </a:endParaRPr>
          </a:p>
          <a:p>
            <a:pPr indent="-317500" lvl="0" marL="457200" rtl="0" algn="l">
              <a:spcBef>
                <a:spcPts val="0"/>
              </a:spcBef>
              <a:spcAft>
                <a:spcPts val="0"/>
              </a:spcAft>
              <a:buClr>
                <a:srgbClr val="FFFFFF"/>
              </a:buClr>
              <a:buSzPts val="1400"/>
              <a:buChar char="●"/>
            </a:pPr>
            <a:r>
              <a:rPr lang="en">
                <a:solidFill>
                  <a:srgbClr val="FFFFFF"/>
                </a:solidFill>
              </a:rPr>
              <a:t>Creates job dissatisfaction and low satisfaction levels</a:t>
            </a:r>
            <a:endParaRPr>
              <a:solidFill>
                <a:srgbClr val="FFFFFF"/>
              </a:solidFill>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Hexagonal icon." id="1073" name="Google Shape;1073;p103"/>
          <p:cNvPicPr preferRelativeResize="0"/>
          <p:nvPr>
            <p:ph idx="3" type="pic"/>
          </p:nvPr>
        </p:nvPicPr>
        <p:blipFill rotWithShape="1">
          <a:blip r:embed="rId4">
            <a:alphaModFix/>
          </a:blip>
          <a:srcRect b="6598" l="0" r="0" t="6589"/>
          <a:stretch/>
        </p:blipFill>
        <p:spPr>
          <a:xfrm>
            <a:off x="8596800" y="223475"/>
            <a:ext cx="318600" cy="318600"/>
          </a:xfrm>
          <a:prstGeom prst="ellipse">
            <a:avLst/>
          </a:prstGeom>
        </p:spPr>
      </p:pic>
      <p:sp>
        <p:nvSpPr>
          <p:cNvPr id="1074" name="Google Shape;1074;p103"/>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1075" name="Google Shape;1075;p103"/>
          <p:cNvSpPr/>
          <p:nvPr/>
        </p:nvSpPr>
        <p:spPr>
          <a:xfrm>
            <a:off x="57206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76" name="Google Shape;1076;p103"/>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pic>
        <p:nvPicPr>
          <p:cNvPr descr="Forms response chart. Question title: Do you believe your store has a significant challenge in any of the categories below? (check all that apply). Number of responses: 3 responses." id="1077" name="Google Shape;1077;p103" title="Do you believe your store has a significant challenge in any of the categories below? (check all that apply)"/>
          <p:cNvPicPr preferRelativeResize="0"/>
          <p:nvPr/>
        </p:nvPicPr>
        <p:blipFill>
          <a:blip r:embed="rId5">
            <a:alphaModFix/>
          </a:blip>
          <a:stretch>
            <a:fillRect/>
          </a:stretch>
        </p:blipFill>
        <p:spPr>
          <a:xfrm>
            <a:off x="712100" y="3285850"/>
            <a:ext cx="3172883" cy="1613700"/>
          </a:xfrm>
          <a:prstGeom prst="rect">
            <a:avLst/>
          </a:prstGeom>
          <a:noFill/>
          <a:ln>
            <a:noFill/>
          </a:ln>
        </p:spPr>
      </p:pic>
      <p:sp>
        <p:nvSpPr>
          <p:cNvPr id="1078" name="Google Shape;1078;p103"/>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79" name="Google Shape;1079;p103"/>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080" name="Google Shape;1080;p103"/>
          <p:cNvSpPr txBox="1"/>
          <p:nvPr>
            <p:ph idx="2" type="sldNum"/>
          </p:nvPr>
        </p:nvSpPr>
        <p:spPr>
          <a:xfrm>
            <a:off x="8501618"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rgbClr val="FFFFFF"/>
                </a:solidFill>
                <a:latin typeface="Albert Sans"/>
                <a:ea typeface="Albert Sans"/>
                <a:cs typeface="Albert Sans"/>
                <a:sym typeface="Albert Sans"/>
              </a:rPr>
              <a:t>‹#›</a:t>
            </a:fld>
            <a:endParaRPr sz="1000">
              <a:solidFill>
                <a:srgbClr val="FFFFFF"/>
              </a:solidFill>
              <a:latin typeface="Albert Sans"/>
              <a:ea typeface="Albert Sans"/>
              <a:cs typeface="Albert Sans"/>
              <a:sym typeface="Albert Sans"/>
            </a:endParaRPr>
          </a:p>
        </p:txBody>
      </p:sp>
      <p:sp>
        <p:nvSpPr>
          <p:cNvPr id="1081" name="Google Shape;1081;p103"/>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sp>
        <p:nvSpPr>
          <p:cNvPr id="1082" name="Google Shape;1082;p103"/>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latin typeface="Albert Sans"/>
              <a:ea typeface="Albert Sans"/>
              <a:cs typeface="Albert Sans"/>
              <a:sym typeface="Albert Sans"/>
            </a:endParaRPr>
          </a:p>
        </p:txBody>
      </p:sp>
      <p:sp>
        <p:nvSpPr>
          <p:cNvPr id="1083" name="Google Shape;1083;p103"/>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1084" name="Google Shape;1084;p103"/>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85" name="Google Shape;1085;p103"/>
          <p:cNvSpPr txBox="1"/>
          <p:nvPr/>
        </p:nvSpPr>
        <p:spPr>
          <a:xfrm>
            <a:off x="5730000" y="462415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104"/>
          <p:cNvSpPr/>
          <p:nvPr/>
        </p:nvSpPr>
        <p:spPr>
          <a:xfrm>
            <a:off x="7158725"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91" name="Google Shape;1091;p104"/>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092" name="Google Shape;1092;p104"/>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093" name="Google Shape;1093;p104"/>
          <p:cNvSpPr txBox="1"/>
          <p:nvPr>
            <p:ph type="title"/>
          </p:nvPr>
        </p:nvSpPr>
        <p:spPr>
          <a:xfrm>
            <a:off x="2815863" y="316750"/>
            <a:ext cx="27432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solidFill>
                  <a:schemeClr val="dk2"/>
                </a:solidFill>
              </a:rPr>
              <a:t>Continued</a:t>
            </a:r>
            <a:endParaRPr sz="2300">
              <a:solidFill>
                <a:schemeClr val="dk2"/>
              </a:solidFill>
            </a:endParaRPr>
          </a:p>
        </p:txBody>
      </p:sp>
      <p:sp>
        <p:nvSpPr>
          <p:cNvPr id="1094" name="Google Shape;1094;p104"/>
          <p:cNvSpPr txBox="1"/>
          <p:nvPr>
            <p:ph idx="2" type="body"/>
          </p:nvPr>
        </p:nvSpPr>
        <p:spPr>
          <a:xfrm>
            <a:off x="706575" y="815875"/>
            <a:ext cx="6961800" cy="805200"/>
          </a:xfrm>
          <a:prstGeom prst="rect">
            <a:avLst/>
          </a:prstGeom>
          <a:solidFill>
            <a:srgbClr val="000000"/>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Nanum Myeongjo"/>
                <a:ea typeface="Nanum Myeongjo"/>
                <a:cs typeface="Nanum Myeongjo"/>
                <a:sym typeface="Nanum Myeongjo"/>
              </a:rPr>
              <a:t>Burlington’s motivation factors: low </a:t>
            </a:r>
            <a:r>
              <a:rPr lang="en">
                <a:solidFill>
                  <a:srgbClr val="FFFFFF"/>
                </a:solidFill>
                <a:latin typeface="Nanum Myeongjo"/>
                <a:ea typeface="Nanum Myeongjo"/>
                <a:cs typeface="Nanum Myeongjo"/>
                <a:sym typeface="Nanum Myeongjo"/>
              </a:rPr>
              <a:t>achievement, recognition, and advancement</a:t>
            </a:r>
            <a:endParaRPr>
              <a:solidFill>
                <a:srgbClr val="FFFFFF"/>
              </a:solidFill>
              <a:latin typeface="Nanum Myeongjo"/>
              <a:ea typeface="Nanum Myeongjo"/>
              <a:cs typeface="Nanum Myeongjo"/>
              <a:sym typeface="Nanum Myeongjo"/>
            </a:endParaRPr>
          </a:p>
          <a:p>
            <a:pPr indent="0" lvl="0" marL="0" rtl="0" algn="l">
              <a:spcBef>
                <a:spcPts val="1000"/>
              </a:spcBef>
              <a:spcAft>
                <a:spcPts val="0"/>
              </a:spcAft>
              <a:buNone/>
            </a:pPr>
            <a:r>
              <a:rPr lang="en">
                <a:solidFill>
                  <a:srgbClr val="FFFFFF"/>
                </a:solidFill>
                <a:latin typeface="Nanum Myeongjo"/>
                <a:ea typeface="Nanum Myeongjo"/>
                <a:cs typeface="Nanum Myeongjo"/>
                <a:sym typeface="Nanum Myeongjo"/>
              </a:rPr>
              <a:t>Hygiene Factors: unhappiness with salary, rewards, and satisfactory conditions</a:t>
            </a:r>
            <a:endParaRPr>
              <a:solidFill>
                <a:srgbClr val="FFFFFF"/>
              </a:solidFill>
              <a:latin typeface="Nanum Myeongjo"/>
              <a:ea typeface="Nanum Myeongjo"/>
              <a:cs typeface="Nanum Myeongjo"/>
              <a:sym typeface="Nanum Myeongjo"/>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Hexagonal icon." id="1095" name="Google Shape;1095;p104"/>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1096" name="Google Shape;1096;p104"/>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1097" name="Google Shape;1097;p104"/>
          <p:cNvSpPr/>
          <p:nvPr/>
        </p:nvSpPr>
        <p:spPr>
          <a:xfrm>
            <a:off x="57206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098" name="Google Shape;1098;p104"/>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sp>
        <p:nvSpPr>
          <p:cNvPr id="1099" name="Google Shape;1099;p104"/>
          <p:cNvSpPr txBox="1"/>
          <p:nvPr/>
        </p:nvSpPr>
        <p:spPr>
          <a:xfrm>
            <a:off x="999450" y="1828975"/>
            <a:ext cx="6251400" cy="26310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Albert Sans"/>
                <a:ea typeface="Albert Sans"/>
                <a:cs typeface="Albert Sans"/>
                <a:sym typeface="Albert Sans"/>
              </a:rPr>
              <a:t>High Dissatisfaction leads to short employee tenure, and additionally stresses inconsistent scheduling and reliability</a:t>
            </a:r>
            <a:endParaRPr>
              <a:solidFill>
                <a:srgbClr val="FFFFFF"/>
              </a:solidFill>
              <a:latin typeface="Albert Sans"/>
              <a:ea typeface="Albert Sans"/>
              <a:cs typeface="Albert Sans"/>
              <a:sym typeface="Albert Sans"/>
            </a:endParaRPr>
          </a:p>
          <a:p>
            <a:pPr indent="0" lvl="0" marL="0" rtl="0" algn="l">
              <a:spcBef>
                <a:spcPts val="0"/>
              </a:spcBef>
              <a:spcAft>
                <a:spcPts val="0"/>
              </a:spcAft>
              <a:buNone/>
            </a:pPr>
            <a:r>
              <a:t/>
            </a:r>
            <a:endParaRPr>
              <a:solidFill>
                <a:srgbClr val="FFFFFF"/>
              </a:solidFill>
              <a:latin typeface="Albert Sans"/>
              <a:ea typeface="Albert Sans"/>
              <a:cs typeface="Albert Sans"/>
              <a:sym typeface="Albert Sans"/>
            </a:endParaRPr>
          </a:p>
          <a:p>
            <a:pPr indent="-317500" lvl="0" marL="457200" rtl="0" algn="l">
              <a:spcBef>
                <a:spcPts val="0"/>
              </a:spcBef>
              <a:spcAft>
                <a:spcPts val="0"/>
              </a:spcAft>
              <a:buClr>
                <a:srgbClr val="FFFFFF"/>
              </a:buClr>
              <a:buSzPts val="1400"/>
              <a:buFont typeface="Albert Sans"/>
              <a:buChar char="●"/>
            </a:pPr>
            <a:r>
              <a:rPr lang="en">
                <a:solidFill>
                  <a:srgbClr val="FFFFFF"/>
                </a:solidFill>
                <a:latin typeface="Albert Sans"/>
                <a:ea typeface="Albert Sans"/>
                <a:cs typeface="Albert Sans"/>
                <a:sym typeface="Albert Sans"/>
              </a:rPr>
              <a:t>Financial and economic instability pushes employees to prioritize their compensation when choosing a workplace</a:t>
            </a:r>
            <a:endParaRPr>
              <a:solidFill>
                <a:srgbClr val="FFFFFF"/>
              </a:solidFill>
              <a:latin typeface="Albert Sans"/>
              <a:ea typeface="Albert Sans"/>
              <a:cs typeface="Albert Sans"/>
              <a:sym typeface="Albert Sans"/>
            </a:endParaRPr>
          </a:p>
          <a:p>
            <a:pPr indent="-317500" lvl="0" marL="457200" rtl="0" algn="l">
              <a:spcBef>
                <a:spcPts val="0"/>
              </a:spcBef>
              <a:spcAft>
                <a:spcPts val="0"/>
              </a:spcAft>
              <a:buClr>
                <a:srgbClr val="FFFFFF"/>
              </a:buClr>
              <a:buSzPts val="1400"/>
              <a:buFont typeface="Albert Sans"/>
              <a:buChar char="●"/>
            </a:pPr>
            <a:r>
              <a:rPr lang="en">
                <a:solidFill>
                  <a:srgbClr val="FFFFFF"/>
                </a:solidFill>
                <a:latin typeface="Albert Sans"/>
                <a:ea typeface="Albert Sans"/>
                <a:cs typeface="Albert Sans"/>
                <a:sym typeface="Albert Sans"/>
              </a:rPr>
              <a:t>None of survey respondents ranked wages as a benefit of Burlington</a:t>
            </a:r>
            <a:endParaRPr>
              <a:solidFill>
                <a:srgbClr val="FFFFFF"/>
              </a:solidFill>
              <a:latin typeface="Albert Sans"/>
              <a:ea typeface="Albert Sans"/>
              <a:cs typeface="Albert Sans"/>
              <a:sym typeface="Albert Sans"/>
            </a:endParaRPr>
          </a:p>
          <a:p>
            <a:pPr indent="0" lvl="0" marL="0" rtl="0" algn="l">
              <a:spcBef>
                <a:spcPts val="0"/>
              </a:spcBef>
              <a:spcAft>
                <a:spcPts val="0"/>
              </a:spcAft>
              <a:buNone/>
            </a:pPr>
            <a:r>
              <a:t/>
            </a:r>
            <a:endParaRPr>
              <a:solidFill>
                <a:srgbClr val="FFFFFF"/>
              </a:solidFill>
              <a:latin typeface="Albert Sans"/>
              <a:ea typeface="Albert Sans"/>
              <a:cs typeface="Albert Sans"/>
              <a:sym typeface="Albert Sans"/>
            </a:endParaRPr>
          </a:p>
          <a:p>
            <a:pPr indent="-317500" lvl="0" marL="457200" rtl="0" algn="l">
              <a:spcBef>
                <a:spcPts val="0"/>
              </a:spcBef>
              <a:spcAft>
                <a:spcPts val="0"/>
              </a:spcAft>
              <a:buClr>
                <a:srgbClr val="FFFFFF"/>
              </a:buClr>
              <a:buSzPts val="1400"/>
              <a:buFont typeface="Albert Sans"/>
              <a:buChar char="●"/>
            </a:pPr>
            <a:r>
              <a:rPr lang="en">
                <a:solidFill>
                  <a:srgbClr val="FFFFFF"/>
                </a:solidFill>
                <a:latin typeface="Albert Sans"/>
                <a:ea typeface="Albert Sans"/>
                <a:cs typeface="Albert Sans"/>
                <a:sym typeface="Albert Sans"/>
              </a:rPr>
              <a:t>Employee satisfaction is crucial to maintain to keep staff motivated, successful, and productive</a:t>
            </a:r>
            <a:endParaRPr>
              <a:solidFill>
                <a:srgbClr val="FFFFFF"/>
              </a:solidFill>
              <a:latin typeface="Albert Sans"/>
              <a:ea typeface="Albert Sans"/>
              <a:cs typeface="Albert Sans"/>
              <a:sym typeface="Albert Sans"/>
            </a:endParaRPr>
          </a:p>
          <a:p>
            <a:pPr indent="-317500" lvl="0" marL="457200" rtl="0" algn="l">
              <a:spcBef>
                <a:spcPts val="0"/>
              </a:spcBef>
              <a:spcAft>
                <a:spcPts val="0"/>
              </a:spcAft>
              <a:buClr>
                <a:srgbClr val="FFFFFF"/>
              </a:buClr>
              <a:buSzPts val="1400"/>
              <a:buFont typeface="Albert Sans"/>
              <a:buChar char="●"/>
            </a:pPr>
            <a:r>
              <a:rPr lang="en">
                <a:solidFill>
                  <a:srgbClr val="FFFFFF"/>
                </a:solidFill>
                <a:latin typeface="Albert Sans"/>
                <a:ea typeface="Albert Sans"/>
                <a:cs typeface="Albert Sans"/>
                <a:sym typeface="Albert Sans"/>
              </a:rPr>
              <a:t>Desire goal: improve satisfaction (motivators) and lower dissatisfaction (</a:t>
            </a:r>
            <a:r>
              <a:rPr lang="en">
                <a:solidFill>
                  <a:srgbClr val="FFFFFF"/>
                </a:solidFill>
                <a:latin typeface="Albert Sans"/>
                <a:ea typeface="Albert Sans"/>
                <a:cs typeface="Albert Sans"/>
                <a:sym typeface="Albert Sans"/>
              </a:rPr>
              <a:t>hygiene</a:t>
            </a:r>
            <a:r>
              <a:rPr lang="en">
                <a:solidFill>
                  <a:srgbClr val="FFFFFF"/>
                </a:solidFill>
                <a:latin typeface="Albert Sans"/>
                <a:ea typeface="Albert Sans"/>
                <a:cs typeface="Albert Sans"/>
                <a:sym typeface="Albert Sans"/>
              </a:rPr>
              <a:t> factors) </a:t>
            </a:r>
            <a:endParaRPr>
              <a:solidFill>
                <a:srgbClr val="FFFFFF"/>
              </a:solidFill>
              <a:latin typeface="Albert Sans"/>
              <a:ea typeface="Albert Sans"/>
              <a:cs typeface="Albert Sans"/>
              <a:sym typeface="Albert Sans"/>
            </a:endParaRPr>
          </a:p>
        </p:txBody>
      </p:sp>
      <p:sp>
        <p:nvSpPr>
          <p:cNvPr id="1100" name="Google Shape;1100;p104"/>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01" name="Google Shape;1101;p104"/>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102" name="Google Shape;1102;p104"/>
          <p:cNvSpPr txBox="1"/>
          <p:nvPr>
            <p:ph idx="2" type="sldNum"/>
          </p:nvPr>
        </p:nvSpPr>
        <p:spPr>
          <a:xfrm>
            <a:off x="8501618"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rgbClr val="FFFFFF"/>
                </a:solidFill>
                <a:latin typeface="Albert Sans"/>
                <a:ea typeface="Albert Sans"/>
                <a:cs typeface="Albert Sans"/>
                <a:sym typeface="Albert Sans"/>
              </a:rPr>
              <a:t>‹#›</a:t>
            </a:fld>
            <a:endParaRPr sz="1000">
              <a:solidFill>
                <a:srgbClr val="FFFFFF"/>
              </a:solidFill>
              <a:latin typeface="Albert Sans"/>
              <a:ea typeface="Albert Sans"/>
              <a:cs typeface="Albert Sans"/>
              <a:sym typeface="Albert Sans"/>
            </a:endParaRPr>
          </a:p>
        </p:txBody>
      </p:sp>
      <p:sp>
        <p:nvSpPr>
          <p:cNvPr id="1103" name="Google Shape;1103;p104"/>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sp>
        <p:nvSpPr>
          <p:cNvPr id="1104" name="Google Shape;1104;p104"/>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latin typeface="Albert Sans"/>
              <a:ea typeface="Albert Sans"/>
              <a:cs typeface="Albert Sans"/>
              <a:sym typeface="Albert Sans"/>
            </a:endParaRPr>
          </a:p>
        </p:txBody>
      </p:sp>
      <p:sp>
        <p:nvSpPr>
          <p:cNvPr id="1105" name="Google Shape;1105;p104"/>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1106" name="Google Shape;1106;p104"/>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07" name="Google Shape;1107;p104"/>
          <p:cNvSpPr txBox="1"/>
          <p:nvPr/>
        </p:nvSpPr>
        <p:spPr>
          <a:xfrm>
            <a:off x="5730000" y="462415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1111" name="Shape 1111"/>
        <p:cNvGrpSpPr/>
        <p:nvPr/>
      </p:nvGrpSpPr>
      <p:grpSpPr>
        <a:xfrm>
          <a:off x="0" y="0"/>
          <a:ext cx="0" cy="0"/>
          <a:chOff x="0" y="0"/>
          <a:chExt cx="0" cy="0"/>
        </a:xfrm>
      </p:grpSpPr>
      <p:sp>
        <p:nvSpPr>
          <p:cNvPr id="1112" name="Google Shape;1112;p105"/>
          <p:cNvSpPr/>
          <p:nvPr/>
        </p:nvSpPr>
        <p:spPr>
          <a:xfrm>
            <a:off x="7158725"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13" name="Google Shape;1113;p105"/>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114" name="Google Shape;1114;p105"/>
          <p:cNvSpPr txBox="1"/>
          <p:nvPr>
            <p:ph idx="12" type="sldNum"/>
          </p:nvPr>
        </p:nvSpPr>
        <p:spPr>
          <a:xfrm>
            <a:off x="8491688"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rgbClr val="FFFFFF"/>
                </a:solidFill>
                <a:latin typeface="Albert Sans"/>
                <a:ea typeface="Albert Sans"/>
                <a:cs typeface="Albert Sans"/>
                <a:sym typeface="Albert Sans"/>
              </a:rPr>
              <a:t>‹#›</a:t>
            </a:fld>
            <a:endParaRPr sz="1000">
              <a:solidFill>
                <a:srgbClr val="FFFFFF"/>
              </a:solidFill>
              <a:latin typeface="Albert Sans"/>
              <a:ea typeface="Albert Sans"/>
              <a:cs typeface="Albert Sans"/>
              <a:sym typeface="Albert Sans"/>
            </a:endParaRPr>
          </a:p>
        </p:txBody>
      </p:sp>
      <p:sp>
        <p:nvSpPr>
          <p:cNvPr id="1115" name="Google Shape;1115;p105"/>
          <p:cNvSpPr txBox="1"/>
          <p:nvPr>
            <p:ph idx="2" type="body"/>
          </p:nvPr>
        </p:nvSpPr>
        <p:spPr>
          <a:xfrm>
            <a:off x="347550" y="757500"/>
            <a:ext cx="5213100" cy="4162500"/>
          </a:xfrm>
          <a:prstGeom prst="rect">
            <a:avLst/>
          </a:prstGeom>
          <a:solidFill>
            <a:srgbClr val="FFFFFF"/>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000000"/>
                </a:solidFill>
                <a:latin typeface="Albert Sans"/>
                <a:ea typeface="Albert Sans"/>
                <a:cs typeface="Albert Sans"/>
                <a:sym typeface="Albert Sans"/>
              </a:rPr>
              <a:t>Distributive Justice: employee judgements about the </a:t>
            </a:r>
            <a:r>
              <a:rPr lang="en" sz="1700">
                <a:solidFill>
                  <a:srgbClr val="000000"/>
                </a:solidFill>
                <a:latin typeface="Albert Sans"/>
                <a:ea typeface="Albert Sans"/>
                <a:cs typeface="Albert Sans"/>
                <a:sym typeface="Albert Sans"/>
              </a:rPr>
              <a:t>appropriateness</a:t>
            </a:r>
            <a:r>
              <a:rPr lang="en" sz="1700">
                <a:solidFill>
                  <a:srgbClr val="000000"/>
                </a:solidFill>
                <a:latin typeface="Albert Sans"/>
                <a:ea typeface="Albert Sans"/>
                <a:cs typeface="Albert Sans"/>
                <a:sym typeface="Albert Sans"/>
              </a:rPr>
              <a:t> of resource allocation</a:t>
            </a:r>
            <a:endParaRPr sz="1700">
              <a:solidFill>
                <a:srgbClr val="000000"/>
              </a:solidFill>
              <a:latin typeface="Albert Sans"/>
              <a:ea typeface="Albert Sans"/>
              <a:cs typeface="Albert Sans"/>
              <a:sym typeface="Albert Sans"/>
            </a:endParaRPr>
          </a:p>
          <a:p>
            <a:pPr indent="-336550" lvl="0" marL="457200" rtl="0" algn="l">
              <a:lnSpc>
                <a:spcPct val="115000"/>
              </a:lnSpc>
              <a:spcBef>
                <a:spcPts val="1200"/>
              </a:spcBef>
              <a:spcAft>
                <a:spcPts val="0"/>
              </a:spcAft>
              <a:buClr>
                <a:srgbClr val="000000"/>
              </a:buClr>
              <a:buSzPts val="1700"/>
              <a:buFont typeface="Albert Sans"/>
              <a:buChar char="●"/>
            </a:pPr>
            <a:r>
              <a:rPr lang="en" sz="1700">
                <a:solidFill>
                  <a:srgbClr val="000000"/>
                </a:solidFill>
                <a:latin typeface="Albert Sans"/>
                <a:ea typeface="Albert Sans"/>
                <a:cs typeface="Albert Sans"/>
                <a:sym typeface="Albert Sans"/>
              </a:rPr>
              <a:t>Did you get your fair share?</a:t>
            </a:r>
            <a:endParaRPr sz="1700">
              <a:solidFill>
                <a:srgbClr val="000000"/>
              </a:solidFill>
              <a:latin typeface="Albert Sans"/>
              <a:ea typeface="Albert Sans"/>
              <a:cs typeface="Albert Sans"/>
              <a:sym typeface="Albert Sans"/>
            </a:endParaRPr>
          </a:p>
          <a:p>
            <a:pPr indent="-336550" lvl="0" marL="457200" rtl="0" algn="l">
              <a:lnSpc>
                <a:spcPct val="115000"/>
              </a:lnSpc>
              <a:spcBef>
                <a:spcPts val="0"/>
              </a:spcBef>
              <a:spcAft>
                <a:spcPts val="0"/>
              </a:spcAft>
              <a:buClr>
                <a:srgbClr val="000000"/>
              </a:buClr>
              <a:buSzPts val="1700"/>
              <a:buFont typeface="Albert Sans"/>
              <a:buChar char="●"/>
            </a:pPr>
            <a:r>
              <a:rPr lang="en" sz="1700">
                <a:solidFill>
                  <a:srgbClr val="000000"/>
                </a:solidFill>
                <a:latin typeface="Albert Sans"/>
                <a:ea typeface="Albert Sans"/>
                <a:cs typeface="Albert Sans"/>
                <a:sym typeface="Albert Sans"/>
              </a:rPr>
              <a:t>Based on equality, equity, and need</a:t>
            </a:r>
            <a:endParaRPr sz="1700">
              <a:solidFill>
                <a:srgbClr val="000000"/>
              </a:solidFill>
              <a:latin typeface="Albert Sans"/>
              <a:ea typeface="Albert Sans"/>
              <a:cs typeface="Albert Sans"/>
              <a:sym typeface="Albert Sans"/>
            </a:endParaRPr>
          </a:p>
          <a:p>
            <a:pPr indent="0" lvl="0" marL="0" rtl="0" algn="l">
              <a:spcBef>
                <a:spcPts val="0"/>
              </a:spcBef>
              <a:spcAft>
                <a:spcPts val="0"/>
              </a:spcAft>
              <a:buNone/>
            </a:pPr>
            <a:r>
              <a:rPr lang="en" sz="1700">
                <a:solidFill>
                  <a:srgbClr val="000000"/>
                </a:solidFill>
                <a:latin typeface="Albert Sans"/>
                <a:ea typeface="Albert Sans"/>
                <a:cs typeface="Albert Sans"/>
                <a:sym typeface="Albert Sans"/>
              </a:rPr>
              <a:t>Procedural Justice: employee judgments about the fairness of how decisions are made or implemented</a:t>
            </a:r>
            <a:endParaRPr sz="1700">
              <a:solidFill>
                <a:srgbClr val="000000"/>
              </a:solidFill>
              <a:latin typeface="Albert Sans"/>
              <a:ea typeface="Albert Sans"/>
              <a:cs typeface="Albert Sans"/>
              <a:sym typeface="Albert Sans"/>
            </a:endParaRPr>
          </a:p>
          <a:p>
            <a:pPr indent="-336550" lvl="0" marL="457200" rtl="0" algn="l">
              <a:spcBef>
                <a:spcPts val="1200"/>
              </a:spcBef>
              <a:spcAft>
                <a:spcPts val="0"/>
              </a:spcAft>
              <a:buClr>
                <a:srgbClr val="000000"/>
              </a:buClr>
              <a:buSzPts val="1700"/>
              <a:buFont typeface="Albert Sans"/>
              <a:buChar char="●"/>
            </a:pPr>
            <a:r>
              <a:rPr lang="en" sz="1700">
                <a:solidFill>
                  <a:srgbClr val="000000"/>
                </a:solidFill>
                <a:latin typeface="Albert Sans"/>
                <a:ea typeface="Albert Sans"/>
                <a:cs typeface="Albert Sans"/>
                <a:sym typeface="Albert Sans"/>
              </a:rPr>
              <a:t>Were the procedures used to determine the outcome fair?</a:t>
            </a:r>
            <a:endParaRPr sz="1700">
              <a:solidFill>
                <a:srgbClr val="000000"/>
              </a:solidFill>
              <a:latin typeface="Albert Sans"/>
              <a:ea typeface="Albert Sans"/>
              <a:cs typeface="Albert Sans"/>
              <a:sym typeface="Albert Sans"/>
            </a:endParaRPr>
          </a:p>
          <a:p>
            <a:pPr indent="-336550" lvl="0" marL="457200" rtl="0" algn="l">
              <a:spcBef>
                <a:spcPts val="0"/>
              </a:spcBef>
              <a:spcAft>
                <a:spcPts val="0"/>
              </a:spcAft>
              <a:buClr>
                <a:srgbClr val="000000"/>
              </a:buClr>
              <a:buSzPts val="1700"/>
              <a:buFont typeface="Albert Sans"/>
              <a:buChar char="●"/>
            </a:pPr>
            <a:r>
              <a:rPr lang="en" sz="1700">
                <a:solidFill>
                  <a:srgbClr val="000000"/>
                </a:solidFill>
                <a:latin typeface="Albert Sans"/>
                <a:ea typeface="Albert Sans"/>
                <a:cs typeface="Albert Sans"/>
                <a:sym typeface="Albert Sans"/>
              </a:rPr>
              <a:t>Based on consistency, bias-free, neutrality, and ethics</a:t>
            </a:r>
            <a:endParaRPr sz="1700">
              <a:solidFill>
                <a:srgbClr val="000000"/>
              </a:solidFill>
              <a:latin typeface="Albert Sans"/>
              <a:ea typeface="Albert Sans"/>
              <a:cs typeface="Albert Sans"/>
              <a:sym typeface="Albert Sans"/>
            </a:endParaRPr>
          </a:p>
          <a:p>
            <a:pPr indent="0" lvl="0" marL="0" rtl="0" algn="l">
              <a:spcBef>
                <a:spcPts val="1200"/>
              </a:spcBef>
              <a:spcAft>
                <a:spcPts val="0"/>
              </a:spcAft>
              <a:buNone/>
            </a:pPr>
            <a:r>
              <a:rPr lang="en" sz="1700">
                <a:solidFill>
                  <a:srgbClr val="000000"/>
                </a:solidFill>
                <a:latin typeface="Albert Sans"/>
                <a:ea typeface="Albert Sans"/>
                <a:cs typeface="Albert Sans"/>
                <a:sym typeface="Albert Sans"/>
              </a:rPr>
              <a:t>Managers = distributive</a:t>
            </a:r>
            <a:endParaRPr sz="1700">
              <a:solidFill>
                <a:srgbClr val="000000"/>
              </a:solidFill>
              <a:latin typeface="Albert Sans"/>
              <a:ea typeface="Albert Sans"/>
              <a:cs typeface="Albert Sans"/>
              <a:sym typeface="Albert Sans"/>
            </a:endParaRPr>
          </a:p>
          <a:p>
            <a:pPr indent="0" lvl="0" marL="0" rtl="0" algn="l">
              <a:spcBef>
                <a:spcPts val="1200"/>
              </a:spcBef>
              <a:spcAft>
                <a:spcPts val="0"/>
              </a:spcAft>
              <a:buNone/>
            </a:pPr>
            <a:r>
              <a:rPr lang="en" sz="1700">
                <a:solidFill>
                  <a:srgbClr val="000000"/>
                </a:solidFill>
                <a:latin typeface="Albert Sans"/>
                <a:ea typeface="Albert Sans"/>
                <a:cs typeface="Albert Sans"/>
                <a:sym typeface="Albert Sans"/>
              </a:rPr>
              <a:t>Employees = procedural</a:t>
            </a:r>
            <a:endParaRPr sz="1700">
              <a:solidFill>
                <a:srgbClr val="000000"/>
              </a:solidFill>
              <a:latin typeface="Albert Sans"/>
              <a:ea typeface="Albert Sans"/>
              <a:cs typeface="Albert Sans"/>
              <a:sym typeface="Albert Sans"/>
            </a:endParaRPr>
          </a:p>
          <a:p>
            <a:pPr indent="0" lvl="0" marL="0" rtl="0" algn="l">
              <a:lnSpc>
                <a:spcPct val="115000"/>
              </a:lnSpc>
              <a:spcBef>
                <a:spcPts val="1200"/>
              </a:spcBef>
              <a:spcAft>
                <a:spcPts val="0"/>
              </a:spcAft>
              <a:buNone/>
            </a:pPr>
            <a:r>
              <a:t/>
            </a:r>
            <a:endParaRPr sz="1400">
              <a:latin typeface="Albert Sans"/>
              <a:ea typeface="Albert Sans"/>
              <a:cs typeface="Albert Sans"/>
              <a:sym typeface="Albert Sans"/>
            </a:endParaRPr>
          </a:p>
          <a:p>
            <a:pPr indent="0" lvl="0" marL="0" rtl="0" algn="l">
              <a:spcBef>
                <a:spcPts val="0"/>
              </a:spcBef>
              <a:spcAft>
                <a:spcPts val="1200"/>
              </a:spcAft>
              <a:buNone/>
            </a:pPr>
            <a:r>
              <a:t/>
            </a:r>
            <a:endParaRPr/>
          </a:p>
        </p:txBody>
      </p:sp>
      <p:sp>
        <p:nvSpPr>
          <p:cNvPr id="1116" name="Google Shape;1116;p105"/>
          <p:cNvSpPr txBox="1"/>
          <p:nvPr>
            <p:ph type="title"/>
          </p:nvPr>
        </p:nvSpPr>
        <p:spPr>
          <a:xfrm>
            <a:off x="853031" y="223500"/>
            <a:ext cx="4705200" cy="31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solidFill>
                  <a:schemeClr val="dk2"/>
                </a:solidFill>
              </a:rPr>
              <a:t>Distributive/Procedural Justice</a:t>
            </a:r>
            <a:endParaRPr sz="2300">
              <a:solidFill>
                <a:schemeClr val="dk2"/>
              </a:solidFill>
            </a:endParaRPr>
          </a:p>
        </p:txBody>
      </p:sp>
      <p:pic>
        <p:nvPicPr>
          <p:cNvPr descr="Hexagonal icon." id="1117" name="Google Shape;1117;p105"/>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1118" name="Google Shape;1118;p105"/>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19" name="Google Shape;1119;p105"/>
          <p:cNvSpPr txBox="1"/>
          <p:nvPr/>
        </p:nvSpPr>
        <p:spPr>
          <a:xfrm>
            <a:off x="5730000" y="462415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grpSp>
        <p:nvGrpSpPr>
          <p:cNvPr id="1120" name="Google Shape;1120;p105"/>
          <p:cNvGrpSpPr/>
          <p:nvPr/>
        </p:nvGrpSpPr>
        <p:grpSpPr>
          <a:xfrm>
            <a:off x="5815821" y="1113531"/>
            <a:ext cx="3113956" cy="2939148"/>
            <a:chOff x="172275" y="1400125"/>
            <a:chExt cx="2482625" cy="2343258"/>
          </a:xfrm>
        </p:grpSpPr>
        <p:pic>
          <p:nvPicPr>
            <p:cNvPr id="1121" name="Google Shape;1121;p105"/>
            <p:cNvPicPr preferRelativeResize="0"/>
            <p:nvPr/>
          </p:nvPicPr>
          <p:blipFill>
            <a:blip r:embed="rId4">
              <a:alphaModFix/>
            </a:blip>
            <a:stretch>
              <a:fillRect/>
            </a:stretch>
          </p:blipFill>
          <p:spPr>
            <a:xfrm>
              <a:off x="172275" y="1400125"/>
              <a:ext cx="2482625" cy="2343258"/>
            </a:xfrm>
            <a:prstGeom prst="rect">
              <a:avLst/>
            </a:prstGeom>
            <a:noFill/>
            <a:ln>
              <a:noFill/>
            </a:ln>
          </p:spPr>
        </p:pic>
        <p:sp>
          <p:nvSpPr>
            <p:cNvPr id="1122" name="Google Shape;1122;p105"/>
            <p:cNvSpPr/>
            <p:nvPr/>
          </p:nvSpPr>
          <p:spPr>
            <a:xfrm>
              <a:off x="693875" y="1618500"/>
              <a:ext cx="288000" cy="268200"/>
            </a:xfrm>
            <a:prstGeom prst="star5">
              <a:avLst>
                <a:gd fmla="val 19098" name="adj"/>
                <a:gd fmla="val 105146" name="hf"/>
                <a:gd fmla="val 110557" name="vf"/>
              </a:avLst>
            </a:prstGeom>
            <a:solidFill>
              <a:srgbClr val="FFFF00"/>
            </a:solidFill>
            <a:ln cap="flat" cmpd="sng" w="11950">
              <a:solidFill>
                <a:srgbClr val="FFFF00"/>
              </a:solidFill>
              <a:prstDash val="solid"/>
              <a:round/>
              <a:headEnd len="sm" w="sm" type="none"/>
              <a:tailEnd len="sm" w="sm" type="none"/>
            </a:ln>
          </p:spPr>
          <p:txBody>
            <a:bodyPr anchorCtr="0" anchor="ctr" bIns="114675" lIns="114675" spcFirstLastPara="1" rIns="114675" wrap="square" tIns="114675">
              <a:noAutofit/>
            </a:bodyPr>
            <a:lstStyle/>
            <a:p>
              <a:pPr indent="0" lvl="0" marL="0" rtl="0" algn="ctr">
                <a:spcBef>
                  <a:spcPts val="0"/>
                </a:spcBef>
                <a:spcAft>
                  <a:spcPts val="0"/>
                </a:spcAft>
                <a:buNone/>
              </a:pPr>
              <a:r>
                <a:t/>
              </a:r>
              <a:endParaRPr sz="1756">
                <a:latin typeface="Albert Sans"/>
                <a:ea typeface="Albert Sans"/>
                <a:cs typeface="Albert Sans"/>
                <a:sym typeface="Albert Sans"/>
              </a:endParaRPr>
            </a:p>
          </p:txBody>
        </p:sp>
        <p:sp>
          <p:nvSpPr>
            <p:cNvPr id="1123" name="Google Shape;1123;p105"/>
            <p:cNvSpPr/>
            <p:nvPr/>
          </p:nvSpPr>
          <p:spPr>
            <a:xfrm>
              <a:off x="1269588" y="2694375"/>
              <a:ext cx="288000" cy="268200"/>
            </a:xfrm>
            <a:prstGeom prst="star5">
              <a:avLst>
                <a:gd fmla="val 19098" name="adj"/>
                <a:gd fmla="val 105146" name="hf"/>
                <a:gd fmla="val 110557" name="vf"/>
              </a:avLst>
            </a:prstGeom>
            <a:solidFill>
              <a:srgbClr val="FFFF00"/>
            </a:solidFill>
            <a:ln cap="flat" cmpd="sng" w="11950">
              <a:solidFill>
                <a:srgbClr val="FFFF00"/>
              </a:solidFill>
              <a:prstDash val="solid"/>
              <a:round/>
              <a:headEnd len="sm" w="sm" type="none"/>
              <a:tailEnd len="sm" w="sm" type="none"/>
            </a:ln>
          </p:spPr>
          <p:txBody>
            <a:bodyPr anchorCtr="0" anchor="ctr" bIns="114675" lIns="114675" spcFirstLastPara="1" rIns="114675" wrap="square" tIns="114675">
              <a:noAutofit/>
            </a:bodyPr>
            <a:lstStyle/>
            <a:p>
              <a:pPr indent="0" lvl="0" marL="0" rtl="0" algn="ctr">
                <a:spcBef>
                  <a:spcPts val="0"/>
                </a:spcBef>
                <a:spcAft>
                  <a:spcPts val="0"/>
                </a:spcAft>
                <a:buNone/>
              </a:pPr>
              <a:r>
                <a:t/>
              </a:r>
              <a:endParaRPr sz="1756">
                <a:latin typeface="Albert Sans"/>
                <a:ea typeface="Albert Sans"/>
                <a:cs typeface="Albert Sans"/>
                <a:sym typeface="Albert Sans"/>
              </a:endParaRPr>
            </a:p>
          </p:txBody>
        </p:sp>
      </p:grpSp>
      <p:sp>
        <p:nvSpPr>
          <p:cNvPr id="1124" name="Google Shape;1124;p105"/>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25" name="Google Shape;1125;p105"/>
          <p:cNvSpPr txBox="1"/>
          <p:nvPr>
            <p:ph idx="4" type="title"/>
          </p:nvPr>
        </p:nvSpPr>
        <p:spPr>
          <a:xfrm>
            <a:off x="7158725" y="4564327"/>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06"/>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31" name="Google Shape;1131;p106"/>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132" name="Google Shape;1132;p106"/>
          <p:cNvSpPr txBox="1"/>
          <p:nvPr>
            <p:ph idx="12" type="sldNum"/>
          </p:nvPr>
        </p:nvSpPr>
        <p:spPr>
          <a:xfrm>
            <a:off x="8501618"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rgbClr val="FFFFFF"/>
                </a:solidFill>
                <a:latin typeface="Albert Sans"/>
                <a:ea typeface="Albert Sans"/>
                <a:cs typeface="Albert Sans"/>
                <a:sym typeface="Albert Sans"/>
              </a:rPr>
              <a:t>‹#›</a:t>
            </a:fld>
            <a:endParaRPr sz="1000">
              <a:solidFill>
                <a:srgbClr val="FFFFFF"/>
              </a:solidFill>
              <a:latin typeface="Albert Sans"/>
              <a:ea typeface="Albert Sans"/>
              <a:cs typeface="Albert Sans"/>
              <a:sym typeface="Albert Sans"/>
            </a:endParaRPr>
          </a:p>
        </p:txBody>
      </p:sp>
      <p:sp>
        <p:nvSpPr>
          <p:cNvPr id="1133" name="Google Shape;1133;p106"/>
          <p:cNvSpPr txBox="1"/>
          <p:nvPr>
            <p:ph idx="1" type="body"/>
          </p:nvPr>
        </p:nvSpPr>
        <p:spPr>
          <a:xfrm>
            <a:off x="1470025" y="908638"/>
            <a:ext cx="6089400" cy="35151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rgbClr val="FFFFFF"/>
              </a:buClr>
              <a:buSzPts val="1400"/>
              <a:buFont typeface="Albert Sans"/>
              <a:buChar char="●"/>
            </a:pPr>
            <a:r>
              <a:rPr b="1" lang="en" sz="1400">
                <a:solidFill>
                  <a:srgbClr val="FFFFFF"/>
                </a:solidFill>
                <a:latin typeface="Albert Sans"/>
                <a:ea typeface="Albert Sans"/>
                <a:cs typeface="Albert Sans"/>
                <a:sym typeface="Albert Sans"/>
              </a:rPr>
              <a:t>Poor employee perceptions of fairness with scheduling and compensation</a:t>
            </a:r>
            <a:endParaRPr b="1" sz="1400">
              <a:solidFill>
                <a:srgbClr val="FFFFFF"/>
              </a:solidFill>
              <a:latin typeface="Albert Sans"/>
              <a:ea typeface="Albert Sans"/>
              <a:cs typeface="Albert Sans"/>
              <a:sym typeface="Albert Sans"/>
            </a:endParaRPr>
          </a:p>
          <a:p>
            <a:pPr indent="0" lvl="0" marL="0" rtl="0" algn="l">
              <a:lnSpc>
                <a:spcPct val="100000"/>
              </a:lnSpc>
              <a:spcBef>
                <a:spcPts val="0"/>
              </a:spcBef>
              <a:spcAft>
                <a:spcPts val="0"/>
              </a:spcAft>
              <a:buNone/>
            </a:pPr>
            <a:r>
              <a:t/>
            </a:r>
            <a:endParaRPr sz="1400">
              <a:solidFill>
                <a:srgbClr val="FFFFFF"/>
              </a:solidFill>
              <a:latin typeface="Albert Sans"/>
              <a:ea typeface="Albert Sans"/>
              <a:cs typeface="Albert Sans"/>
              <a:sym typeface="Albert Sans"/>
            </a:endParaRPr>
          </a:p>
          <a:p>
            <a:pPr indent="-317500" lvl="0" marL="4572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Interview theme → payroll constraints affected hours available to employees</a:t>
            </a:r>
            <a:endParaRPr sz="1400">
              <a:solidFill>
                <a:srgbClr val="FFFFFF"/>
              </a:solidFill>
              <a:latin typeface="Albert Sans"/>
              <a:ea typeface="Albert Sans"/>
              <a:cs typeface="Albert Sans"/>
              <a:sym typeface="Albert Sans"/>
            </a:endParaRPr>
          </a:p>
          <a:p>
            <a:pPr indent="-317500" lvl="1" marL="9144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Employees perceive </a:t>
            </a:r>
            <a:r>
              <a:rPr lang="en" sz="1400">
                <a:solidFill>
                  <a:srgbClr val="FFFFFF"/>
                </a:solidFill>
                <a:latin typeface="Albert Sans"/>
                <a:ea typeface="Albert Sans"/>
                <a:cs typeface="Albert Sans"/>
                <a:sym typeface="Albert Sans"/>
              </a:rPr>
              <a:t>these </a:t>
            </a:r>
            <a:r>
              <a:rPr lang="en" sz="1400">
                <a:solidFill>
                  <a:srgbClr val="FFFFFF"/>
                </a:solidFill>
                <a:latin typeface="Albert Sans"/>
                <a:ea typeface="Albert Sans"/>
                <a:cs typeface="Albert Sans"/>
                <a:sym typeface="Albert Sans"/>
              </a:rPr>
              <a:t>limitations as unfair, even though managers are aware of budget constraints higher management has for payroll</a:t>
            </a:r>
            <a:endParaRPr sz="1400">
              <a:solidFill>
                <a:srgbClr val="FFFFFF"/>
              </a:solidFill>
              <a:latin typeface="Albert Sans"/>
              <a:ea typeface="Albert Sans"/>
              <a:cs typeface="Albert Sans"/>
              <a:sym typeface="Albert Sans"/>
            </a:endParaRPr>
          </a:p>
          <a:p>
            <a:pPr indent="0" lvl="0" marL="914400" rtl="0" algn="l">
              <a:lnSpc>
                <a:spcPct val="100000"/>
              </a:lnSpc>
              <a:spcBef>
                <a:spcPts val="0"/>
              </a:spcBef>
              <a:spcAft>
                <a:spcPts val="0"/>
              </a:spcAft>
              <a:buNone/>
            </a:pPr>
            <a:r>
              <a:t/>
            </a:r>
            <a:endParaRPr sz="1400">
              <a:solidFill>
                <a:srgbClr val="FFFFFF"/>
              </a:solidFill>
              <a:latin typeface="Albert Sans"/>
              <a:ea typeface="Albert Sans"/>
              <a:cs typeface="Albert Sans"/>
              <a:sym typeface="Albert Sans"/>
            </a:endParaRPr>
          </a:p>
          <a:p>
            <a:pPr indent="-317500" lvl="0" marL="4572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Managerial level: Arzu Ergen → previous managers had left after their compensation did not match their desired value</a:t>
            </a:r>
            <a:endParaRPr sz="1400">
              <a:solidFill>
                <a:srgbClr val="FFFFFF"/>
              </a:solidFill>
              <a:latin typeface="Albert Sans"/>
              <a:ea typeface="Albert Sans"/>
              <a:cs typeface="Albert Sans"/>
              <a:sym typeface="Albert Sans"/>
            </a:endParaRPr>
          </a:p>
          <a:p>
            <a:pPr indent="0" lvl="0" marL="0" rtl="0" algn="l">
              <a:lnSpc>
                <a:spcPct val="100000"/>
              </a:lnSpc>
              <a:spcBef>
                <a:spcPts val="0"/>
              </a:spcBef>
              <a:spcAft>
                <a:spcPts val="0"/>
              </a:spcAft>
              <a:buNone/>
            </a:pPr>
            <a:r>
              <a:t/>
            </a:r>
            <a:endParaRPr sz="1400">
              <a:solidFill>
                <a:srgbClr val="FFFFFF"/>
              </a:solidFill>
              <a:latin typeface="Albert Sans"/>
              <a:ea typeface="Albert Sans"/>
              <a:cs typeface="Albert Sans"/>
              <a:sym typeface="Albert Sans"/>
            </a:endParaRPr>
          </a:p>
          <a:p>
            <a:pPr indent="-317500" lvl="0" marL="4572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Key finding: r</a:t>
            </a:r>
            <a:r>
              <a:rPr lang="en" sz="1400">
                <a:solidFill>
                  <a:srgbClr val="FFFFFF"/>
                </a:solidFill>
                <a:latin typeface="Albert Sans"/>
                <a:ea typeface="Albert Sans"/>
                <a:cs typeface="Albert Sans"/>
                <a:sym typeface="Albert Sans"/>
              </a:rPr>
              <a:t>esource distribution viewed as unequal among employees, even though structurally, the store bases hours on what they believe is required for daily operations within payroll constraints</a:t>
            </a:r>
            <a:endParaRPr sz="1400">
              <a:solidFill>
                <a:srgbClr val="FFFFFF"/>
              </a:solidFill>
              <a:latin typeface="Albert Sans"/>
              <a:ea typeface="Albert Sans"/>
              <a:cs typeface="Albert Sans"/>
              <a:sym typeface="Albert Sans"/>
            </a:endParaRPr>
          </a:p>
        </p:txBody>
      </p:sp>
      <p:sp>
        <p:nvSpPr>
          <p:cNvPr id="1134" name="Google Shape;1134;p106"/>
          <p:cNvSpPr txBox="1"/>
          <p:nvPr>
            <p:ph type="title"/>
          </p:nvPr>
        </p:nvSpPr>
        <p:spPr>
          <a:xfrm>
            <a:off x="1506923" y="449875"/>
            <a:ext cx="6015600" cy="31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dk2"/>
                </a:solidFill>
              </a:rPr>
              <a:t>Evidence and Integration: Distributive Justice</a:t>
            </a:r>
            <a:endParaRPr sz="2100">
              <a:solidFill>
                <a:schemeClr val="dk2"/>
              </a:solidFill>
            </a:endParaRPr>
          </a:p>
        </p:txBody>
      </p:sp>
      <p:pic>
        <p:nvPicPr>
          <p:cNvPr descr="Hexagonal icon." id="1135" name="Google Shape;1135;p106"/>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1136" name="Google Shape;1136;p106"/>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sp>
        <p:nvSpPr>
          <p:cNvPr id="1137" name="Google Shape;1137;p106"/>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latin typeface="Albert Sans"/>
              <a:ea typeface="Albert Sans"/>
              <a:cs typeface="Albert Sans"/>
              <a:sym typeface="Albert Sans"/>
            </a:endParaRPr>
          </a:p>
        </p:txBody>
      </p:sp>
      <p:sp>
        <p:nvSpPr>
          <p:cNvPr id="1138" name="Google Shape;1138;p106"/>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1139" name="Google Shape;1139;p106"/>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40" name="Google Shape;1140;p106"/>
          <p:cNvSpPr txBox="1"/>
          <p:nvPr/>
        </p:nvSpPr>
        <p:spPr>
          <a:xfrm>
            <a:off x="5730000" y="462415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07"/>
          <p:cNvSpPr/>
          <p:nvPr/>
        </p:nvSpPr>
        <p:spPr>
          <a:xfrm>
            <a:off x="7158725"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46" name="Google Shape;1146;p107"/>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147" name="Google Shape;1147;p107"/>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148" name="Google Shape;1148;p107"/>
          <p:cNvSpPr txBox="1"/>
          <p:nvPr>
            <p:ph idx="1" type="body"/>
          </p:nvPr>
        </p:nvSpPr>
        <p:spPr>
          <a:xfrm>
            <a:off x="1313425" y="779436"/>
            <a:ext cx="6375900" cy="37428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rgbClr val="FFFFFF"/>
              </a:buClr>
              <a:buSzPts val="1400"/>
              <a:buFont typeface="Albert Sans"/>
              <a:buChar char="●"/>
            </a:pPr>
            <a:r>
              <a:rPr b="1" lang="en" sz="1400">
                <a:solidFill>
                  <a:srgbClr val="FFFFFF"/>
                </a:solidFill>
                <a:latin typeface="Albert Sans"/>
                <a:ea typeface="Albert Sans"/>
                <a:cs typeface="Albert Sans"/>
                <a:sym typeface="Albert Sans"/>
              </a:rPr>
              <a:t>Poor employee evaluations of fair communication and decision-making </a:t>
            </a:r>
            <a:endParaRPr b="1" sz="1400">
              <a:solidFill>
                <a:srgbClr val="FFFFFF"/>
              </a:solidFill>
              <a:latin typeface="Albert Sans"/>
              <a:ea typeface="Albert Sans"/>
              <a:cs typeface="Albert Sans"/>
              <a:sym typeface="Albert Sans"/>
            </a:endParaRPr>
          </a:p>
          <a:p>
            <a:pPr indent="0" lvl="0" marL="457200" rtl="0" algn="l">
              <a:lnSpc>
                <a:spcPct val="100000"/>
              </a:lnSpc>
              <a:spcBef>
                <a:spcPts val="0"/>
              </a:spcBef>
              <a:spcAft>
                <a:spcPts val="0"/>
              </a:spcAft>
              <a:buNone/>
            </a:pPr>
            <a:r>
              <a:t/>
            </a:r>
            <a:endParaRPr sz="1400">
              <a:solidFill>
                <a:srgbClr val="FFFFFF"/>
              </a:solidFill>
              <a:latin typeface="Albert Sans"/>
              <a:ea typeface="Albert Sans"/>
              <a:cs typeface="Albert Sans"/>
              <a:sym typeface="Albert Sans"/>
            </a:endParaRPr>
          </a:p>
          <a:p>
            <a:pPr indent="-317500" lvl="0" marL="4572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Employee level: Natasha Talevska → unsure of how scheduling decisions were exactly made across the management team</a:t>
            </a:r>
            <a:endParaRPr sz="1400">
              <a:solidFill>
                <a:srgbClr val="FFFFFF"/>
              </a:solidFill>
              <a:latin typeface="Albert Sans"/>
              <a:ea typeface="Albert Sans"/>
              <a:cs typeface="Albert Sans"/>
              <a:sym typeface="Albert Sans"/>
            </a:endParaRPr>
          </a:p>
          <a:p>
            <a:pPr indent="-317500" lvl="1" marL="9144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Communication between employees and managers (recognition and feedback) was inconsistent </a:t>
            </a:r>
            <a:endParaRPr sz="1400">
              <a:solidFill>
                <a:srgbClr val="FFFFFF"/>
              </a:solidFill>
              <a:latin typeface="Albert Sans"/>
              <a:ea typeface="Albert Sans"/>
              <a:cs typeface="Albert Sans"/>
              <a:sym typeface="Albert Sans"/>
            </a:endParaRPr>
          </a:p>
          <a:p>
            <a:pPr indent="0" lvl="0" marL="914400" rtl="0" algn="l">
              <a:lnSpc>
                <a:spcPct val="100000"/>
              </a:lnSpc>
              <a:spcBef>
                <a:spcPts val="0"/>
              </a:spcBef>
              <a:spcAft>
                <a:spcPts val="0"/>
              </a:spcAft>
              <a:buNone/>
            </a:pPr>
            <a:r>
              <a:t/>
            </a:r>
            <a:endParaRPr sz="1400">
              <a:solidFill>
                <a:srgbClr val="FFFFFF"/>
              </a:solidFill>
              <a:latin typeface="Albert Sans"/>
              <a:ea typeface="Albert Sans"/>
              <a:cs typeface="Albert Sans"/>
              <a:sym typeface="Albert Sans"/>
            </a:endParaRPr>
          </a:p>
          <a:p>
            <a:pPr indent="-317500" lvl="0" marL="4572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Managerial level: Arzu Ergen → “people work for people”</a:t>
            </a:r>
            <a:endParaRPr sz="1400">
              <a:solidFill>
                <a:srgbClr val="FFFFFF"/>
              </a:solidFill>
              <a:latin typeface="Albert Sans"/>
              <a:ea typeface="Albert Sans"/>
              <a:cs typeface="Albert Sans"/>
              <a:sym typeface="Albert Sans"/>
            </a:endParaRPr>
          </a:p>
          <a:p>
            <a:pPr indent="-317500" lvl="1" marL="9144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I</a:t>
            </a:r>
            <a:r>
              <a:rPr lang="en" sz="1400">
                <a:solidFill>
                  <a:srgbClr val="FFFFFF"/>
                </a:solidFill>
                <a:latin typeface="Albert Sans"/>
                <a:ea typeface="Albert Sans"/>
                <a:cs typeface="Albert Sans"/>
                <a:sym typeface="Albert Sans"/>
              </a:rPr>
              <a:t>mportance</a:t>
            </a:r>
            <a:r>
              <a:rPr lang="en" sz="1400">
                <a:solidFill>
                  <a:srgbClr val="FFFFFF"/>
                </a:solidFill>
                <a:latin typeface="Albert Sans"/>
                <a:ea typeface="Albert Sans"/>
                <a:cs typeface="Albert Sans"/>
                <a:sym typeface="Albert Sans"/>
              </a:rPr>
              <a:t> of building relationships with employees and providing individualized feedback</a:t>
            </a:r>
            <a:endParaRPr sz="1400">
              <a:solidFill>
                <a:srgbClr val="FFFFFF"/>
              </a:solidFill>
              <a:latin typeface="Albert Sans"/>
              <a:ea typeface="Albert Sans"/>
              <a:cs typeface="Albert Sans"/>
              <a:sym typeface="Albert Sans"/>
            </a:endParaRPr>
          </a:p>
          <a:p>
            <a:pPr indent="-317500" lvl="2" marL="13716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Problem: managers may not be able to consistently explain scheduling decisions and deliver the same level of feedback to ALL employees</a:t>
            </a:r>
            <a:endParaRPr sz="1400">
              <a:solidFill>
                <a:srgbClr val="FFFFFF"/>
              </a:solidFill>
              <a:latin typeface="Albert Sans"/>
              <a:ea typeface="Albert Sans"/>
              <a:cs typeface="Albert Sans"/>
              <a:sym typeface="Albert Sans"/>
            </a:endParaRPr>
          </a:p>
          <a:p>
            <a:pPr indent="0" lvl="0" marL="1371600" rtl="0" algn="l">
              <a:lnSpc>
                <a:spcPct val="100000"/>
              </a:lnSpc>
              <a:spcBef>
                <a:spcPts val="0"/>
              </a:spcBef>
              <a:spcAft>
                <a:spcPts val="0"/>
              </a:spcAft>
              <a:buNone/>
            </a:pPr>
            <a:r>
              <a:t/>
            </a:r>
            <a:endParaRPr sz="1400">
              <a:solidFill>
                <a:srgbClr val="FFFFFF"/>
              </a:solidFill>
              <a:latin typeface="Albert Sans"/>
              <a:ea typeface="Albert Sans"/>
              <a:cs typeface="Albert Sans"/>
              <a:sym typeface="Albert Sans"/>
            </a:endParaRPr>
          </a:p>
          <a:p>
            <a:pPr indent="-317500" lvl="0" marL="457200" rtl="0" algn="l">
              <a:lnSpc>
                <a:spcPct val="100000"/>
              </a:lnSpc>
              <a:spcBef>
                <a:spcPts val="0"/>
              </a:spcBef>
              <a:spcAft>
                <a:spcPts val="0"/>
              </a:spcAft>
              <a:buClr>
                <a:srgbClr val="FFFFFF"/>
              </a:buClr>
              <a:buSzPts val="1400"/>
              <a:buFont typeface="Albert Sans"/>
              <a:buChar char="●"/>
            </a:pPr>
            <a:r>
              <a:rPr lang="en" sz="1400">
                <a:solidFill>
                  <a:srgbClr val="FFFFFF"/>
                </a:solidFill>
                <a:latin typeface="Albert Sans"/>
                <a:ea typeface="Albert Sans"/>
                <a:cs typeface="Albert Sans"/>
                <a:sym typeface="Albert Sans"/>
              </a:rPr>
              <a:t>Key finding: disconnect between what managers intend to provide their employees and how employees perceive these actions as unfair</a:t>
            </a:r>
            <a:endParaRPr sz="1400">
              <a:solidFill>
                <a:srgbClr val="FFFFFF"/>
              </a:solidFill>
              <a:latin typeface="Albert Sans"/>
              <a:ea typeface="Albert Sans"/>
              <a:cs typeface="Albert Sans"/>
              <a:sym typeface="Albert Sans"/>
            </a:endParaRPr>
          </a:p>
        </p:txBody>
      </p:sp>
      <p:pic>
        <p:nvPicPr>
          <p:cNvPr descr="Hexagonal icon." id="1149" name="Google Shape;1149;p107"/>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1150" name="Google Shape;1150;p107"/>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Company Overview</a:t>
            </a:r>
            <a:endParaRPr/>
          </a:p>
        </p:txBody>
      </p:sp>
      <p:sp>
        <p:nvSpPr>
          <p:cNvPr id="1151" name="Google Shape;1151;p107"/>
          <p:cNvSpPr/>
          <p:nvPr/>
        </p:nvSpPr>
        <p:spPr>
          <a:xfrm>
            <a:off x="57206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52" name="Google Shape;1152;p107"/>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1153" name="Google Shape;1153;p107"/>
          <p:cNvSpPr txBox="1"/>
          <p:nvPr>
            <p:ph type="title"/>
          </p:nvPr>
        </p:nvSpPr>
        <p:spPr>
          <a:xfrm>
            <a:off x="1564198" y="370350"/>
            <a:ext cx="6015600" cy="31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dk2"/>
                </a:solidFill>
              </a:rPr>
              <a:t>Evidence and Integration: Procedural Justice</a:t>
            </a:r>
            <a:endParaRPr sz="2100">
              <a:solidFill>
                <a:schemeClr val="dk2"/>
              </a:solidFill>
            </a:endParaRPr>
          </a:p>
        </p:txBody>
      </p:sp>
      <p:sp>
        <p:nvSpPr>
          <p:cNvPr id="1154" name="Google Shape;1154;p107"/>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55" name="Google Shape;1155;p107"/>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156" name="Google Shape;1156;p107"/>
          <p:cNvSpPr txBox="1"/>
          <p:nvPr>
            <p:ph idx="2" type="sldNum"/>
          </p:nvPr>
        </p:nvSpPr>
        <p:spPr>
          <a:xfrm>
            <a:off x="8491688"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11</a:t>
            </a:r>
            <a:endParaRPr sz="1000">
              <a:solidFill>
                <a:srgbClr val="FFFFFF"/>
              </a:solidFill>
              <a:latin typeface="Albert Sans"/>
              <a:ea typeface="Albert Sans"/>
              <a:cs typeface="Albert Sans"/>
              <a:sym typeface="Albert Sans"/>
            </a:endParaRPr>
          </a:p>
        </p:txBody>
      </p:sp>
      <p:sp>
        <p:nvSpPr>
          <p:cNvPr id="1157" name="Google Shape;1157;p107"/>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sp>
        <p:nvSpPr>
          <p:cNvPr id="1158" name="Google Shape;1158;p107"/>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latin typeface="Albert Sans"/>
              <a:ea typeface="Albert Sans"/>
              <a:cs typeface="Albert Sans"/>
              <a:sym typeface="Albert Sans"/>
            </a:endParaRPr>
          </a:p>
        </p:txBody>
      </p:sp>
      <p:sp>
        <p:nvSpPr>
          <p:cNvPr id="1159" name="Google Shape;1159;p107"/>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1160" name="Google Shape;1160;p107"/>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61" name="Google Shape;1161;p107"/>
          <p:cNvSpPr txBox="1"/>
          <p:nvPr/>
        </p:nvSpPr>
        <p:spPr>
          <a:xfrm>
            <a:off x="5730000" y="462415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108"/>
          <p:cNvSpPr/>
          <p:nvPr/>
        </p:nvSpPr>
        <p:spPr>
          <a:xfrm>
            <a:off x="7158725"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67" name="Google Shape;1167;p108"/>
          <p:cNvSpPr/>
          <p:nvPr/>
        </p:nvSpPr>
        <p:spPr>
          <a:xfrm>
            <a:off x="8596792" y="4601400"/>
            <a:ext cx="318600" cy="318600"/>
          </a:xfrm>
          <a:prstGeom prst="ellipse">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168" name="Google Shape;1168;p108"/>
          <p:cNvSpPr txBox="1"/>
          <p:nvPr>
            <p:ph idx="12" type="sldNum"/>
          </p:nvPr>
        </p:nvSpPr>
        <p:spPr>
          <a:xfrm>
            <a:off x="8481759" y="4573830"/>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descr="Hexagonal icon." id="1169" name="Google Shape;1169;p108"/>
          <p:cNvPicPr preferRelativeResize="0"/>
          <p:nvPr>
            <p:ph idx="2" type="pic"/>
          </p:nvPr>
        </p:nvPicPr>
        <p:blipFill rotWithShape="1">
          <a:blip r:embed="rId3">
            <a:alphaModFix/>
          </a:blip>
          <a:srcRect b="6732" l="0" r="0" t="6732"/>
          <a:stretch/>
        </p:blipFill>
        <p:spPr>
          <a:xfrm>
            <a:off x="8596800" y="223475"/>
            <a:ext cx="318600" cy="318600"/>
          </a:xfrm>
          <a:prstGeom prst="ellipse">
            <a:avLst/>
          </a:prstGeom>
        </p:spPr>
      </p:pic>
      <p:sp>
        <p:nvSpPr>
          <p:cNvPr id="1170" name="Google Shape;1170;p108"/>
          <p:cNvSpPr txBox="1"/>
          <p:nvPr>
            <p:ph idx="4" type="title"/>
          </p:nvPr>
        </p:nvSpPr>
        <p:spPr>
          <a:xfrm>
            <a:off x="945775" y="900224"/>
            <a:ext cx="7137900" cy="3468900"/>
          </a:xfrm>
          <a:prstGeom prst="rect">
            <a:avLst/>
          </a:prstGeom>
          <a:solidFill>
            <a:srgbClr val="FFFFFF"/>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400">
                <a:solidFill>
                  <a:srgbClr val="0E0E0E"/>
                </a:solidFill>
              </a:rPr>
              <a:t>Implement a consistent </a:t>
            </a:r>
            <a:r>
              <a:rPr b="1" lang="en" sz="1400" u="sng">
                <a:solidFill>
                  <a:srgbClr val="0E0E0E"/>
                </a:solidFill>
              </a:rPr>
              <a:t>recognition system</a:t>
            </a:r>
            <a:r>
              <a:rPr b="1" lang="en" sz="1400">
                <a:solidFill>
                  <a:srgbClr val="0E0E0E"/>
                </a:solidFill>
              </a:rPr>
              <a:t> for the next </a:t>
            </a:r>
            <a:r>
              <a:rPr b="1" lang="en" sz="1400" u="sng">
                <a:solidFill>
                  <a:srgbClr val="0E0E0E"/>
                </a:solidFill>
              </a:rPr>
              <a:t>three months</a:t>
            </a:r>
            <a:r>
              <a:rPr b="1" lang="en" sz="1400">
                <a:solidFill>
                  <a:srgbClr val="0E0E0E"/>
                </a:solidFill>
              </a:rPr>
              <a:t> in its daily operations to ensure </a:t>
            </a:r>
            <a:r>
              <a:rPr b="1" lang="en" sz="1400" u="sng">
                <a:solidFill>
                  <a:srgbClr val="0E0E0E"/>
                </a:solidFill>
              </a:rPr>
              <a:t>feedback needs are met across employees</a:t>
            </a:r>
            <a:endParaRPr b="1" sz="1400" u="sng">
              <a:solidFill>
                <a:srgbClr val="0E0E0E"/>
              </a:solidFill>
            </a:endParaRPr>
          </a:p>
          <a:p>
            <a:pPr indent="0" lvl="0" marL="0" rtl="0" algn="l">
              <a:lnSpc>
                <a:spcPct val="100000"/>
              </a:lnSpc>
              <a:spcBef>
                <a:spcPts val="0"/>
              </a:spcBef>
              <a:spcAft>
                <a:spcPts val="0"/>
              </a:spcAft>
              <a:buNone/>
            </a:pPr>
            <a:r>
              <a:t/>
            </a:r>
            <a:endParaRPr sz="1400">
              <a:solidFill>
                <a:srgbClr val="0E0E0E"/>
              </a:solidFill>
            </a:endParaRPr>
          </a:p>
          <a:p>
            <a:pPr indent="-317500" lvl="0" marL="457200" rtl="0" algn="l">
              <a:lnSpc>
                <a:spcPct val="100000"/>
              </a:lnSpc>
              <a:spcBef>
                <a:spcPts val="0"/>
              </a:spcBef>
              <a:spcAft>
                <a:spcPts val="0"/>
              </a:spcAft>
              <a:buClr>
                <a:srgbClr val="0E0E0E"/>
              </a:buClr>
              <a:buSzPts val="1400"/>
              <a:buChar char="●"/>
            </a:pPr>
            <a:r>
              <a:rPr lang="en" sz="1400">
                <a:solidFill>
                  <a:srgbClr val="0E0E0E"/>
                </a:solidFill>
              </a:rPr>
              <a:t>Short weekly team meetings before shifts → managers can recognize specific employee contributions to helping operational goals in customer service or efficiency</a:t>
            </a:r>
            <a:endParaRPr sz="1400">
              <a:solidFill>
                <a:srgbClr val="0E0E0E"/>
              </a:solidFill>
            </a:endParaRPr>
          </a:p>
          <a:p>
            <a:pPr indent="-317500" lvl="1" marL="914400" rtl="0" algn="l">
              <a:lnSpc>
                <a:spcPct val="100000"/>
              </a:lnSpc>
              <a:spcBef>
                <a:spcPts val="0"/>
              </a:spcBef>
              <a:spcAft>
                <a:spcPts val="0"/>
              </a:spcAft>
              <a:buClr>
                <a:srgbClr val="0E0E0E"/>
              </a:buClr>
              <a:buSzPts val="1400"/>
              <a:buFont typeface="Albert Sans"/>
              <a:buChar char="○"/>
            </a:pPr>
            <a:r>
              <a:rPr lang="en">
                <a:solidFill>
                  <a:srgbClr val="0E0E0E"/>
                </a:solidFill>
                <a:latin typeface="Albert Sans"/>
                <a:ea typeface="Albert Sans"/>
                <a:cs typeface="Albert Sans"/>
                <a:sym typeface="Albert Sans"/>
              </a:rPr>
              <a:t>All employees should be encouraged to recognize each other during meetings to increase peer-to-peer motivation</a:t>
            </a:r>
            <a:endParaRPr>
              <a:solidFill>
                <a:srgbClr val="0E0E0E"/>
              </a:solidFill>
              <a:latin typeface="Albert Sans"/>
              <a:ea typeface="Albert Sans"/>
              <a:cs typeface="Albert Sans"/>
              <a:sym typeface="Albert Sans"/>
            </a:endParaRPr>
          </a:p>
          <a:p>
            <a:pPr indent="-317500" lvl="0" marL="457200" rtl="0" algn="l">
              <a:lnSpc>
                <a:spcPct val="100000"/>
              </a:lnSpc>
              <a:spcBef>
                <a:spcPts val="0"/>
              </a:spcBef>
              <a:spcAft>
                <a:spcPts val="0"/>
              </a:spcAft>
              <a:buClr>
                <a:srgbClr val="0E0E0E"/>
              </a:buClr>
              <a:buSzPts val="1400"/>
              <a:buChar char="●"/>
            </a:pPr>
            <a:r>
              <a:rPr lang="en" sz="1400">
                <a:solidFill>
                  <a:srgbClr val="0E0E0E"/>
                </a:solidFill>
              </a:rPr>
              <a:t>One-on-one meetings between managers and employees for specific performance feedback</a:t>
            </a:r>
            <a:endParaRPr sz="1400">
              <a:solidFill>
                <a:srgbClr val="0E0E0E"/>
              </a:solidFill>
            </a:endParaRPr>
          </a:p>
          <a:p>
            <a:pPr indent="-317500" lvl="0" marL="457200" rtl="0" algn="l">
              <a:lnSpc>
                <a:spcPct val="100000"/>
              </a:lnSpc>
              <a:spcBef>
                <a:spcPts val="0"/>
              </a:spcBef>
              <a:spcAft>
                <a:spcPts val="0"/>
              </a:spcAft>
              <a:buClr>
                <a:srgbClr val="0E0E0E"/>
              </a:buClr>
              <a:buSzPts val="1400"/>
              <a:buChar char="●"/>
            </a:pPr>
            <a:r>
              <a:rPr lang="en" sz="1400">
                <a:solidFill>
                  <a:srgbClr val="0E0E0E"/>
                </a:solidFill>
              </a:rPr>
              <a:t>Recognition is consistent rather than occasional, and still builds upon current initiatives like the WOW board</a:t>
            </a:r>
            <a:endParaRPr sz="1400">
              <a:solidFill>
                <a:srgbClr val="0E0E0E"/>
              </a:solidFill>
            </a:endParaRPr>
          </a:p>
          <a:p>
            <a:pPr indent="-317500" lvl="0" marL="457200" rtl="0" algn="l">
              <a:lnSpc>
                <a:spcPct val="100000"/>
              </a:lnSpc>
              <a:spcBef>
                <a:spcPts val="0"/>
              </a:spcBef>
              <a:spcAft>
                <a:spcPts val="0"/>
              </a:spcAft>
              <a:buClr>
                <a:srgbClr val="0E0E0E"/>
              </a:buClr>
              <a:buSzPts val="1400"/>
              <a:buChar char="●"/>
            </a:pPr>
            <a:r>
              <a:rPr lang="en" sz="1400">
                <a:solidFill>
                  <a:srgbClr val="0E0E0E"/>
                </a:solidFill>
              </a:rPr>
              <a:t>Gallup → “teams that report they receive adequate recognition have 19% less turnover than teams that say they don't receive enough recognition” (Robison)</a:t>
            </a:r>
            <a:endParaRPr sz="1400">
              <a:solidFill>
                <a:srgbClr val="0E0E0E"/>
              </a:solidFill>
            </a:endParaRPr>
          </a:p>
          <a:p>
            <a:pPr indent="-317500" lvl="1" marL="914400" rtl="0" algn="l">
              <a:lnSpc>
                <a:spcPct val="100000"/>
              </a:lnSpc>
              <a:spcBef>
                <a:spcPts val="0"/>
              </a:spcBef>
              <a:spcAft>
                <a:spcPts val="0"/>
              </a:spcAft>
              <a:buClr>
                <a:srgbClr val="0E0E0E"/>
              </a:buClr>
              <a:buSzPts val="1400"/>
              <a:buFont typeface="Albert Sans"/>
              <a:buChar char="○"/>
            </a:pPr>
            <a:r>
              <a:rPr lang="en" sz="1400">
                <a:solidFill>
                  <a:srgbClr val="0E0E0E"/>
                </a:solidFill>
                <a:latin typeface="Albert Sans"/>
                <a:ea typeface="Albert Sans"/>
                <a:cs typeface="Albert Sans"/>
                <a:sym typeface="Albert Sans"/>
              </a:rPr>
              <a:t>Motivation is key to turnover, not just wages</a:t>
            </a:r>
            <a:endParaRPr sz="1400">
              <a:solidFill>
                <a:srgbClr val="0E0E0E"/>
              </a:solidFill>
              <a:latin typeface="Albert Sans"/>
              <a:ea typeface="Albert Sans"/>
              <a:cs typeface="Albert Sans"/>
              <a:sym typeface="Albert Sans"/>
            </a:endParaRPr>
          </a:p>
        </p:txBody>
      </p:sp>
      <p:sp>
        <p:nvSpPr>
          <p:cNvPr id="1171" name="Google Shape;1171;p108"/>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1172" name="Google Shape;1172;p108"/>
          <p:cNvSpPr txBox="1"/>
          <p:nvPr>
            <p:ph idx="3" type="title"/>
          </p:nvPr>
        </p:nvSpPr>
        <p:spPr>
          <a:xfrm>
            <a:off x="942150" y="446525"/>
            <a:ext cx="35586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solidFill>
                  <a:srgbClr val="E06666"/>
                </a:solidFill>
              </a:rPr>
              <a:t>Recommendation 1</a:t>
            </a:r>
            <a:endParaRPr sz="2300">
              <a:solidFill>
                <a:srgbClr val="E06666"/>
              </a:solidFill>
            </a:endParaRPr>
          </a:p>
        </p:txBody>
      </p:sp>
      <p:sp>
        <p:nvSpPr>
          <p:cNvPr id="1173" name="Google Shape;1173;p108"/>
          <p:cNvSpPr/>
          <p:nvPr/>
        </p:nvSpPr>
        <p:spPr>
          <a:xfrm>
            <a:off x="5720650"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74" name="Google Shape;1174;p108"/>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8" name="Shape 1178"/>
        <p:cNvGrpSpPr/>
        <p:nvPr/>
      </p:nvGrpSpPr>
      <p:grpSpPr>
        <a:xfrm>
          <a:off x="0" y="0"/>
          <a:ext cx="0" cy="0"/>
          <a:chOff x="0" y="0"/>
          <a:chExt cx="0" cy="0"/>
        </a:xfrm>
      </p:grpSpPr>
      <p:sp>
        <p:nvSpPr>
          <p:cNvPr id="1179" name="Google Shape;1179;p109"/>
          <p:cNvSpPr/>
          <p:nvPr/>
        </p:nvSpPr>
        <p:spPr>
          <a:xfrm>
            <a:off x="7158725"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80" name="Google Shape;1180;p109"/>
          <p:cNvSpPr/>
          <p:nvPr/>
        </p:nvSpPr>
        <p:spPr>
          <a:xfrm>
            <a:off x="8596792" y="4601400"/>
            <a:ext cx="318600" cy="318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181" name="Google Shape;1181;p109"/>
          <p:cNvSpPr txBox="1"/>
          <p:nvPr>
            <p:ph idx="12" type="sldNum"/>
          </p:nvPr>
        </p:nvSpPr>
        <p:spPr>
          <a:xfrm>
            <a:off x="8481759" y="4565642"/>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rgbClr val="FFFFFF"/>
                </a:solidFill>
                <a:latin typeface="Albert Sans"/>
                <a:ea typeface="Albert Sans"/>
                <a:cs typeface="Albert Sans"/>
                <a:sym typeface="Albert Sans"/>
              </a:rPr>
              <a:t>‹#›</a:t>
            </a:fld>
            <a:endParaRPr sz="1000">
              <a:solidFill>
                <a:srgbClr val="FFFFFF"/>
              </a:solidFill>
              <a:latin typeface="Albert Sans"/>
              <a:ea typeface="Albert Sans"/>
              <a:cs typeface="Albert Sans"/>
              <a:sym typeface="Albert Sans"/>
            </a:endParaRPr>
          </a:p>
        </p:txBody>
      </p:sp>
      <p:sp>
        <p:nvSpPr>
          <p:cNvPr id="1182" name="Google Shape;1182;p109"/>
          <p:cNvSpPr txBox="1"/>
          <p:nvPr>
            <p:ph type="title"/>
          </p:nvPr>
        </p:nvSpPr>
        <p:spPr>
          <a:xfrm>
            <a:off x="963300" y="223500"/>
            <a:ext cx="2314800" cy="3936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2300">
                <a:solidFill>
                  <a:srgbClr val="000000"/>
                </a:solidFill>
              </a:rPr>
              <a:t>Best Practices </a:t>
            </a:r>
            <a:endParaRPr sz="2300">
              <a:solidFill>
                <a:srgbClr val="000000"/>
              </a:solidFill>
            </a:endParaRPr>
          </a:p>
        </p:txBody>
      </p:sp>
      <p:sp>
        <p:nvSpPr>
          <p:cNvPr id="1183" name="Google Shape;1183;p109"/>
          <p:cNvSpPr txBox="1"/>
          <p:nvPr>
            <p:ph idx="3" type="title"/>
          </p:nvPr>
        </p:nvSpPr>
        <p:spPr>
          <a:xfrm>
            <a:off x="7158725" y="4565641"/>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Group 5</a:t>
            </a:r>
            <a:endParaRPr>
              <a:solidFill>
                <a:srgbClr val="FFFFFF"/>
              </a:solidFill>
            </a:endParaRPr>
          </a:p>
        </p:txBody>
      </p:sp>
      <p:pic>
        <p:nvPicPr>
          <p:cNvPr descr="Hexagonal icon." id="1184" name="Google Shape;1184;p109"/>
          <p:cNvPicPr preferRelativeResize="0"/>
          <p:nvPr>
            <p:ph idx="2" type="pic"/>
          </p:nvPr>
        </p:nvPicPr>
        <p:blipFill rotWithShape="1">
          <a:blip r:embed="rId3">
            <a:alphaModFix/>
          </a:blip>
          <a:srcRect b="6598" l="0" r="0" t="6589"/>
          <a:stretch/>
        </p:blipFill>
        <p:spPr>
          <a:xfrm>
            <a:off x="8596800" y="223475"/>
            <a:ext cx="318600" cy="318600"/>
          </a:xfrm>
          <a:prstGeom prst="ellipse">
            <a:avLst/>
          </a:prstGeom>
        </p:spPr>
      </p:pic>
      <p:sp>
        <p:nvSpPr>
          <p:cNvPr id="1185" name="Google Shape;1185;p109"/>
          <p:cNvSpPr/>
          <p:nvPr/>
        </p:nvSpPr>
        <p:spPr>
          <a:xfrm>
            <a:off x="5720650" y="4601400"/>
            <a:ext cx="1354500" cy="318600"/>
          </a:xfrm>
          <a:prstGeom prst="roundRect">
            <a:avLst>
              <a:gd fmla="val 16290" name="adj"/>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86" name="Google Shape;1186;p109"/>
          <p:cNvSpPr txBox="1"/>
          <p:nvPr/>
        </p:nvSpPr>
        <p:spPr>
          <a:xfrm>
            <a:off x="5756950" y="4614811"/>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lbert Sans"/>
                <a:ea typeface="Albert Sans"/>
                <a:cs typeface="Albert Sans"/>
                <a:sym typeface="Albert Sans"/>
              </a:rPr>
              <a:t>Burlington</a:t>
            </a:r>
            <a:endParaRPr sz="1000">
              <a:solidFill>
                <a:srgbClr val="FFFFFF"/>
              </a:solidFill>
              <a:latin typeface="Albert Sans"/>
              <a:ea typeface="Albert Sans"/>
              <a:cs typeface="Albert Sans"/>
              <a:sym typeface="Albert Sans"/>
            </a:endParaRPr>
          </a:p>
        </p:txBody>
      </p:sp>
      <p:sp>
        <p:nvSpPr>
          <p:cNvPr id="1187" name="Google Shape;1187;p109"/>
          <p:cNvSpPr txBox="1"/>
          <p:nvPr>
            <p:ph type="title"/>
          </p:nvPr>
        </p:nvSpPr>
        <p:spPr>
          <a:xfrm>
            <a:off x="4934825" y="223500"/>
            <a:ext cx="3051900" cy="3936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2300">
                <a:solidFill>
                  <a:srgbClr val="000000"/>
                </a:solidFill>
              </a:rPr>
              <a:t>Potential Downsides</a:t>
            </a:r>
            <a:endParaRPr sz="2300">
              <a:solidFill>
                <a:srgbClr val="000000"/>
              </a:solidFill>
            </a:endParaRPr>
          </a:p>
        </p:txBody>
      </p:sp>
      <p:sp>
        <p:nvSpPr>
          <p:cNvPr id="1188" name="Google Shape;1188;p109"/>
          <p:cNvSpPr txBox="1"/>
          <p:nvPr/>
        </p:nvSpPr>
        <p:spPr>
          <a:xfrm>
            <a:off x="321300" y="720300"/>
            <a:ext cx="3598800" cy="37404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00000"/>
              </a:lnSpc>
              <a:spcBef>
                <a:spcPts val="0"/>
              </a:spcBef>
              <a:spcAft>
                <a:spcPts val="0"/>
              </a:spcAft>
              <a:buClr>
                <a:srgbClr val="FFFFFF"/>
              </a:buClr>
              <a:buSzPts val="1100"/>
              <a:buFont typeface="Albert Sans"/>
              <a:buChar char="●"/>
            </a:pPr>
            <a:r>
              <a:rPr b="1" lang="en" sz="1100">
                <a:solidFill>
                  <a:srgbClr val="FFFFFF"/>
                </a:solidFill>
                <a:latin typeface="Albert Sans"/>
                <a:ea typeface="Albert Sans"/>
                <a:cs typeface="Albert Sans"/>
                <a:sym typeface="Albert Sans"/>
              </a:rPr>
              <a:t>Google → Project Oxygen</a:t>
            </a:r>
            <a:endParaRPr b="1"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Implementing consistent, clear feedback = one of the ways managers could become more effective</a:t>
            </a:r>
            <a:endParaRPr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Communicating expectations directly to employees meant managers could improve performance and engagement across the team </a:t>
            </a:r>
            <a:r>
              <a:rPr lang="en" sz="1100">
                <a:solidFill>
                  <a:srgbClr val="FFFFFF"/>
                </a:solidFill>
                <a:latin typeface="Albert Sans"/>
                <a:ea typeface="Albert Sans"/>
                <a:cs typeface="Albert Sans"/>
                <a:sym typeface="Albert Sans"/>
              </a:rPr>
              <a:t>(Garvin)</a:t>
            </a:r>
            <a:endParaRPr sz="1100">
              <a:solidFill>
                <a:srgbClr val="FFFFFF"/>
              </a:solidFill>
              <a:latin typeface="Albert Sans"/>
              <a:ea typeface="Albert Sans"/>
              <a:cs typeface="Albert Sans"/>
              <a:sym typeface="Albert Sans"/>
            </a:endParaRPr>
          </a:p>
          <a:p>
            <a:pPr indent="-298450" lvl="2" marL="13716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Supports the recommendation for Burlington’s weekly feedback meetings </a:t>
            </a:r>
            <a:endParaRPr sz="1100">
              <a:solidFill>
                <a:srgbClr val="FFFFFF"/>
              </a:solidFill>
              <a:latin typeface="Albert Sans"/>
              <a:ea typeface="Albert Sans"/>
              <a:cs typeface="Albert Sans"/>
              <a:sym typeface="Albert Sans"/>
            </a:endParaRPr>
          </a:p>
          <a:p>
            <a:pPr indent="-298450" lvl="0" marL="457200" rtl="0" algn="l">
              <a:lnSpc>
                <a:spcPct val="100000"/>
              </a:lnSpc>
              <a:spcBef>
                <a:spcPts val="0"/>
              </a:spcBef>
              <a:spcAft>
                <a:spcPts val="0"/>
              </a:spcAft>
              <a:buClr>
                <a:srgbClr val="FFFFFF"/>
              </a:buClr>
              <a:buSzPts val="1100"/>
              <a:buFont typeface="Albert Sans"/>
              <a:buChar char="●"/>
            </a:pPr>
            <a:r>
              <a:rPr b="1" lang="en" sz="1100">
                <a:solidFill>
                  <a:srgbClr val="FFFFFF"/>
                </a:solidFill>
                <a:latin typeface="Albert Sans"/>
                <a:ea typeface="Albert Sans"/>
                <a:cs typeface="Albert Sans"/>
                <a:sym typeface="Albert Sans"/>
              </a:rPr>
              <a:t>Adobe → digital check-in system</a:t>
            </a:r>
            <a:endParaRPr b="1"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Employees and </a:t>
            </a:r>
            <a:r>
              <a:rPr lang="en" sz="1100">
                <a:solidFill>
                  <a:srgbClr val="FFFFFF"/>
                </a:solidFill>
                <a:latin typeface="Albert Sans"/>
                <a:ea typeface="Albert Sans"/>
                <a:cs typeface="Albert Sans"/>
                <a:sym typeface="Albert Sans"/>
              </a:rPr>
              <a:t>man</a:t>
            </a:r>
            <a:r>
              <a:rPr lang="en" sz="1100">
                <a:solidFill>
                  <a:srgbClr val="FFFFFF"/>
                </a:solidFill>
                <a:latin typeface="Albert Sans"/>
                <a:ea typeface="Albert Sans"/>
                <a:cs typeface="Albert Sans"/>
                <a:sym typeface="Albert Sans"/>
              </a:rPr>
              <a:t>agers encouraged to have continuous year-round feedback sessions, coaching, and recognition (Adobe) </a:t>
            </a:r>
            <a:endParaRPr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Instead of annual performance reviews, consistent feedback = increased engagement along with reduced turnover across the organization</a:t>
            </a:r>
            <a:endParaRPr sz="1100">
              <a:solidFill>
                <a:srgbClr val="FFFFFF"/>
              </a:solidFill>
              <a:latin typeface="Albert Sans"/>
              <a:ea typeface="Albert Sans"/>
              <a:cs typeface="Albert Sans"/>
              <a:sym typeface="Albert Sans"/>
            </a:endParaRPr>
          </a:p>
        </p:txBody>
      </p:sp>
      <p:sp>
        <p:nvSpPr>
          <p:cNvPr id="1189" name="Google Shape;1189;p109"/>
          <p:cNvSpPr txBox="1"/>
          <p:nvPr/>
        </p:nvSpPr>
        <p:spPr>
          <a:xfrm>
            <a:off x="4120750" y="720300"/>
            <a:ext cx="4681200" cy="37404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00000"/>
              </a:lnSpc>
              <a:spcBef>
                <a:spcPts val="0"/>
              </a:spcBef>
              <a:spcAft>
                <a:spcPts val="0"/>
              </a:spcAft>
              <a:buClr>
                <a:srgbClr val="FFFFFF"/>
              </a:buClr>
              <a:buSzPts val="1100"/>
              <a:buFont typeface="Albert Sans"/>
              <a:buChar char="●"/>
            </a:pPr>
            <a:r>
              <a:rPr b="1" lang="en" sz="1100">
                <a:solidFill>
                  <a:srgbClr val="FFFFFF"/>
                </a:solidFill>
                <a:latin typeface="Albert Sans"/>
                <a:ea typeface="Albert Sans"/>
                <a:cs typeface="Albert Sans"/>
                <a:sym typeface="Albert Sans"/>
              </a:rPr>
              <a:t>M</a:t>
            </a:r>
            <a:r>
              <a:rPr b="1" lang="en" sz="1100">
                <a:solidFill>
                  <a:srgbClr val="FFFFFF"/>
                </a:solidFill>
                <a:latin typeface="Albert Sans"/>
                <a:ea typeface="Albert Sans"/>
                <a:cs typeface="Albert Sans"/>
                <a:sym typeface="Albert Sans"/>
              </a:rPr>
              <a:t>anagers may make feedback feel forced → only doing what higher management is telling them to do</a:t>
            </a:r>
            <a:endParaRPr b="1"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Feedback sessions feel like a routine (“robotic”) to complete vs. time to authentically provide feedback</a:t>
            </a:r>
            <a:endParaRPr sz="1100">
              <a:solidFill>
                <a:srgbClr val="FFFFFF"/>
              </a:solidFill>
              <a:latin typeface="Albert Sans"/>
              <a:ea typeface="Albert Sans"/>
              <a:cs typeface="Albert Sans"/>
              <a:sym typeface="Albert Sans"/>
            </a:endParaRPr>
          </a:p>
          <a:p>
            <a:pPr indent="-298450" lvl="2" marL="13716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Interview theme → payroll constraints for managers = less effort into engagement initiatives</a:t>
            </a:r>
            <a:endParaRPr sz="1100">
              <a:solidFill>
                <a:srgbClr val="FFFFFF"/>
              </a:solidFill>
              <a:latin typeface="Albert Sans"/>
              <a:ea typeface="Albert Sans"/>
              <a:cs typeface="Albert Sans"/>
              <a:sym typeface="Albert Sans"/>
            </a:endParaRPr>
          </a:p>
          <a:p>
            <a:pPr indent="-298450" lvl="0" marL="457200" rtl="0" algn="l">
              <a:lnSpc>
                <a:spcPct val="100000"/>
              </a:lnSpc>
              <a:spcBef>
                <a:spcPts val="0"/>
              </a:spcBef>
              <a:spcAft>
                <a:spcPts val="0"/>
              </a:spcAft>
              <a:buClr>
                <a:srgbClr val="FFFFFF"/>
              </a:buClr>
              <a:buSzPts val="1100"/>
              <a:buFont typeface="Georgia"/>
              <a:buChar char="●"/>
            </a:pPr>
            <a:r>
              <a:rPr b="1" lang="en" sz="1100">
                <a:solidFill>
                  <a:srgbClr val="FFFFFF"/>
                </a:solidFill>
                <a:latin typeface="Albert Sans"/>
                <a:ea typeface="Albert Sans"/>
                <a:cs typeface="Albert Sans"/>
                <a:sym typeface="Albert Sans"/>
              </a:rPr>
              <a:t>Cost factor → time</a:t>
            </a:r>
            <a:r>
              <a:rPr lang="en" sz="1100">
                <a:solidFill>
                  <a:srgbClr val="FFFFFF"/>
                </a:solidFill>
                <a:latin typeface="Albert Sans"/>
                <a:ea typeface="Albert Sans"/>
                <a:cs typeface="Albert Sans"/>
                <a:sym typeface="Albert Sans"/>
              </a:rPr>
              <a:t> </a:t>
            </a:r>
            <a:r>
              <a:rPr lang="en" sz="1100">
                <a:solidFill>
                  <a:srgbClr val="FFFFFF"/>
                </a:solidFill>
                <a:latin typeface="Albert Sans"/>
                <a:ea typeface="Albert Sans"/>
                <a:cs typeface="Albert Sans"/>
                <a:sym typeface="Albert Sans"/>
              </a:rPr>
              <a:t>used for operational activities</a:t>
            </a:r>
            <a:endParaRPr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Hours taken away to conduct meetings with the team/one-on-one</a:t>
            </a:r>
            <a:endParaRPr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Time needed to train managers on how to effectively deliver feedback and conduct employee meetings</a:t>
            </a:r>
            <a:endParaRPr sz="1100">
              <a:solidFill>
                <a:srgbClr val="FFFFFF"/>
              </a:solidFill>
              <a:latin typeface="Albert Sans"/>
              <a:ea typeface="Albert Sans"/>
              <a:cs typeface="Albert Sans"/>
              <a:sym typeface="Albert Sans"/>
            </a:endParaRPr>
          </a:p>
          <a:p>
            <a:pPr indent="-298450" lvl="0" marL="457200" rtl="0" algn="l">
              <a:lnSpc>
                <a:spcPct val="100000"/>
              </a:lnSpc>
              <a:spcBef>
                <a:spcPts val="0"/>
              </a:spcBef>
              <a:spcAft>
                <a:spcPts val="0"/>
              </a:spcAft>
              <a:buClr>
                <a:srgbClr val="FFFFFF"/>
              </a:buClr>
              <a:buSzPts val="1100"/>
              <a:buFont typeface="Albert Sans"/>
              <a:buChar char="●"/>
            </a:pPr>
            <a:r>
              <a:rPr b="1" lang="en" sz="1100">
                <a:solidFill>
                  <a:srgbClr val="FFFFFF"/>
                </a:solidFill>
                <a:latin typeface="Albert Sans"/>
                <a:ea typeface="Albert Sans"/>
                <a:cs typeface="Albert Sans"/>
                <a:sym typeface="Albert Sans"/>
              </a:rPr>
              <a:t>Backfire → increased recognition efforts end up becoming biased</a:t>
            </a:r>
            <a:endParaRPr b="1"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If some employees receive more feedback than others, (unintentional or intentional) this could represent unequal appreciation vs. equal value</a:t>
            </a:r>
            <a:endParaRPr sz="1100">
              <a:solidFill>
                <a:srgbClr val="FFFFFF"/>
              </a:solidFill>
              <a:latin typeface="Albert Sans"/>
              <a:ea typeface="Albert Sans"/>
              <a:cs typeface="Albert Sans"/>
              <a:sym typeface="Albert Sans"/>
            </a:endParaRPr>
          </a:p>
          <a:p>
            <a:pPr indent="-298450" lvl="1" marL="914400" rtl="0" algn="l">
              <a:lnSpc>
                <a:spcPct val="100000"/>
              </a:lnSpc>
              <a:spcBef>
                <a:spcPts val="0"/>
              </a:spcBef>
              <a:spcAft>
                <a:spcPts val="0"/>
              </a:spcAft>
              <a:buClr>
                <a:srgbClr val="FFFFFF"/>
              </a:buClr>
              <a:buSzPts val="1100"/>
              <a:buFont typeface="Albert Sans"/>
              <a:buChar char="○"/>
            </a:pPr>
            <a:r>
              <a:rPr lang="en" sz="1100">
                <a:solidFill>
                  <a:srgbClr val="FFFFFF"/>
                </a:solidFill>
                <a:latin typeface="Albert Sans"/>
                <a:ea typeface="Albert Sans"/>
                <a:cs typeface="Albert Sans"/>
                <a:sym typeface="Albert Sans"/>
              </a:rPr>
              <a:t>Distributive justice → employee perceptions of fairness become more sensitive if the system is implemented poorly or if feedback is not provided across the team equally</a:t>
            </a:r>
            <a:endParaRPr sz="1100">
              <a:solidFill>
                <a:srgbClr val="FFFFFF"/>
              </a:solidFill>
              <a:latin typeface="Albert Sans"/>
              <a:ea typeface="Albert Sans"/>
              <a:cs typeface="Albert Sans"/>
              <a:sym typeface="Alber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10"/>
          <p:cNvSpPr/>
          <p:nvPr/>
        </p:nvSpPr>
        <p:spPr>
          <a:xfrm>
            <a:off x="7158725"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195" name="Google Shape;1195;p110"/>
          <p:cNvSpPr/>
          <p:nvPr/>
        </p:nvSpPr>
        <p:spPr>
          <a:xfrm>
            <a:off x="8596792" y="4601400"/>
            <a:ext cx="318600" cy="318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196" name="Google Shape;1196;p110"/>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descr="Hexagonal icon." id="1197" name="Google Shape;1197;p110"/>
          <p:cNvPicPr preferRelativeResize="0"/>
          <p:nvPr>
            <p:ph idx="2" type="pic"/>
          </p:nvPr>
        </p:nvPicPr>
        <p:blipFill rotWithShape="1">
          <a:blip r:embed="rId3">
            <a:alphaModFix/>
          </a:blip>
          <a:srcRect b="6732" l="0" r="0" t="6732"/>
          <a:stretch/>
        </p:blipFill>
        <p:spPr>
          <a:xfrm>
            <a:off x="8596800" y="223475"/>
            <a:ext cx="318600" cy="318600"/>
          </a:xfrm>
          <a:prstGeom prst="ellipse">
            <a:avLst/>
          </a:prstGeom>
        </p:spPr>
      </p:pic>
      <p:sp>
        <p:nvSpPr>
          <p:cNvPr id="1198" name="Google Shape;1198;p110"/>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Finding a Solution</a:t>
            </a:r>
            <a:endParaRPr/>
          </a:p>
        </p:txBody>
      </p:sp>
      <p:sp>
        <p:nvSpPr>
          <p:cNvPr id="1199" name="Google Shape;1199;p110"/>
          <p:cNvSpPr txBox="1"/>
          <p:nvPr>
            <p:ph idx="3" type="title"/>
          </p:nvPr>
        </p:nvSpPr>
        <p:spPr>
          <a:xfrm>
            <a:off x="941275" y="472550"/>
            <a:ext cx="35586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solidFill>
                  <a:srgbClr val="E06666"/>
                </a:solidFill>
              </a:rPr>
              <a:t>Recommendation</a:t>
            </a:r>
            <a:r>
              <a:rPr lang="en" sz="2300">
                <a:solidFill>
                  <a:srgbClr val="E06666"/>
                </a:solidFill>
              </a:rPr>
              <a:t> 2</a:t>
            </a:r>
            <a:endParaRPr sz="2300">
              <a:solidFill>
                <a:srgbClr val="E06666"/>
              </a:solidFill>
            </a:endParaRPr>
          </a:p>
        </p:txBody>
      </p:sp>
      <p:sp>
        <p:nvSpPr>
          <p:cNvPr id="1200" name="Google Shape;1200;p110"/>
          <p:cNvSpPr/>
          <p:nvPr/>
        </p:nvSpPr>
        <p:spPr>
          <a:xfrm>
            <a:off x="5720650"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01" name="Google Shape;1201;p110"/>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1202" name="Google Shape;1202;p110"/>
          <p:cNvSpPr/>
          <p:nvPr/>
        </p:nvSpPr>
        <p:spPr>
          <a:xfrm>
            <a:off x="7158725"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03" name="Google Shape;1203;p110"/>
          <p:cNvSpPr/>
          <p:nvPr/>
        </p:nvSpPr>
        <p:spPr>
          <a:xfrm>
            <a:off x="8596792" y="4601400"/>
            <a:ext cx="318600" cy="318600"/>
          </a:xfrm>
          <a:prstGeom prst="ellipse">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204" name="Google Shape;1204;p110"/>
          <p:cNvSpPr txBox="1"/>
          <p:nvPr>
            <p:ph idx="2" type="sldNum"/>
          </p:nvPr>
        </p:nvSpPr>
        <p:spPr>
          <a:xfrm>
            <a:off x="8481759" y="4573830"/>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205" name="Google Shape;1205;p110"/>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1206" name="Google Shape;1206;p110"/>
          <p:cNvSpPr/>
          <p:nvPr/>
        </p:nvSpPr>
        <p:spPr>
          <a:xfrm>
            <a:off x="5720650"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07" name="Google Shape;1207;p110"/>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sp>
        <p:nvSpPr>
          <p:cNvPr id="1208" name="Google Shape;1208;p110"/>
          <p:cNvSpPr txBox="1"/>
          <p:nvPr/>
        </p:nvSpPr>
        <p:spPr>
          <a:xfrm>
            <a:off x="920950" y="1146700"/>
            <a:ext cx="7427400" cy="25551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Albert Sans"/>
                <a:ea typeface="Albert Sans"/>
                <a:cs typeface="Albert Sans"/>
                <a:sym typeface="Albert Sans"/>
              </a:rPr>
              <a:t>Focusing on both </a:t>
            </a:r>
            <a:r>
              <a:rPr b="1" lang="en" u="sng">
                <a:solidFill>
                  <a:schemeClr val="dk2"/>
                </a:solidFill>
                <a:latin typeface="Albert Sans"/>
                <a:ea typeface="Albert Sans"/>
                <a:cs typeface="Albert Sans"/>
                <a:sym typeface="Albert Sans"/>
              </a:rPr>
              <a:t>distributive</a:t>
            </a:r>
            <a:r>
              <a:rPr b="1" lang="en">
                <a:solidFill>
                  <a:schemeClr val="dk2"/>
                </a:solidFill>
                <a:latin typeface="Albert Sans"/>
                <a:ea typeface="Albert Sans"/>
                <a:cs typeface="Albert Sans"/>
                <a:sym typeface="Albert Sans"/>
              </a:rPr>
              <a:t> and </a:t>
            </a:r>
            <a:r>
              <a:rPr b="1" lang="en" u="sng">
                <a:solidFill>
                  <a:schemeClr val="dk2"/>
                </a:solidFill>
                <a:latin typeface="Albert Sans"/>
                <a:ea typeface="Albert Sans"/>
                <a:cs typeface="Albert Sans"/>
                <a:sym typeface="Albert Sans"/>
              </a:rPr>
              <a:t>procedural justice</a:t>
            </a:r>
            <a:r>
              <a:rPr b="1" lang="en">
                <a:solidFill>
                  <a:schemeClr val="dk2"/>
                </a:solidFill>
                <a:latin typeface="Albert Sans"/>
                <a:ea typeface="Albert Sans"/>
                <a:cs typeface="Albert Sans"/>
                <a:sym typeface="Albert Sans"/>
              </a:rPr>
              <a:t> at Burlington could create a system where rewards and decisions follow </a:t>
            </a:r>
            <a:r>
              <a:rPr b="1" lang="en" u="sng">
                <a:solidFill>
                  <a:schemeClr val="dk2"/>
                </a:solidFill>
                <a:latin typeface="Albert Sans"/>
                <a:ea typeface="Albert Sans"/>
                <a:cs typeface="Albert Sans"/>
                <a:sym typeface="Albert Sans"/>
              </a:rPr>
              <a:t>clear and fair rules</a:t>
            </a:r>
            <a:endParaRPr b="1" u="sng">
              <a:solidFill>
                <a:schemeClr val="dk2"/>
              </a:solidFill>
              <a:latin typeface="Albert Sans"/>
              <a:ea typeface="Albert Sans"/>
              <a:cs typeface="Albert Sans"/>
              <a:sym typeface="Albert Sans"/>
            </a:endParaRPr>
          </a:p>
          <a:p>
            <a:pPr indent="-317500" lvl="0" marL="457200" rtl="0" algn="l">
              <a:lnSpc>
                <a:spcPct val="100000"/>
              </a:lnSpc>
              <a:spcBef>
                <a:spcPts val="0"/>
              </a:spcBef>
              <a:spcAft>
                <a:spcPts val="0"/>
              </a:spcAft>
              <a:buClr>
                <a:schemeClr val="dk2"/>
              </a:buClr>
              <a:buSzPts val="1400"/>
              <a:buFont typeface="Albert Sans"/>
              <a:buChar char="●"/>
            </a:pPr>
            <a:r>
              <a:rPr lang="en">
                <a:solidFill>
                  <a:schemeClr val="dk2"/>
                </a:solidFill>
                <a:latin typeface="Albert Sans"/>
                <a:ea typeface="Albert Sans"/>
                <a:cs typeface="Albert Sans"/>
                <a:sym typeface="Albert Sans"/>
              </a:rPr>
              <a:t>For the next three months, managers will follow explicit criteria for scheduling decisions, including performance evaluations, availability of employees, and operational demand</a:t>
            </a:r>
            <a:endParaRPr>
              <a:solidFill>
                <a:schemeClr val="dk2"/>
              </a:solidFill>
              <a:latin typeface="Albert Sans"/>
              <a:ea typeface="Albert Sans"/>
              <a:cs typeface="Albert Sans"/>
              <a:sym typeface="Albert Sans"/>
            </a:endParaRPr>
          </a:p>
          <a:p>
            <a:pPr indent="-317500" lvl="0" marL="457200" rtl="0" algn="l">
              <a:lnSpc>
                <a:spcPct val="100000"/>
              </a:lnSpc>
              <a:spcBef>
                <a:spcPts val="0"/>
              </a:spcBef>
              <a:spcAft>
                <a:spcPts val="0"/>
              </a:spcAft>
              <a:buClr>
                <a:schemeClr val="dk2"/>
              </a:buClr>
              <a:buSzPts val="1400"/>
              <a:buFont typeface="Albert Sans"/>
              <a:buChar char="●"/>
            </a:pPr>
            <a:r>
              <a:rPr lang="en">
                <a:solidFill>
                  <a:schemeClr val="dk2"/>
                </a:solidFill>
                <a:latin typeface="Albert Sans"/>
                <a:ea typeface="Albert Sans"/>
                <a:cs typeface="Albert Sans"/>
                <a:sym typeface="Albert Sans"/>
              </a:rPr>
              <a:t>The managers will explain how decisions happen and gather employee input through bi-weekly schedule explanations, where managers could discuss how decisions were made</a:t>
            </a:r>
            <a:endParaRPr>
              <a:solidFill>
                <a:schemeClr val="dk2"/>
              </a:solidFill>
              <a:latin typeface="Albert Sans"/>
              <a:ea typeface="Albert Sans"/>
              <a:cs typeface="Albert Sans"/>
              <a:sym typeface="Albert Sans"/>
            </a:endParaRPr>
          </a:p>
          <a:p>
            <a:pPr indent="-317500" lvl="0" marL="457200" rtl="0" algn="l">
              <a:lnSpc>
                <a:spcPct val="100000"/>
              </a:lnSpc>
              <a:spcBef>
                <a:spcPts val="0"/>
              </a:spcBef>
              <a:spcAft>
                <a:spcPts val="0"/>
              </a:spcAft>
              <a:buClr>
                <a:schemeClr val="dk2"/>
              </a:buClr>
              <a:buSzPts val="1400"/>
              <a:buFont typeface="Albert Sans"/>
              <a:buChar char="●"/>
            </a:pPr>
            <a:r>
              <a:rPr lang="en">
                <a:solidFill>
                  <a:schemeClr val="dk2"/>
                </a:solidFill>
                <a:latin typeface="Albert Sans"/>
                <a:ea typeface="Albert Sans"/>
                <a:cs typeface="Albert Sans"/>
                <a:sym typeface="Albert Sans"/>
              </a:rPr>
              <a:t>Employees will be able to ask about raises, promotions, and what other actions they can take to increase their hours and opportunities during one-on-one check-ins</a:t>
            </a:r>
            <a:endParaRPr>
              <a:solidFill>
                <a:schemeClr val="dk2"/>
              </a:solidFill>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2" name="Shape 1212"/>
        <p:cNvGrpSpPr/>
        <p:nvPr/>
      </p:nvGrpSpPr>
      <p:grpSpPr>
        <a:xfrm>
          <a:off x="0" y="0"/>
          <a:ext cx="0" cy="0"/>
          <a:chOff x="0" y="0"/>
          <a:chExt cx="0" cy="0"/>
        </a:xfrm>
      </p:grpSpPr>
      <p:sp>
        <p:nvSpPr>
          <p:cNvPr id="1213" name="Google Shape;1213;p111"/>
          <p:cNvSpPr/>
          <p:nvPr/>
        </p:nvSpPr>
        <p:spPr>
          <a:xfrm>
            <a:off x="7158725"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14" name="Google Shape;1214;p111"/>
          <p:cNvSpPr/>
          <p:nvPr/>
        </p:nvSpPr>
        <p:spPr>
          <a:xfrm>
            <a:off x="8596792" y="4601400"/>
            <a:ext cx="318600" cy="318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215" name="Google Shape;1215;p111"/>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216" name="Google Shape;1216;p111"/>
          <p:cNvSpPr txBox="1"/>
          <p:nvPr>
            <p:ph idx="1" type="subTitle"/>
          </p:nvPr>
        </p:nvSpPr>
        <p:spPr>
          <a:xfrm>
            <a:off x="628525" y="992300"/>
            <a:ext cx="3291600" cy="32769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Costco</a:t>
            </a:r>
            <a:r>
              <a:rPr b="1" lang="en" sz="1100"/>
              <a:t>: Fair pay, strong benefits, and clear advancement opportunities for all employees</a:t>
            </a:r>
            <a:endParaRPr b="1" sz="1100"/>
          </a:p>
          <a:p>
            <a:pPr indent="-298450" lvl="0" marL="457200" rtl="0" algn="l">
              <a:spcBef>
                <a:spcPts val="0"/>
              </a:spcBef>
              <a:spcAft>
                <a:spcPts val="0"/>
              </a:spcAft>
              <a:buSzPts val="1100"/>
              <a:buChar char="●"/>
            </a:pPr>
            <a:r>
              <a:rPr lang="en" sz="1100"/>
              <a:t>Costco</a:t>
            </a:r>
            <a:r>
              <a:rPr lang="en" sz="1100"/>
              <a:t>, pays above retail averages and provide health coverage, retirement plans, and stable hours which incentives a lower turnover rate which </a:t>
            </a:r>
            <a:r>
              <a:rPr lang="en" sz="1100"/>
              <a:t>Burlington</a:t>
            </a:r>
            <a:r>
              <a:rPr lang="en" sz="1100"/>
              <a:t> struggles with</a:t>
            </a:r>
            <a:endParaRPr sz="1100"/>
          </a:p>
          <a:p>
            <a:pPr indent="-298450" lvl="0" marL="457200" rtl="0" algn="l">
              <a:spcBef>
                <a:spcPts val="0"/>
              </a:spcBef>
              <a:spcAft>
                <a:spcPts val="0"/>
              </a:spcAft>
              <a:buSzPts val="1100"/>
              <a:buChar char="●"/>
            </a:pPr>
            <a:r>
              <a:rPr lang="en" sz="1100"/>
              <a:t>Of the employees </a:t>
            </a:r>
            <a:r>
              <a:rPr lang="en" sz="1100"/>
              <a:t>surveyed, none quoted pay and incentives as a successful quality of Burlington</a:t>
            </a:r>
            <a:endParaRPr sz="1100"/>
          </a:p>
          <a:p>
            <a:pPr indent="0" lvl="0" marL="0" rtl="0" algn="l">
              <a:spcBef>
                <a:spcPts val="0"/>
              </a:spcBef>
              <a:spcAft>
                <a:spcPts val="0"/>
              </a:spcAft>
              <a:buNone/>
            </a:pPr>
            <a:r>
              <a:rPr b="1" lang="en" sz="1100"/>
              <a:t>Whole Foods:</a:t>
            </a:r>
            <a:r>
              <a:rPr lang="en" sz="1100"/>
              <a:t> </a:t>
            </a:r>
            <a:r>
              <a:rPr b="1" lang="en" sz="1100"/>
              <a:t>Open communication during meetings in order to discuss performance as a whole across the team</a:t>
            </a:r>
            <a:endParaRPr b="1" sz="1100"/>
          </a:p>
          <a:p>
            <a:pPr indent="-298450" lvl="0" marL="457200" rtl="0" algn="l">
              <a:lnSpc>
                <a:spcPct val="100000"/>
              </a:lnSpc>
              <a:spcBef>
                <a:spcPts val="0"/>
              </a:spcBef>
              <a:spcAft>
                <a:spcPts val="0"/>
              </a:spcAft>
              <a:buSzPts val="1100"/>
              <a:buChar char="●"/>
            </a:pPr>
            <a:r>
              <a:rPr lang="en" sz="1100"/>
              <a:t>It ensures clarity about the level of fairness across the store as a whole</a:t>
            </a:r>
            <a:endParaRPr sz="1100"/>
          </a:p>
          <a:p>
            <a:pPr indent="-298450" lvl="0" marL="457200" rtl="0" algn="l">
              <a:lnSpc>
                <a:spcPct val="100000"/>
              </a:lnSpc>
              <a:spcBef>
                <a:spcPts val="0"/>
              </a:spcBef>
              <a:spcAft>
                <a:spcPts val="0"/>
              </a:spcAft>
              <a:buSzPts val="1100"/>
              <a:buChar char="●"/>
            </a:pPr>
            <a:r>
              <a:rPr lang="en" sz="1100"/>
              <a:t>This helps potentially negate any limitations the store may have in terms of wages and payroll</a:t>
            </a:r>
            <a:endParaRPr sz="1100"/>
          </a:p>
          <a:p>
            <a:pPr indent="0" lvl="0" marL="457200" rtl="0" algn="l">
              <a:spcBef>
                <a:spcPts val="0"/>
              </a:spcBef>
              <a:spcAft>
                <a:spcPts val="0"/>
              </a:spcAft>
              <a:buNone/>
            </a:pPr>
            <a:r>
              <a:t/>
            </a:r>
            <a:endParaRPr b="1" sz="1100">
              <a:latin typeface="Times New Roman"/>
              <a:ea typeface="Times New Roman"/>
              <a:cs typeface="Times New Roman"/>
              <a:sym typeface="Times New Roman"/>
            </a:endParaRPr>
          </a:p>
          <a:p>
            <a:pPr indent="0" lvl="0" marL="0" rtl="0" algn="l">
              <a:spcBef>
                <a:spcPts val="0"/>
              </a:spcBef>
              <a:spcAft>
                <a:spcPts val="0"/>
              </a:spcAft>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b="1" sz="1100">
              <a:latin typeface="Times New Roman"/>
              <a:ea typeface="Times New Roman"/>
              <a:cs typeface="Times New Roman"/>
              <a:sym typeface="Times New Roman"/>
            </a:endParaRPr>
          </a:p>
        </p:txBody>
      </p:sp>
      <p:sp>
        <p:nvSpPr>
          <p:cNvPr id="1217" name="Google Shape;1217;p111"/>
          <p:cNvSpPr txBox="1"/>
          <p:nvPr>
            <p:ph type="title"/>
          </p:nvPr>
        </p:nvSpPr>
        <p:spPr>
          <a:xfrm>
            <a:off x="992275" y="406075"/>
            <a:ext cx="2564100" cy="3936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2200">
                <a:solidFill>
                  <a:srgbClr val="000000"/>
                </a:solidFill>
              </a:rPr>
              <a:t>Best Practices</a:t>
            </a:r>
            <a:endParaRPr sz="2200">
              <a:solidFill>
                <a:srgbClr val="000000"/>
              </a:solidFill>
            </a:endParaRPr>
          </a:p>
        </p:txBody>
      </p:sp>
      <p:sp>
        <p:nvSpPr>
          <p:cNvPr id="1218" name="Google Shape;1218;p111"/>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Finding a Solution</a:t>
            </a:r>
            <a:endParaRPr/>
          </a:p>
        </p:txBody>
      </p:sp>
      <p:pic>
        <p:nvPicPr>
          <p:cNvPr descr="Hexagonal icon." id="1219" name="Google Shape;1219;p111"/>
          <p:cNvPicPr preferRelativeResize="0"/>
          <p:nvPr>
            <p:ph idx="2" type="pic"/>
          </p:nvPr>
        </p:nvPicPr>
        <p:blipFill rotWithShape="1">
          <a:blip r:embed="rId3">
            <a:alphaModFix/>
          </a:blip>
          <a:srcRect b="6598" l="0" r="0" t="6589"/>
          <a:stretch/>
        </p:blipFill>
        <p:spPr>
          <a:xfrm>
            <a:off x="8596800" y="223475"/>
            <a:ext cx="318600" cy="318600"/>
          </a:xfrm>
          <a:prstGeom prst="ellipse">
            <a:avLst/>
          </a:prstGeom>
        </p:spPr>
      </p:pic>
      <p:sp>
        <p:nvSpPr>
          <p:cNvPr id="1220" name="Google Shape;1220;p111"/>
          <p:cNvSpPr/>
          <p:nvPr/>
        </p:nvSpPr>
        <p:spPr>
          <a:xfrm>
            <a:off x="5720650" y="4601400"/>
            <a:ext cx="1354500" cy="318600"/>
          </a:xfrm>
          <a:prstGeom prst="roundRect">
            <a:avLst>
              <a:gd fmla="val 16290" name="adj"/>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21" name="Google Shape;1221;p111"/>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1222" name="Google Shape;1222;p111"/>
          <p:cNvSpPr/>
          <p:nvPr/>
        </p:nvSpPr>
        <p:spPr>
          <a:xfrm>
            <a:off x="7158725"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23" name="Google Shape;1223;p111"/>
          <p:cNvSpPr/>
          <p:nvPr/>
        </p:nvSpPr>
        <p:spPr>
          <a:xfrm>
            <a:off x="8596792" y="4601400"/>
            <a:ext cx="318600" cy="318600"/>
          </a:xfrm>
          <a:prstGeom prst="ellipse">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224" name="Google Shape;1224;p111"/>
          <p:cNvSpPr txBox="1"/>
          <p:nvPr>
            <p:ph idx="2" type="sldNum"/>
          </p:nvPr>
        </p:nvSpPr>
        <p:spPr>
          <a:xfrm>
            <a:off x="8481759" y="4573830"/>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225" name="Google Shape;1225;p111"/>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Group 5</a:t>
            </a:r>
            <a:endParaRPr/>
          </a:p>
        </p:txBody>
      </p:sp>
      <p:sp>
        <p:nvSpPr>
          <p:cNvPr id="1226" name="Google Shape;1226;p111"/>
          <p:cNvSpPr/>
          <p:nvPr/>
        </p:nvSpPr>
        <p:spPr>
          <a:xfrm>
            <a:off x="5720650"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27" name="Google Shape;1227;p111"/>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sp>
        <p:nvSpPr>
          <p:cNvPr id="1228" name="Google Shape;1228;p111"/>
          <p:cNvSpPr txBox="1"/>
          <p:nvPr/>
        </p:nvSpPr>
        <p:spPr>
          <a:xfrm>
            <a:off x="5028150" y="406075"/>
            <a:ext cx="29637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latin typeface="Albert Sans"/>
                <a:ea typeface="Albert Sans"/>
                <a:cs typeface="Albert Sans"/>
                <a:sym typeface="Albert Sans"/>
              </a:rPr>
              <a:t>Potential Downsides</a:t>
            </a:r>
            <a:endParaRPr b="1" sz="2200">
              <a:latin typeface="Albert Sans"/>
              <a:ea typeface="Albert Sans"/>
              <a:cs typeface="Albert Sans"/>
              <a:sym typeface="Albert Sans"/>
            </a:endParaRPr>
          </a:p>
        </p:txBody>
      </p:sp>
      <p:sp>
        <p:nvSpPr>
          <p:cNvPr id="1229" name="Google Shape;1229;p111"/>
          <p:cNvSpPr txBox="1"/>
          <p:nvPr/>
        </p:nvSpPr>
        <p:spPr>
          <a:xfrm>
            <a:off x="4759950" y="1014500"/>
            <a:ext cx="3500100" cy="30630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100">
                <a:solidFill>
                  <a:schemeClr val="lt1"/>
                </a:solidFill>
                <a:latin typeface="Albert Sans"/>
                <a:ea typeface="Albert Sans"/>
                <a:cs typeface="Albert Sans"/>
                <a:sym typeface="Albert Sans"/>
              </a:rPr>
              <a:t>At the corporate level, higher management may limit the flexibility of transparent information on decision-making and scheduling</a:t>
            </a:r>
            <a:endParaRPr b="1" sz="1100">
              <a:solidFill>
                <a:schemeClr val="lt1"/>
              </a:solidFill>
              <a:latin typeface="Albert Sans"/>
              <a:ea typeface="Albert Sans"/>
              <a:cs typeface="Albert Sans"/>
              <a:sym typeface="Albert Sans"/>
            </a:endParaRPr>
          </a:p>
          <a:p>
            <a:pPr indent="-298450" lvl="0" marL="457200" rtl="0" algn="l">
              <a:lnSpc>
                <a:spcPct val="100000"/>
              </a:lnSpc>
              <a:spcBef>
                <a:spcPts val="0"/>
              </a:spcBef>
              <a:spcAft>
                <a:spcPts val="0"/>
              </a:spcAft>
              <a:buClr>
                <a:schemeClr val="lt1"/>
              </a:buClr>
              <a:buSzPts val="1100"/>
              <a:buFont typeface="Albert Sans"/>
              <a:buChar char="●"/>
            </a:pPr>
            <a:r>
              <a:rPr lang="en" sz="1100">
                <a:solidFill>
                  <a:schemeClr val="lt1"/>
                </a:solidFill>
                <a:latin typeface="Albert Sans"/>
                <a:ea typeface="Albert Sans"/>
                <a:cs typeface="Albert Sans"/>
                <a:sym typeface="Albert Sans"/>
              </a:rPr>
              <a:t>Employees might still feel that decisions are not fair, since the rules are made without explanation by higher management</a:t>
            </a:r>
            <a:endParaRPr sz="1100">
              <a:solidFill>
                <a:schemeClr val="lt1"/>
              </a:solidFill>
              <a:latin typeface="Albert Sans"/>
              <a:ea typeface="Albert Sans"/>
              <a:cs typeface="Albert Sans"/>
              <a:sym typeface="Albert Sans"/>
            </a:endParaRPr>
          </a:p>
          <a:p>
            <a:pPr indent="-298450" lvl="0" marL="457200" rtl="0" algn="l">
              <a:lnSpc>
                <a:spcPct val="100000"/>
              </a:lnSpc>
              <a:spcBef>
                <a:spcPts val="0"/>
              </a:spcBef>
              <a:spcAft>
                <a:spcPts val="0"/>
              </a:spcAft>
              <a:buClr>
                <a:schemeClr val="lt1"/>
              </a:buClr>
              <a:buSzPts val="1100"/>
              <a:buFont typeface="Albert Sans"/>
              <a:buChar char="●"/>
            </a:pPr>
            <a:r>
              <a:rPr lang="en" sz="1100">
                <a:solidFill>
                  <a:schemeClr val="lt1"/>
                </a:solidFill>
                <a:latin typeface="Albert Sans"/>
                <a:ea typeface="Albert Sans"/>
                <a:cs typeface="Albert Sans"/>
                <a:sym typeface="Albert Sans"/>
              </a:rPr>
              <a:t>To meet the expectations of managers for longer hours, employees may take shortcuts </a:t>
            </a:r>
            <a:endParaRPr sz="1100">
              <a:solidFill>
                <a:schemeClr val="lt1"/>
              </a:solidFill>
              <a:latin typeface="Albert Sans"/>
              <a:ea typeface="Albert Sans"/>
              <a:cs typeface="Albert Sans"/>
              <a:sym typeface="Albert Sans"/>
            </a:endParaRPr>
          </a:p>
          <a:p>
            <a:pPr indent="0" lvl="0" marL="0" rtl="0" algn="l">
              <a:lnSpc>
                <a:spcPct val="100000"/>
              </a:lnSpc>
              <a:spcBef>
                <a:spcPts val="0"/>
              </a:spcBef>
              <a:spcAft>
                <a:spcPts val="0"/>
              </a:spcAft>
              <a:buNone/>
            </a:pPr>
            <a:r>
              <a:rPr b="1" lang="en" sz="1100">
                <a:solidFill>
                  <a:schemeClr val="lt1"/>
                </a:solidFill>
                <a:latin typeface="Albert Sans"/>
                <a:ea typeface="Albert Sans"/>
                <a:cs typeface="Albert Sans"/>
                <a:sym typeface="Albert Sans"/>
              </a:rPr>
              <a:t>Employees are now able to highlight inequalities even further, thus increasing dissatisfaction across the store</a:t>
            </a:r>
            <a:endParaRPr b="1" sz="1100">
              <a:solidFill>
                <a:schemeClr val="lt1"/>
              </a:solidFill>
              <a:latin typeface="Albert Sans"/>
              <a:ea typeface="Albert Sans"/>
              <a:cs typeface="Albert Sans"/>
              <a:sym typeface="Albert Sans"/>
            </a:endParaRPr>
          </a:p>
          <a:p>
            <a:pPr indent="-298450" lvl="0" marL="457200" rtl="0" algn="l">
              <a:lnSpc>
                <a:spcPct val="100000"/>
              </a:lnSpc>
              <a:spcBef>
                <a:spcPts val="0"/>
              </a:spcBef>
              <a:spcAft>
                <a:spcPts val="0"/>
              </a:spcAft>
              <a:buClr>
                <a:schemeClr val="lt1"/>
              </a:buClr>
              <a:buSzPts val="1100"/>
              <a:buFont typeface="Albert Sans"/>
              <a:buChar char="●"/>
            </a:pPr>
            <a:r>
              <a:rPr lang="en" sz="1100">
                <a:solidFill>
                  <a:schemeClr val="lt1"/>
                </a:solidFill>
                <a:latin typeface="Albert Sans"/>
                <a:ea typeface="Albert Sans"/>
                <a:cs typeface="Albert Sans"/>
                <a:sym typeface="Albert Sans"/>
              </a:rPr>
              <a:t>When employees become more cognizant of the issues around them and the perceptions other coworkers have about fairness, these employees may also change their personal beliefs to match them</a:t>
            </a:r>
            <a:endParaRPr sz="1100">
              <a:solidFill>
                <a:schemeClr val="lt1"/>
              </a:solidFill>
              <a:latin typeface="Albert Sans"/>
              <a:ea typeface="Albert Sans"/>
              <a:cs typeface="Albert Sans"/>
              <a:sym typeface="Albert Sans"/>
            </a:endParaRPr>
          </a:p>
          <a:p>
            <a:pPr indent="0" lvl="0" marL="457200" rtl="0" algn="l">
              <a:lnSpc>
                <a:spcPct val="100000"/>
              </a:lnSpc>
              <a:spcBef>
                <a:spcPts val="0"/>
              </a:spcBef>
              <a:spcAft>
                <a:spcPts val="0"/>
              </a:spcAft>
              <a:buNone/>
            </a:pPr>
            <a:r>
              <a:t/>
            </a:r>
            <a:endParaRPr sz="1100">
              <a:solidFill>
                <a:schemeClr val="lt1"/>
              </a:solidFill>
              <a:latin typeface="Albert Sans"/>
              <a:ea typeface="Albert Sans"/>
              <a:cs typeface="Albert Sans"/>
              <a:sym typeface="Albert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1233" name="Shape 1233"/>
        <p:cNvGrpSpPr/>
        <p:nvPr/>
      </p:nvGrpSpPr>
      <p:grpSpPr>
        <a:xfrm>
          <a:off x="0" y="0"/>
          <a:ext cx="0" cy="0"/>
          <a:chOff x="0" y="0"/>
          <a:chExt cx="0" cy="0"/>
        </a:xfrm>
      </p:grpSpPr>
      <p:sp>
        <p:nvSpPr>
          <p:cNvPr id="1234" name="Google Shape;1234;p112"/>
          <p:cNvSpPr txBox="1"/>
          <p:nvPr>
            <p:ph type="title"/>
          </p:nvPr>
        </p:nvSpPr>
        <p:spPr>
          <a:xfrm>
            <a:off x="1178550" y="430475"/>
            <a:ext cx="6786900" cy="76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t>Communication Strategies and Influencing Tactics</a:t>
            </a:r>
            <a:endParaRPr sz="2100"/>
          </a:p>
        </p:txBody>
      </p:sp>
      <p:pic>
        <p:nvPicPr>
          <p:cNvPr descr="Hexagonal icon." id="1235" name="Google Shape;1235;p112"/>
          <p:cNvPicPr preferRelativeResize="0"/>
          <p:nvPr>
            <p:ph idx="16" type="pic"/>
          </p:nvPr>
        </p:nvPicPr>
        <p:blipFill rotWithShape="1">
          <a:blip r:embed="rId3">
            <a:alphaModFix/>
          </a:blip>
          <a:srcRect b="6598" l="0" r="0" t="6589"/>
          <a:stretch/>
        </p:blipFill>
        <p:spPr>
          <a:xfrm>
            <a:off x="8596800" y="223475"/>
            <a:ext cx="318600" cy="318600"/>
          </a:xfrm>
          <a:prstGeom prst="ellipse">
            <a:avLst/>
          </a:prstGeom>
        </p:spPr>
      </p:pic>
      <p:sp>
        <p:nvSpPr>
          <p:cNvPr id="1236" name="Google Shape;1236;p112"/>
          <p:cNvSpPr/>
          <p:nvPr/>
        </p:nvSpPr>
        <p:spPr>
          <a:xfrm>
            <a:off x="5720650" y="4601400"/>
            <a:ext cx="1354500" cy="318600"/>
          </a:xfrm>
          <a:prstGeom prst="roundRect">
            <a:avLst>
              <a:gd fmla="val 16290" name="adj"/>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37" name="Google Shape;1237;p112"/>
          <p:cNvSpPr txBox="1"/>
          <p:nvPr/>
        </p:nvSpPr>
        <p:spPr>
          <a:xfrm>
            <a:off x="5728925" y="4623000"/>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Company Name</a:t>
            </a:r>
            <a:endParaRPr sz="1000">
              <a:solidFill>
                <a:schemeClr val="dk2"/>
              </a:solidFill>
              <a:latin typeface="Albert Sans"/>
              <a:ea typeface="Albert Sans"/>
              <a:cs typeface="Albert Sans"/>
              <a:sym typeface="Albert Sans"/>
            </a:endParaRPr>
          </a:p>
        </p:txBody>
      </p:sp>
      <p:sp>
        <p:nvSpPr>
          <p:cNvPr id="1238" name="Google Shape;1238;p112"/>
          <p:cNvSpPr/>
          <p:nvPr/>
        </p:nvSpPr>
        <p:spPr>
          <a:xfrm>
            <a:off x="8596792" y="4601400"/>
            <a:ext cx="318600" cy="3186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239" name="Google Shape;1239;p112"/>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240" name="Google Shape;1240;p112"/>
          <p:cNvSpPr/>
          <p:nvPr/>
        </p:nvSpPr>
        <p:spPr>
          <a:xfrm>
            <a:off x="7158725" y="4601400"/>
            <a:ext cx="1354500" cy="318600"/>
          </a:xfrm>
          <a:prstGeom prst="roundRect">
            <a:avLst>
              <a:gd fmla="val 16290" name="adj"/>
            </a:avLst>
          </a:prstGeom>
          <a:solidFill>
            <a:schemeClr val="accen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rgbClr val="FFFFFF"/>
              </a:solidFill>
              <a:latin typeface="Albert Sans"/>
              <a:ea typeface="Albert Sans"/>
              <a:cs typeface="Albert Sans"/>
              <a:sym typeface="Albert Sans"/>
            </a:endParaRPr>
          </a:p>
        </p:txBody>
      </p:sp>
      <p:sp>
        <p:nvSpPr>
          <p:cNvPr id="1241" name="Google Shape;1241;p112"/>
          <p:cNvSpPr txBox="1"/>
          <p:nvPr/>
        </p:nvSpPr>
        <p:spPr>
          <a:xfrm>
            <a:off x="7158725" y="4563900"/>
            <a:ext cx="1354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Market Analysis</a:t>
            </a:r>
            <a:endParaRPr sz="1000">
              <a:solidFill>
                <a:schemeClr val="dk2"/>
              </a:solidFill>
              <a:latin typeface="Albert Sans"/>
              <a:ea typeface="Albert Sans"/>
              <a:cs typeface="Albert Sans"/>
              <a:sym typeface="Albert Sans"/>
            </a:endParaRPr>
          </a:p>
        </p:txBody>
      </p:sp>
      <p:sp>
        <p:nvSpPr>
          <p:cNvPr id="1242" name="Google Shape;1242;p112"/>
          <p:cNvSpPr/>
          <p:nvPr/>
        </p:nvSpPr>
        <p:spPr>
          <a:xfrm>
            <a:off x="7158725"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43" name="Google Shape;1243;p112"/>
          <p:cNvSpPr/>
          <p:nvPr/>
        </p:nvSpPr>
        <p:spPr>
          <a:xfrm>
            <a:off x="8596792" y="4601400"/>
            <a:ext cx="318600" cy="318600"/>
          </a:xfrm>
          <a:prstGeom prst="ellipse">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1244" name="Google Shape;1244;p112"/>
          <p:cNvSpPr txBox="1"/>
          <p:nvPr>
            <p:ph idx="2" type="sldNum"/>
          </p:nvPr>
        </p:nvSpPr>
        <p:spPr>
          <a:xfrm>
            <a:off x="8481759" y="4573830"/>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1245" name="Google Shape;1245;p112"/>
          <p:cNvSpPr txBox="1"/>
          <p:nvPr>
            <p:ph idx="4294967295" type="title"/>
          </p:nvPr>
        </p:nvSpPr>
        <p:spPr>
          <a:xfrm>
            <a:off x="7492700" y="4573825"/>
            <a:ext cx="13545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00"/>
                </a:solidFill>
                <a:latin typeface="Albert Sans"/>
                <a:ea typeface="Albert Sans"/>
                <a:cs typeface="Albert Sans"/>
                <a:sym typeface="Albert Sans"/>
              </a:rPr>
              <a:t>Group 5</a:t>
            </a:r>
            <a:endParaRPr sz="1000">
              <a:solidFill>
                <a:srgbClr val="000000"/>
              </a:solidFill>
              <a:latin typeface="Albert Sans"/>
              <a:ea typeface="Albert Sans"/>
              <a:cs typeface="Albert Sans"/>
              <a:sym typeface="Albert Sans"/>
            </a:endParaRPr>
          </a:p>
        </p:txBody>
      </p:sp>
      <p:sp>
        <p:nvSpPr>
          <p:cNvPr id="1246" name="Google Shape;1246;p112"/>
          <p:cNvSpPr/>
          <p:nvPr/>
        </p:nvSpPr>
        <p:spPr>
          <a:xfrm>
            <a:off x="5720650" y="4601400"/>
            <a:ext cx="1354500" cy="318600"/>
          </a:xfrm>
          <a:prstGeom prst="roundRect">
            <a:avLst>
              <a:gd fmla="val 16290" name="adj"/>
            </a:avLst>
          </a:prstGeom>
          <a:solidFill>
            <a:srgbClr val="E066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1247" name="Google Shape;1247;p112"/>
          <p:cNvSpPr txBox="1"/>
          <p:nvPr/>
        </p:nvSpPr>
        <p:spPr>
          <a:xfrm>
            <a:off x="57300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Albert Sans"/>
                <a:ea typeface="Albert Sans"/>
                <a:cs typeface="Albert Sans"/>
                <a:sym typeface="Albert Sans"/>
              </a:rPr>
              <a:t>Burlington</a:t>
            </a:r>
            <a:endParaRPr sz="1000">
              <a:solidFill>
                <a:schemeClr val="dk2"/>
              </a:solidFill>
              <a:latin typeface="Albert Sans"/>
              <a:ea typeface="Albert Sans"/>
              <a:cs typeface="Albert Sans"/>
              <a:sym typeface="Albert Sans"/>
            </a:endParaRPr>
          </a:p>
        </p:txBody>
      </p:sp>
      <p:sp>
        <p:nvSpPr>
          <p:cNvPr id="1248" name="Google Shape;1248;p112"/>
          <p:cNvSpPr txBox="1"/>
          <p:nvPr/>
        </p:nvSpPr>
        <p:spPr>
          <a:xfrm>
            <a:off x="2125600" y="1256025"/>
            <a:ext cx="5018100" cy="3093900"/>
          </a:xfrm>
          <a:prstGeom prst="rect">
            <a:avLst/>
          </a:prstGeom>
          <a:solidFill>
            <a:srgbClr val="E06666"/>
          </a:solidFill>
          <a:ln cap="flat" cmpd="sng" w="3810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00">
                <a:solidFill>
                  <a:schemeClr val="lt1"/>
                </a:solidFill>
                <a:latin typeface="Albert Sans"/>
                <a:ea typeface="Albert Sans"/>
                <a:cs typeface="Albert Sans"/>
                <a:sym typeface="Albert Sans"/>
              </a:rPr>
              <a:t>Social proof can combat issues of implementation</a:t>
            </a:r>
            <a:endParaRPr b="1" sz="1200">
              <a:solidFill>
                <a:schemeClr val="lt1"/>
              </a:solidFill>
              <a:latin typeface="Albert Sans"/>
              <a:ea typeface="Albert Sans"/>
              <a:cs typeface="Albert Sans"/>
              <a:sym typeface="Albert Sans"/>
            </a:endParaRPr>
          </a:p>
          <a:p>
            <a:pPr indent="-304800" lvl="0" marL="457200" rtl="0" algn="l">
              <a:lnSpc>
                <a:spcPct val="100000"/>
              </a:lnSpc>
              <a:spcBef>
                <a:spcPts val="0"/>
              </a:spcBef>
              <a:spcAft>
                <a:spcPts val="0"/>
              </a:spcAft>
              <a:buClr>
                <a:schemeClr val="lt1"/>
              </a:buClr>
              <a:buSzPts val="1200"/>
              <a:buFont typeface="Albert Sans"/>
              <a:buChar char="●"/>
            </a:pPr>
            <a:r>
              <a:rPr lang="en" sz="1100">
                <a:solidFill>
                  <a:schemeClr val="lt1"/>
                </a:solidFill>
                <a:latin typeface="Albert Sans"/>
                <a:ea typeface="Albert Sans"/>
                <a:cs typeface="Albert Sans"/>
                <a:sym typeface="Albert Sans"/>
              </a:rPr>
              <a:t>Burlington can highlight other organizations’ successes in order to emphasize to employees why it is important for the company itself to also implement their own systems</a:t>
            </a:r>
            <a:endParaRPr sz="1100">
              <a:solidFill>
                <a:schemeClr val="lt1"/>
              </a:solidFill>
              <a:latin typeface="Albert Sans"/>
              <a:ea typeface="Albert Sans"/>
              <a:cs typeface="Albert Sans"/>
              <a:sym typeface="Albert Sans"/>
            </a:endParaRPr>
          </a:p>
          <a:p>
            <a:pPr indent="-298450" lvl="0" marL="457200" rtl="0" algn="l">
              <a:lnSpc>
                <a:spcPct val="100000"/>
              </a:lnSpc>
              <a:spcBef>
                <a:spcPts val="0"/>
              </a:spcBef>
              <a:spcAft>
                <a:spcPts val="0"/>
              </a:spcAft>
              <a:buClr>
                <a:schemeClr val="lt1"/>
              </a:buClr>
              <a:buSzPts val="1100"/>
              <a:buFont typeface="Albert Sans"/>
              <a:buChar char="●"/>
            </a:pPr>
            <a:r>
              <a:rPr lang="en" sz="1100">
                <a:solidFill>
                  <a:schemeClr val="lt1"/>
                </a:solidFill>
                <a:latin typeface="Albert Sans"/>
                <a:ea typeface="Albert Sans"/>
                <a:cs typeface="Albert Sans"/>
                <a:sym typeface="Albert Sans"/>
              </a:rPr>
              <a:t>By seeing how large companies such as Costco and Adobe have managed to improve their recognition efforts and fairness perceptions, employees will feel motivated to replicate that success for Burlington</a:t>
            </a:r>
            <a:endParaRPr sz="1100">
              <a:solidFill>
                <a:schemeClr val="lt1"/>
              </a:solidFill>
              <a:latin typeface="Albert Sans"/>
              <a:ea typeface="Albert Sans"/>
              <a:cs typeface="Albert Sans"/>
              <a:sym typeface="Albert Sans"/>
            </a:endParaRPr>
          </a:p>
          <a:p>
            <a:pPr indent="0" lvl="0" marL="0" rtl="0" algn="l">
              <a:lnSpc>
                <a:spcPct val="100000"/>
              </a:lnSpc>
              <a:spcBef>
                <a:spcPts val="0"/>
              </a:spcBef>
              <a:spcAft>
                <a:spcPts val="0"/>
              </a:spcAft>
              <a:buNone/>
            </a:pPr>
            <a:r>
              <a:rPr b="1" lang="en" sz="1100">
                <a:solidFill>
                  <a:schemeClr val="lt1"/>
                </a:solidFill>
                <a:latin typeface="Albert Sans"/>
                <a:ea typeface="Albert Sans"/>
                <a:cs typeface="Albert Sans"/>
                <a:sym typeface="Albert Sans"/>
              </a:rPr>
              <a:t>Authority at Burlington can help with credibility of these new initiatives</a:t>
            </a:r>
            <a:endParaRPr b="1" sz="1100">
              <a:solidFill>
                <a:schemeClr val="lt1"/>
              </a:solidFill>
              <a:latin typeface="Albert Sans"/>
              <a:ea typeface="Albert Sans"/>
              <a:cs typeface="Albert Sans"/>
              <a:sym typeface="Albert Sans"/>
            </a:endParaRPr>
          </a:p>
          <a:p>
            <a:pPr indent="-298450" lvl="0" marL="457200" rtl="0" algn="l">
              <a:lnSpc>
                <a:spcPct val="100000"/>
              </a:lnSpc>
              <a:spcBef>
                <a:spcPts val="0"/>
              </a:spcBef>
              <a:spcAft>
                <a:spcPts val="0"/>
              </a:spcAft>
              <a:buClr>
                <a:schemeClr val="lt1"/>
              </a:buClr>
              <a:buSzPts val="1100"/>
              <a:buFont typeface="Albert Sans"/>
              <a:buChar char="●"/>
            </a:pPr>
            <a:r>
              <a:rPr lang="en" sz="1100">
                <a:solidFill>
                  <a:schemeClr val="lt1"/>
                </a:solidFill>
                <a:latin typeface="Albert Sans"/>
                <a:ea typeface="Albert Sans"/>
                <a:cs typeface="Albert Sans"/>
                <a:sym typeface="Albert Sans"/>
              </a:rPr>
              <a:t>Showing results and data on fairness and motivation from Gallup, Harvard Business Review, and other reputable sources could help strengthen the credibility of these initiatives and gather more employees and managers on board with the changes</a:t>
            </a:r>
            <a:endParaRPr sz="1100">
              <a:solidFill>
                <a:schemeClr val="lt1"/>
              </a:solidFill>
              <a:latin typeface="Albert Sans"/>
              <a:ea typeface="Albert Sans"/>
              <a:cs typeface="Albert Sans"/>
              <a:sym typeface="Albert Sans"/>
            </a:endParaRPr>
          </a:p>
          <a:p>
            <a:pPr indent="-298450" lvl="0" marL="457200" rtl="0" algn="l">
              <a:lnSpc>
                <a:spcPct val="100000"/>
              </a:lnSpc>
              <a:spcBef>
                <a:spcPts val="0"/>
              </a:spcBef>
              <a:spcAft>
                <a:spcPts val="0"/>
              </a:spcAft>
              <a:buClr>
                <a:schemeClr val="lt1"/>
              </a:buClr>
              <a:buSzPts val="1100"/>
              <a:buFont typeface="Albert Sans"/>
              <a:buChar char="●"/>
            </a:pPr>
            <a:r>
              <a:rPr lang="en" sz="1100">
                <a:solidFill>
                  <a:schemeClr val="lt1"/>
                </a:solidFill>
                <a:latin typeface="Albert Sans"/>
                <a:ea typeface="Albert Sans"/>
                <a:cs typeface="Albert Sans"/>
                <a:sym typeface="Albert Sans"/>
              </a:rPr>
              <a:t>Using statistics and data as indicators of success, Burlington’s output problem can be compared to similar problems other companies have</a:t>
            </a:r>
            <a:endParaRPr sz="1100">
              <a:solidFill>
                <a:schemeClr val="lt1"/>
              </a:solidFill>
              <a:latin typeface="Albert Sans"/>
              <a:ea typeface="Albert Sans"/>
              <a:cs typeface="Albert Sans"/>
              <a:sym typeface="Albert Sans"/>
            </a:endParaRPr>
          </a:p>
          <a:p>
            <a:pPr indent="-298450" lvl="0" marL="457200" rtl="0" algn="l">
              <a:lnSpc>
                <a:spcPct val="100000"/>
              </a:lnSpc>
              <a:spcBef>
                <a:spcPts val="0"/>
              </a:spcBef>
              <a:spcAft>
                <a:spcPts val="0"/>
              </a:spcAft>
              <a:buClr>
                <a:schemeClr val="lt1"/>
              </a:buClr>
              <a:buSzPts val="1100"/>
              <a:buFont typeface="Albert Sans"/>
              <a:buChar char="●"/>
            </a:pPr>
            <a:r>
              <a:rPr lang="en" sz="1100">
                <a:solidFill>
                  <a:schemeClr val="lt1"/>
                </a:solidFill>
                <a:latin typeface="Albert Sans"/>
                <a:ea typeface="Albert Sans"/>
                <a:cs typeface="Albert Sans"/>
                <a:sym typeface="Albert Sans"/>
              </a:rPr>
              <a:t>This can help with influencing implementation of these initiatives</a:t>
            </a:r>
            <a:endParaRPr sz="1100">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ales Pitch">
  <a:themeElements>
    <a:clrScheme name="Simple Light">
      <a:dk1>
        <a:srgbClr val="08005F"/>
      </a:dk1>
      <a:lt1>
        <a:srgbClr val="FFFFFF"/>
      </a:lt1>
      <a:dk2>
        <a:srgbClr val="000000"/>
      </a:dk2>
      <a:lt2>
        <a:srgbClr val="B1A1FF"/>
      </a:lt2>
      <a:accent1>
        <a:srgbClr val="A1FF5F"/>
      </a:accent1>
      <a:accent2>
        <a:srgbClr val="1BBE90"/>
      </a:accent2>
      <a:accent3>
        <a:srgbClr val="0A485F"/>
      </a:accent3>
      <a:accent4>
        <a:srgbClr val="9ACAE0"/>
      </a:accent4>
      <a:accent5>
        <a:srgbClr val="D1D1EB"/>
      </a:accent5>
      <a:accent6>
        <a:srgbClr val="2837DB"/>
      </a:accent6>
      <a:hlink>
        <a:srgbClr val="2837D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